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5143500" type="screen16x9"/>
  <p:notesSz cx="6845300" cy="93964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8" roundtripDataSignature="AMtx7mhTi/FnrxFA3G1JP9+1UYCXh+Vz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>
      <p:cViewPr varScale="1">
        <p:scale>
          <a:sx n="106" d="100"/>
          <a:sy n="106" d="100"/>
        </p:scale>
        <p:origin x="778" y="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6703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78263" y="0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26513"/>
            <a:ext cx="296703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fld>
            <a:endParaRPr sz="120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5" name="Google Shape;255;p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9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fld>
            <a:endParaRPr sz="12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9</a:t>
            </a:fld>
            <a:endParaRPr sz="12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10</a:t>
            </a:fld>
            <a:endParaRPr sz="12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17" name="Google Shape;3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11</a:t>
            </a:fld>
            <a:endParaRPr sz="12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4" name="Google Shape;3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2586036" y="510778"/>
            <a:ext cx="3890964" cy="129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2586036" y="2876550"/>
            <a:ext cx="38862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2400"/>
              <a:buFont typeface="Time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5253036" y="4705350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348036" y="47053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2586036" y="4705350"/>
            <a:ext cx="76517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6858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0480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38100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267200" y="1314450"/>
            <a:ext cx="38100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26670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2"/>
          </p:nvPr>
        </p:nvSpPr>
        <p:spPr>
          <a:xfrm>
            <a:off x="304800" y="1733550"/>
            <a:ext cx="4040188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3"/>
          </p:nvPr>
        </p:nvSpPr>
        <p:spPr>
          <a:xfrm>
            <a:off x="4492626" y="1253728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4"/>
          </p:nvPr>
        </p:nvSpPr>
        <p:spPr>
          <a:xfrm>
            <a:off x="4492626" y="1733550"/>
            <a:ext cx="40417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dt" idx="10"/>
          </p:nvPr>
        </p:nvSpPr>
        <p:spPr>
          <a:xfrm>
            <a:off x="62484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ftr" idx="11"/>
          </p:nvPr>
        </p:nvSpPr>
        <p:spPr>
          <a:xfrm>
            <a:off x="28194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1" y="2343150"/>
            <a:ext cx="3008313" cy="2251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524125" y="-866775"/>
            <a:ext cx="333375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5886450" y="1428750"/>
            <a:ext cx="4400550" cy="21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581150" y="-609600"/>
            <a:ext cx="4400550" cy="619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>
  <p:cSld name="Title and Content over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body" idx="2"/>
          </p:nvPr>
        </p:nvSpPr>
        <p:spPr>
          <a:xfrm>
            <a:off x="304800" y="3057525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5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5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arrow Content">
  <p:cSld name="Title and Narrow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68580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6"/>
          <p:cNvSpPr txBox="1">
            <a:spLocks noGrp="1"/>
          </p:cNvSpPr>
          <p:nvPr>
            <p:ph type="dt" idx="10"/>
          </p:nvPr>
        </p:nvSpPr>
        <p:spPr>
          <a:xfrm>
            <a:off x="51816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6"/>
          <p:cNvSpPr txBox="1">
            <a:spLocks noGrp="1"/>
          </p:cNvSpPr>
          <p:nvPr>
            <p:ph type="ftr" idx="11"/>
          </p:nvPr>
        </p:nvSpPr>
        <p:spPr>
          <a:xfrm>
            <a:off x="22860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letely Blank">
  <p:cSld name="Completely 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600200" y="590550"/>
            <a:ext cx="579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Giới thiệu về </a:t>
            </a:r>
            <a:br>
              <a:rPr lang="en-US"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Xử lý ngôn ngữ tự nhiên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2586036" y="2876550"/>
            <a:ext cx="38862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Font typeface="Times"/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XLNNTN (NLP) là gì?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Hỏi đáp: Ứng dụng Watson của IBM</a:t>
            </a:r>
            <a:endParaRPr/>
          </a:p>
        </p:txBody>
      </p:sp>
      <p:sp>
        <p:nvSpPr>
          <p:cNvPr id="110" name="Google Shape;110;p2"/>
          <p:cNvSpPr txBox="1">
            <a:spLocks noGrp="1"/>
          </p:cNvSpPr>
          <p:nvPr>
            <p:ph type="body" idx="1"/>
          </p:nvPr>
        </p:nvSpPr>
        <p:spPr>
          <a:xfrm>
            <a:off x="2286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Vô địch Jeopardy vào 16/02/2011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381000" y="2038350"/>
            <a:ext cx="5257800" cy="2008598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WILLIAM WILKINSON’S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“AN ACCOUNT OF THE PRINCIPALITIES OF</a:t>
            </a:r>
            <a:br>
              <a:rPr lang="en-US" sz="2000" b="0" i="0" u="none" strike="noStrike" cap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lang="en-US" sz="2000" b="0" i="0" u="none" strike="noStrike" cap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WALLACHIA AND MOLDOVIA”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INSPIRED THIS AUTHOR’S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MOST FAMOUS NOVEL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7239000" y="2795885"/>
            <a:ext cx="17294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Bram Stoker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5943600" y="2800350"/>
            <a:ext cx="1143000" cy="533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None/>
            </a:pPr>
            <a:endParaRPr sz="24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Rút trích thông tin </a:t>
            </a:r>
            <a:br>
              <a:rPr lang="en-US"/>
            </a:br>
            <a:r>
              <a:rPr lang="en-US"/>
              <a:t>(Information Extraction)</a:t>
            </a:r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dirty="0">
                <a:solidFill>
                  <a:srgbClr val="A5A5A5"/>
                </a:solidFill>
              </a:rPr>
              <a:t>Subject: </a:t>
            </a:r>
            <a:r>
              <a:rPr lang="en-US" b="1" dirty="0"/>
              <a:t>curriculum meeting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A5A5A5"/>
                </a:solidFill>
              </a:rPr>
              <a:t> Date: </a:t>
            </a:r>
            <a:r>
              <a:rPr lang="en-US" dirty="0"/>
              <a:t>January 15, 2012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         </a:t>
            </a:r>
            <a:r>
              <a:rPr lang="en-US" dirty="0">
                <a:solidFill>
                  <a:srgbClr val="A5A5A5"/>
                </a:solidFill>
              </a:rPr>
              <a:t>To: </a:t>
            </a:r>
            <a:r>
              <a:rPr lang="en-US" dirty="0"/>
              <a:t>Dan </a:t>
            </a:r>
            <a:r>
              <a:rPr lang="en-US" dirty="0" err="1"/>
              <a:t>Jurafsky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Hi Dan, we’ve now scheduled the curriculum meeting.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It will be in Gates 159 tomorrow from 10:00-11:30.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-Chris</a:t>
            </a:r>
            <a:endParaRPr dirty="0"/>
          </a:p>
        </p:txBody>
      </p:sp>
      <p:sp>
        <p:nvSpPr>
          <p:cNvPr id="121" name="Google Shape;121;p3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cxnSp>
        <p:nvCxnSpPr>
          <p:cNvPr id="122" name="Google Shape;122;p3"/>
          <p:cNvCxnSpPr/>
          <p:nvPr/>
        </p:nvCxnSpPr>
        <p:spPr>
          <a:xfrm>
            <a:off x="381000" y="2724150"/>
            <a:ext cx="8534400" cy="0"/>
          </a:xfrm>
          <a:prstGeom prst="straightConnector1">
            <a:avLst/>
          </a:prstGeom>
          <a:gradFill>
            <a:gsLst>
              <a:gs pos="0">
                <a:srgbClr val="A50021"/>
              </a:gs>
              <a:gs pos="100000">
                <a:schemeClr val="dk1"/>
              </a:gs>
            </a:gsLst>
            <a:lin ang="0" scaled="0"/>
          </a:gradFill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3"/>
          <p:cNvSpPr/>
          <p:nvPr/>
        </p:nvSpPr>
        <p:spPr>
          <a:xfrm>
            <a:off x="1766112" y="3562350"/>
            <a:ext cx="5029200" cy="457200"/>
          </a:xfrm>
          <a:prstGeom prst="rect">
            <a:avLst/>
          </a:prstGeom>
          <a:noFill/>
          <a:ln w="9525" cap="flat" cmpd="sng">
            <a:solidFill>
              <a:srgbClr val="3366F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None/>
            </a:pPr>
            <a:endParaRPr sz="24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4" name="Google Shape;124;p3">
            <a:hlinkClick r:id="" action="ppaction://hlinkshowjump?jump=nextslide"/>
          </p:cNvPr>
          <p:cNvSpPr/>
          <p:nvPr/>
        </p:nvSpPr>
        <p:spPr>
          <a:xfrm rot="5400000">
            <a:off x="6781800" y="3790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w="120000" h="120000" fill="darken" extrusionOk="0">
                <a:moveTo>
                  <a:pt x="105000" y="60000"/>
                </a:moveTo>
                <a:lnTo>
                  <a:pt x="15000" y="15000"/>
                </a:lnTo>
                <a:lnTo>
                  <a:pt x="15000" y="105000"/>
                </a:lnTo>
                <a:close/>
              </a:path>
              <a:path w="120000" h="120000" fill="none" extrusionOk="0">
                <a:moveTo>
                  <a:pt x="105000" y="60000"/>
                </a:moveTo>
                <a:lnTo>
                  <a:pt x="15000" y="105000"/>
                </a:lnTo>
                <a:lnTo>
                  <a:pt x="15000" y="15000"/>
                </a:lnTo>
                <a:close/>
              </a:path>
              <a:path w="120000" h="120000" fill="none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DC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None/>
            </a:pPr>
            <a:endParaRPr sz="24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276600" y="4019550"/>
            <a:ext cx="4495800" cy="53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None/>
            </a:pPr>
            <a:endParaRPr sz="24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200400" y="4095750"/>
            <a:ext cx="4495800" cy="381000"/>
          </a:xfrm>
          <a:prstGeom prst="rect">
            <a:avLst/>
          </a:prstGeom>
          <a:solidFill>
            <a:srgbClr val="0000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ucida Sans"/>
              <a:buNone/>
            </a:pPr>
            <a:r>
              <a:rPr lang="en-US" sz="2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 Create new Calendar entry</a:t>
            </a:r>
            <a:endParaRPr sz="2400" b="0" i="0" u="none" strike="noStrike" cap="non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410200" y="590550"/>
            <a:ext cx="3733800" cy="2209800"/>
          </a:xfrm>
          <a:prstGeom prst="roundRect">
            <a:avLst>
              <a:gd name="adj" fmla="val 16667"/>
            </a:avLst>
          </a:prstGeom>
          <a:solidFill>
            <a:srgbClr val="D4AD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Lucida Sans"/>
              <a:buNone/>
            </a:pPr>
            <a:r>
              <a:rPr lang="en-US" sz="2400">
                <a:solidFill>
                  <a:srgbClr val="7F7F7F"/>
                </a:solidFill>
                <a:latin typeface="Lucida Sans"/>
                <a:ea typeface="Lucida Sans"/>
                <a:cs typeface="Lucida Sans"/>
                <a:sym typeface="Lucida Sans"/>
              </a:rPr>
              <a:t>Event:  </a:t>
            </a:r>
            <a:r>
              <a:rPr lang="en-US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Curriculum mtg</a:t>
            </a:r>
            <a:endParaRPr sz="24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Lucida Sans"/>
              <a:buNone/>
            </a:pPr>
            <a:r>
              <a:rPr lang="en-US" sz="2400" b="0" i="0" u="none" strike="noStrike" cap="none">
                <a:solidFill>
                  <a:srgbClr val="7F7F7F"/>
                </a:solidFill>
                <a:latin typeface="Lucida Sans"/>
                <a:ea typeface="Lucida Sans"/>
                <a:cs typeface="Lucida Sans"/>
                <a:sym typeface="Lucida Sans"/>
              </a:rPr>
              <a:t>Date: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Jan-16-2012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Lucida Sans"/>
              <a:buNone/>
            </a:pPr>
            <a:r>
              <a:rPr lang="en-US" sz="2400">
                <a:solidFill>
                  <a:srgbClr val="7F7F7F"/>
                </a:solidFill>
                <a:latin typeface="Lucida Sans"/>
                <a:ea typeface="Lucida Sans"/>
                <a:cs typeface="Lucida Sans"/>
                <a:sym typeface="Lucida Sans"/>
              </a:rPr>
              <a:t>Start:</a:t>
            </a:r>
            <a:r>
              <a:rPr lang="en-US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  10:00am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Lucida Sans"/>
              <a:buNone/>
            </a:pPr>
            <a:r>
              <a:rPr lang="en-US" sz="2400" b="0" i="0" u="none" strike="noStrike" cap="none">
                <a:solidFill>
                  <a:srgbClr val="7F7F7F"/>
                </a:solidFill>
                <a:latin typeface="Lucida Sans"/>
                <a:ea typeface="Lucida Sans"/>
                <a:cs typeface="Lucida Sans"/>
                <a:sym typeface="Lucida Sans"/>
              </a:rPr>
              <a:t>End:    </a:t>
            </a:r>
            <a:r>
              <a:rPr lang="en-US"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11:30am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Lucida Sans"/>
              <a:buNone/>
            </a:pPr>
            <a:r>
              <a:rPr lang="en-US" sz="2400">
                <a:solidFill>
                  <a:srgbClr val="7F7F7F"/>
                </a:solidFill>
                <a:latin typeface="Lucida Sans"/>
                <a:ea typeface="Lucida Sans"/>
                <a:cs typeface="Lucida Sans"/>
                <a:sym typeface="Lucida Sans"/>
              </a:rPr>
              <a:t>Where: </a:t>
            </a:r>
            <a:r>
              <a:rPr lang="en-US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Gates 159</a:t>
            </a:r>
            <a:endParaRPr sz="24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>
            <a:spLocks noGrp="1"/>
          </p:cNvSpPr>
          <p:nvPr>
            <p:ph type="title"/>
          </p:nvPr>
        </p:nvSpPr>
        <p:spPr>
          <a:xfrm>
            <a:off x="304800" y="57150"/>
            <a:ext cx="88392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Rút trích thông tin &amp; Phân tích ý kiến (SA)</a:t>
            </a:r>
            <a:endParaRPr/>
          </a:p>
        </p:txBody>
      </p:sp>
      <p:sp>
        <p:nvSpPr>
          <p:cNvPr id="133" name="Google Shape;133;p4"/>
          <p:cNvSpPr txBox="1">
            <a:spLocks noGrp="1"/>
          </p:cNvSpPr>
          <p:nvPr>
            <p:ph type="body" idx="1"/>
          </p:nvPr>
        </p:nvSpPr>
        <p:spPr>
          <a:xfrm>
            <a:off x="990600" y="2973751"/>
            <a:ext cx="81534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nice and compact to carry!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since the camera is small and light, I won't need to carry around those heavy, bulky professional cameras either! 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the camera feels flimsy, is plastic and very light in weight you have to be very delicate in the handling of this camera</a:t>
            </a:r>
            <a:endParaRPr dirty="0"/>
          </a:p>
        </p:txBody>
      </p:sp>
      <p:sp>
        <p:nvSpPr>
          <p:cNvPr id="134" name="Google Shape;134;p4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971550"/>
            <a:ext cx="1515220" cy="147279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304800" y="2571750"/>
            <a:ext cx="213486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 and weight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3886200" y="895350"/>
            <a:ext cx="1808646" cy="189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Đặc</a:t>
            </a:r>
            <a:r>
              <a:rPr lang="en-US" sz="195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5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tính</a:t>
            </a:r>
            <a:r>
              <a:rPr lang="en-US" sz="1950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zoom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affordability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size and weight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flash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 ease of use</a:t>
            </a:r>
            <a:endParaRPr dirty="0"/>
          </a:p>
        </p:txBody>
      </p:sp>
      <p:grpSp>
        <p:nvGrpSpPr>
          <p:cNvPr id="138" name="Google Shape;138;p4"/>
          <p:cNvGrpSpPr/>
          <p:nvPr/>
        </p:nvGrpSpPr>
        <p:grpSpPr>
          <a:xfrm>
            <a:off x="5715000" y="1276350"/>
            <a:ext cx="2362200" cy="1447800"/>
            <a:chOff x="3886200" y="1123950"/>
            <a:chExt cx="2362200" cy="1447800"/>
          </a:xfrm>
        </p:grpSpPr>
        <p:sp>
          <p:nvSpPr>
            <p:cNvPr id="139" name="Google Shape;139;p4"/>
            <p:cNvSpPr/>
            <p:nvPr/>
          </p:nvSpPr>
          <p:spPr>
            <a:xfrm>
              <a:off x="3886200" y="1123950"/>
              <a:ext cx="2362200" cy="228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886200" y="1123950"/>
              <a:ext cx="1828800" cy="228600"/>
            </a:xfrm>
            <a:prstGeom prst="rect">
              <a:avLst/>
            </a:prstGeom>
            <a:solidFill>
              <a:srgbClr val="D4AD4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3886200" y="1428750"/>
              <a:ext cx="2362200" cy="228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3886200" y="1428750"/>
              <a:ext cx="2133600" cy="228600"/>
            </a:xfrm>
            <a:prstGeom prst="rect">
              <a:avLst/>
            </a:prstGeom>
            <a:solidFill>
              <a:srgbClr val="D4AD4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886200" y="1733550"/>
              <a:ext cx="2362200" cy="228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3886200" y="1733550"/>
              <a:ext cx="1600200" cy="228600"/>
            </a:xfrm>
            <a:prstGeom prst="rect">
              <a:avLst/>
            </a:prstGeom>
            <a:solidFill>
              <a:srgbClr val="D4AD4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3886200" y="2038350"/>
              <a:ext cx="2362200" cy="228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3886200" y="2038349"/>
              <a:ext cx="2362200" cy="228601"/>
            </a:xfrm>
            <a:prstGeom prst="rect">
              <a:avLst/>
            </a:prstGeom>
            <a:solidFill>
              <a:srgbClr val="D4AD4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3886200" y="2343150"/>
              <a:ext cx="2362200" cy="228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3886200" y="2343150"/>
              <a:ext cx="1295400" cy="228600"/>
            </a:xfrm>
            <a:prstGeom prst="rect">
              <a:avLst/>
            </a:prstGeom>
            <a:solidFill>
              <a:srgbClr val="D4AD4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Lucida Sans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149" name="Google Shape;149;p4"/>
          <p:cNvSpPr txBox="1"/>
          <p:nvPr/>
        </p:nvSpPr>
        <p:spPr>
          <a:xfrm>
            <a:off x="533400" y="3028950"/>
            <a:ext cx="494446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3200">
              <a:solidFill>
                <a:srgbClr val="336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62278" y="4248150"/>
            <a:ext cx="428322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33400" y="3638550"/>
            <a:ext cx="494446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3200">
              <a:solidFill>
                <a:srgbClr val="3366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228600" y="57150"/>
            <a:ext cx="8915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Dịch máy (dịch tự động, machine translation)</a:t>
            </a:r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body" idx="1"/>
          </p:nvPr>
        </p:nvSpPr>
        <p:spPr>
          <a:xfrm>
            <a:off x="838200" y="1352550"/>
            <a:ext cx="44196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Tự động hoàn toàn</a:t>
            </a:r>
            <a:endParaRPr sz="2800"/>
          </a:p>
        </p:txBody>
      </p:sp>
      <p:sp>
        <p:nvSpPr>
          <p:cNvPr id="159" name="Google Shape;159;p5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5743" y="1657350"/>
            <a:ext cx="4369071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4419600" y="1047750"/>
            <a:ext cx="46482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Hỗ trợ người dịch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228600" y="2038350"/>
            <a:ext cx="34599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Nhập văn bản nguồn (Source Text):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81000" y="2495550"/>
            <a:ext cx="4267200" cy="533400"/>
          </a:xfrm>
          <a:prstGeom prst="roundRect">
            <a:avLst>
              <a:gd name="adj" fmla="val 16667"/>
            </a:avLst>
          </a:prstGeom>
          <a:solidFill>
            <a:srgbClr val="F5EC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None/>
            </a:pPr>
            <a:endParaRPr sz="2400">
              <a:solidFill>
                <a:schemeClr val="dk1"/>
              </a:solidFill>
              <a:latin typeface="STFangsong"/>
              <a:ea typeface="STFangsong"/>
              <a:cs typeface="STFangsong"/>
              <a:sym typeface="STFangsong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81000" y="3867150"/>
            <a:ext cx="4191000" cy="533400"/>
          </a:xfrm>
          <a:prstGeom prst="roundRect">
            <a:avLst>
              <a:gd name="adj" fmla="val 16667"/>
            </a:avLst>
          </a:prstGeom>
          <a:solidFill>
            <a:srgbClr val="F5EC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ucida San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228600" y="3269218"/>
            <a:ext cx="10518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Bản dịch: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304800" y="2558241"/>
            <a:ext cx="433010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STFangsong"/>
                <a:ea typeface="STFangsong"/>
                <a:cs typeface="STFangsong"/>
                <a:sym typeface="STFangsong"/>
              </a:rPr>
              <a:t> 这 不过 是 一 个 时间 的 问题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457200" y="3929841"/>
            <a:ext cx="373055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only a matter of time.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>
            <a:spLocks noGrp="1"/>
          </p:cNvSpPr>
          <p:nvPr>
            <p:ph type="title"/>
          </p:nvPr>
        </p:nvSpPr>
        <p:spPr>
          <a:xfrm>
            <a:off x="266701" y="209550"/>
            <a:ext cx="857249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Công nghệ xử lý ngôn ngữ (language technology)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266701" y="1936481"/>
            <a:ext cx="2628899" cy="715836"/>
          </a:xfrm>
          <a:prstGeom prst="rect">
            <a:avLst/>
          </a:prstGeom>
          <a:solidFill>
            <a:srgbClr val="DEF1DE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048000" y="1149083"/>
            <a:ext cx="3047999" cy="715836"/>
          </a:xfrm>
          <a:prstGeom prst="rect">
            <a:avLst/>
          </a:prstGeom>
          <a:solidFill>
            <a:srgbClr val="FFFDD4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297437" y="1530351"/>
            <a:ext cx="2781299" cy="714375"/>
          </a:xfrm>
          <a:prstGeom prst="rect">
            <a:avLst/>
          </a:prstGeom>
          <a:solidFill>
            <a:srgbClr val="F0DCDC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048000" y="1911746"/>
            <a:ext cx="3047999" cy="609600"/>
          </a:xfrm>
          <a:prstGeom prst="rect">
            <a:avLst/>
          </a:prstGeom>
          <a:solidFill>
            <a:srgbClr val="FFFDD4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301670" y="2327446"/>
            <a:ext cx="2781299" cy="715836"/>
          </a:xfrm>
          <a:prstGeom prst="rect">
            <a:avLst/>
          </a:prstGeom>
          <a:solidFill>
            <a:srgbClr val="F0DCDC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66701" y="2800350"/>
            <a:ext cx="2628899" cy="715836"/>
          </a:xfrm>
          <a:prstGeom prst="rect">
            <a:avLst/>
          </a:prstGeom>
          <a:solidFill>
            <a:srgbClr val="DEF1DE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052445" y="2556529"/>
            <a:ext cx="3043360" cy="548621"/>
          </a:xfrm>
          <a:prstGeom prst="rect">
            <a:avLst/>
          </a:prstGeom>
          <a:solidFill>
            <a:srgbClr val="FFFDD4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301673" y="3100912"/>
            <a:ext cx="2781299" cy="715836"/>
          </a:xfrm>
          <a:prstGeom prst="rect">
            <a:avLst/>
          </a:prstGeom>
          <a:solidFill>
            <a:srgbClr val="F0DCDC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66701" y="3638551"/>
            <a:ext cx="2628899" cy="715836"/>
          </a:xfrm>
          <a:prstGeom prst="rect">
            <a:avLst/>
          </a:prstGeom>
          <a:solidFill>
            <a:srgbClr val="DEF1DE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048000" y="3164417"/>
            <a:ext cx="3047999" cy="533399"/>
          </a:xfrm>
          <a:prstGeom prst="rect">
            <a:avLst/>
          </a:prstGeom>
          <a:solidFill>
            <a:srgbClr val="FFFDD4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301673" y="3990974"/>
            <a:ext cx="2781299" cy="714376"/>
          </a:xfrm>
          <a:prstGeom prst="rect">
            <a:avLst/>
          </a:prstGeom>
          <a:solidFill>
            <a:srgbClr val="F0DCDC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048000" y="4477807"/>
            <a:ext cx="3048000" cy="638176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048000" y="3751594"/>
            <a:ext cx="3047999" cy="671843"/>
          </a:xfrm>
          <a:prstGeom prst="rect">
            <a:avLst/>
          </a:prstGeom>
          <a:solidFill>
            <a:srgbClr val="FFFDD4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3124201" y="1885950"/>
            <a:ext cx="18645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Coreference resolution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6267804" y="1504950"/>
            <a:ext cx="20139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answering (QA)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266701" y="2800350"/>
            <a:ext cx="22783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Part-of-speech (POS) tagging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3048000" y="2495550"/>
            <a:ext cx="2514600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 sense disambiguation (WSD)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6267805" y="2266950"/>
            <a:ext cx="100879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Paraphrase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342901" y="3638550"/>
            <a:ext cx="25019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Named entity recognition (NER)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3124200" y="3181350"/>
            <a:ext cx="7162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Parsing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6259338" y="3058576"/>
            <a:ext cx="1284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3153962" y="4427206"/>
            <a:ext cx="22135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extraction (IE)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3124201" y="3714750"/>
            <a:ext cx="203981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Machine translation (MT)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6259338" y="3920068"/>
            <a:ext cx="6427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Dialog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3124201" y="1123950"/>
            <a:ext cx="15490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6259337" y="3886200"/>
            <a:ext cx="18466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304800" y="1364218"/>
            <a:ext cx="24685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Được giải quyết gần như hoàn toàn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3276600" y="742950"/>
            <a:ext cx="24685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Có tiến bộ nhanh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6324600" y="1123950"/>
            <a:ext cx="24685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Vẫn còn rất khó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342901" y="1911348"/>
            <a:ext cx="1333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Spam detection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588432" y="2205730"/>
            <a:ext cx="1689102" cy="17905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go to Agra!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602325" y="2418456"/>
            <a:ext cx="1662508" cy="1702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Buy V1AGRA …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2374903" y="2048200"/>
            <a:ext cx="304515" cy="30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8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2382881" y="2312621"/>
            <a:ext cx="330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✗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42902" y="3259264"/>
            <a:ext cx="2590800" cy="15239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Colorless   green   ideas   sleep   furiously.</a:t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65082" y="3106864"/>
            <a:ext cx="2154873" cy="125016"/>
          </a:xfrm>
          <a:prstGeom prst="rect">
            <a:avLst/>
          </a:prstGeom>
          <a:solidFill>
            <a:srgbClr val="DEF1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ADJ         ADJ    NOUN  VERB      ADV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04800" y="4081679"/>
            <a:ext cx="2590800" cy="19650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Einstein met with UN officials in Princeton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21623" y="3957114"/>
            <a:ext cx="2156618" cy="125015"/>
          </a:xfrm>
          <a:prstGeom prst="rect">
            <a:avLst/>
          </a:prstGeom>
          <a:solidFill>
            <a:srgbClr val="DEF1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PERSON              ORG                      LOC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246589" y="4734984"/>
            <a:ext cx="1831293" cy="30479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You’re invited to our dinner party, Friday May 27 at 8:30</a:t>
            </a:r>
            <a:endParaRPr/>
          </a:p>
        </p:txBody>
      </p:sp>
      <p:pic>
        <p:nvPicPr>
          <p:cNvPr id="213" name="Google Shape;2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7556" y="4692118"/>
            <a:ext cx="289026" cy="19364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/>
          <p:nvPr/>
        </p:nvSpPr>
        <p:spPr>
          <a:xfrm>
            <a:off x="5385965" y="4658783"/>
            <a:ext cx="563985" cy="34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Party</a:t>
            </a:r>
            <a:br>
              <a:rPr lang="en-U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May 27</a:t>
            </a:r>
            <a:br>
              <a:rPr lang="en-U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/>
          </a:p>
        </p:txBody>
      </p:sp>
      <p:cxnSp>
        <p:nvCxnSpPr>
          <p:cNvPr id="215" name="Google Shape;215;p6"/>
          <p:cNvCxnSpPr/>
          <p:nvPr/>
        </p:nvCxnSpPr>
        <p:spPr>
          <a:xfrm rot="10800000" flipH="1">
            <a:off x="5507988" y="5115983"/>
            <a:ext cx="162560" cy="1294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" name="Google Shape;216;p6"/>
          <p:cNvSpPr/>
          <p:nvPr/>
        </p:nvSpPr>
        <p:spPr>
          <a:xfrm>
            <a:off x="3378409" y="1425920"/>
            <a:ext cx="2137410" cy="1552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Best roast chicken in San Francisco!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3378409" y="1657350"/>
            <a:ext cx="2137410" cy="15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waiter ignored us for 20 minutes.</a:t>
            </a:r>
            <a:endParaRPr/>
          </a:p>
        </p:txBody>
      </p:sp>
      <p:pic>
        <p:nvPicPr>
          <p:cNvPr id="218" name="Google Shape;21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1869" y="1352550"/>
            <a:ext cx="275928" cy="191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5621868" y="1657350"/>
            <a:ext cx="27516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/>
          <p:nvPr/>
        </p:nvSpPr>
        <p:spPr>
          <a:xfrm>
            <a:off x="3352800" y="2321643"/>
            <a:ext cx="2640330" cy="14712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Carter told Mubarak he shouldn’t run again.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581400" y="2216545"/>
            <a:ext cx="1066800" cy="228600"/>
          </a:xfrm>
          <a:prstGeom prst="arc">
            <a:avLst>
              <a:gd name="adj1" fmla="val 10822610"/>
              <a:gd name="adj2" fmla="val 0"/>
            </a:avLst>
          </a:prstGeom>
          <a:noFill/>
          <a:ln w="12700" cap="flat" cmpd="sng">
            <a:solidFill>
              <a:srgbClr val="FF0000"/>
            </a:solidFill>
            <a:prstDash val="solid"/>
            <a:round/>
            <a:headEnd type="triangle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267200" y="2233479"/>
            <a:ext cx="376237" cy="287866"/>
          </a:xfrm>
          <a:prstGeom prst="arc">
            <a:avLst>
              <a:gd name="adj1" fmla="val 10830349"/>
              <a:gd name="adj2" fmla="val 10"/>
            </a:avLst>
          </a:prstGeom>
          <a:noFill/>
          <a:ln w="12700" cap="flat" cmpd="sng">
            <a:solidFill>
              <a:srgbClr val="008000"/>
            </a:solidFill>
            <a:prstDash val="solid"/>
            <a:round/>
            <a:headEnd type="triangle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62600" y="2876550"/>
            <a:ext cx="381000" cy="19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/>
          <p:nvPr/>
        </p:nvSpPr>
        <p:spPr>
          <a:xfrm>
            <a:off x="3124200" y="2802063"/>
            <a:ext cx="2286000" cy="228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need new batteries for my </a:t>
            </a:r>
            <a:r>
              <a:rPr lang="en-US" sz="12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mouse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3107351" y="4181710"/>
            <a:ext cx="2607649" cy="16552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13</a:t>
            </a:r>
            <a:r>
              <a:rPr lang="en-US" sz="1000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Shanghai International Film Festival…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3124200" y="3982708"/>
            <a:ext cx="2065864" cy="14439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第13届上海国际电影节开幕…</a:t>
            </a:r>
            <a:endParaRPr sz="100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384799" y="3983172"/>
            <a:ext cx="217060" cy="13751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477000" y="3342282"/>
            <a:ext cx="1319212" cy="1188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Dow Jones is up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705600" y="3638550"/>
            <a:ext cx="1192037" cy="15613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Housing prices rose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7946850" y="3461146"/>
            <a:ext cx="179387" cy="12501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8248474" y="3379577"/>
            <a:ext cx="766762" cy="31016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Economy is good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388644" y="1810146"/>
            <a:ext cx="2374356" cy="30440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Q. How effective is ibuprofen in reducing fever in patients with acute febrile illness?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3810000" y="3530600"/>
            <a:ext cx="2209800" cy="15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can see Alcatraz from the window!</a:t>
            </a:r>
            <a:endParaRPr/>
          </a:p>
        </p:txBody>
      </p:sp>
      <p:cxnSp>
        <p:nvCxnSpPr>
          <p:cNvPr id="234" name="Google Shape;234;p6"/>
          <p:cNvCxnSpPr/>
          <p:nvPr/>
        </p:nvCxnSpPr>
        <p:spPr>
          <a:xfrm rot="10800000">
            <a:off x="5257801" y="3459291"/>
            <a:ext cx="93663" cy="5953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6"/>
          <p:cNvCxnSpPr/>
          <p:nvPr/>
        </p:nvCxnSpPr>
        <p:spPr>
          <a:xfrm rot="10800000" flipH="1">
            <a:off x="5165725" y="3459291"/>
            <a:ext cx="95250" cy="5953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6"/>
          <p:cNvCxnSpPr/>
          <p:nvPr/>
        </p:nvCxnSpPr>
        <p:spPr>
          <a:xfrm rot="10800000">
            <a:off x="5111751" y="3399759"/>
            <a:ext cx="149225" cy="5953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6"/>
          <p:cNvCxnSpPr/>
          <p:nvPr/>
        </p:nvCxnSpPr>
        <p:spPr>
          <a:xfrm rot="-5400000">
            <a:off x="4987132" y="3394203"/>
            <a:ext cx="119063" cy="130175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6"/>
          <p:cNvCxnSpPr/>
          <p:nvPr/>
        </p:nvCxnSpPr>
        <p:spPr>
          <a:xfrm rot="10800000">
            <a:off x="4962526" y="3341418"/>
            <a:ext cx="149225" cy="5834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9" name="Google Shape;239;p6"/>
          <p:cNvCxnSpPr/>
          <p:nvPr/>
        </p:nvCxnSpPr>
        <p:spPr>
          <a:xfrm rot="10800000" flipH="1">
            <a:off x="4719638" y="3341418"/>
            <a:ext cx="242887" cy="17740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0" name="Google Shape;240;p6"/>
          <p:cNvCxnSpPr/>
          <p:nvPr/>
        </p:nvCxnSpPr>
        <p:spPr>
          <a:xfrm rot="10800000" flipH="1">
            <a:off x="4476751" y="3341418"/>
            <a:ext cx="485775" cy="17740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1" name="Google Shape;241;p6"/>
          <p:cNvCxnSpPr/>
          <p:nvPr/>
        </p:nvCxnSpPr>
        <p:spPr>
          <a:xfrm rot="10800000">
            <a:off x="4810126" y="3281887"/>
            <a:ext cx="149225" cy="5953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2" name="Google Shape;242;p6"/>
          <p:cNvCxnSpPr/>
          <p:nvPr/>
        </p:nvCxnSpPr>
        <p:spPr>
          <a:xfrm rot="10800000">
            <a:off x="4660901" y="3222356"/>
            <a:ext cx="149225" cy="59531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3" name="Google Shape;243;p6"/>
          <p:cNvCxnSpPr/>
          <p:nvPr/>
        </p:nvCxnSpPr>
        <p:spPr>
          <a:xfrm rot="10800000" flipH="1">
            <a:off x="4325939" y="3284268"/>
            <a:ext cx="484187" cy="23455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4" name="Google Shape;244;p6"/>
          <p:cNvCxnSpPr/>
          <p:nvPr/>
        </p:nvCxnSpPr>
        <p:spPr>
          <a:xfrm rot="10800000" flipH="1">
            <a:off x="4114800" y="3227118"/>
            <a:ext cx="542925" cy="33523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p6"/>
          <p:cNvSpPr/>
          <p:nvPr/>
        </p:nvSpPr>
        <p:spPr>
          <a:xfrm>
            <a:off x="6405785" y="2620708"/>
            <a:ext cx="2121693" cy="15271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XYZ acquired ABC yesterday</a:t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6405785" y="2789989"/>
            <a:ext cx="2121693" cy="15585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ABC has been taken over by XYZ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6985982" y="4019550"/>
            <a:ext cx="2054655" cy="208183"/>
          </a:xfrm>
          <a:prstGeom prst="wedgeRectCallout">
            <a:avLst>
              <a:gd name="adj1" fmla="val -67569"/>
              <a:gd name="adj2" fmla="val 96660"/>
            </a:avLst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 is Citizen Kane playing in SF? 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6936349" y="4324350"/>
            <a:ext cx="1714818" cy="327295"/>
          </a:xfrm>
          <a:prstGeom prst="wedgeRectCallout">
            <a:avLst>
              <a:gd name="adj1" fmla="val 63386"/>
              <a:gd name="adj2" fmla="val -39734"/>
            </a:avLst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Castro Theatre at 7:30. Do you want a ticket?</a:t>
            </a:r>
            <a:endParaRPr/>
          </a:p>
        </p:txBody>
      </p:sp>
      <p:pic>
        <p:nvPicPr>
          <p:cNvPr id="249" name="Google Shape;24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6298773" y="4340605"/>
            <a:ext cx="379664" cy="28854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/>
          <p:nvPr/>
        </p:nvSpPr>
        <p:spPr>
          <a:xfrm>
            <a:off x="6553200" y="3486150"/>
            <a:ext cx="1295400" cy="15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S&amp;P500 jumped</a:t>
            </a:r>
            <a:endParaRPr/>
          </a:p>
        </p:txBody>
      </p:sp>
      <p:pic>
        <p:nvPicPr>
          <p:cNvPr id="251" name="Google Shape;251;p6" descr="BU009519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55423" y="2571750"/>
            <a:ext cx="440577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6" descr="skd186802sdc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12037" y="4070746"/>
            <a:ext cx="408163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 txBox="1">
            <a:spLocks noGrp="1"/>
          </p:cNvSpPr>
          <p:nvPr>
            <p:ph type="title"/>
          </p:nvPr>
        </p:nvSpPr>
        <p:spPr>
          <a:xfrm>
            <a:off x="228600" y="381000"/>
            <a:ext cx="86868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Lucida Sans"/>
                <a:ea typeface="Lucida Sans"/>
                <a:cs typeface="Lucida Sans"/>
                <a:sym typeface="Lucida Sans"/>
              </a:rPr>
              <a:t>Sự</a:t>
            </a:r>
            <a:r>
              <a:rPr lang="en-US" dirty="0"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dirty="0" err="1">
                <a:latin typeface="Lucida Sans"/>
                <a:ea typeface="Lucida Sans"/>
                <a:cs typeface="Lucida Sans"/>
                <a:sym typeface="Lucida Sans"/>
              </a:rPr>
              <a:t>nhập</a:t>
            </a:r>
            <a:r>
              <a:rPr lang="en-US" dirty="0"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dirty="0" err="1">
                <a:latin typeface="Lucida Sans"/>
                <a:ea typeface="Lucida Sans"/>
                <a:cs typeface="Lucida Sans"/>
                <a:sym typeface="Lucida Sans"/>
              </a:rPr>
              <a:t>nhằng</a:t>
            </a:r>
            <a:r>
              <a:rPr lang="en-US" dirty="0"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dirty="0" err="1">
                <a:latin typeface="Lucida Sans"/>
                <a:ea typeface="Lucida Sans"/>
                <a:cs typeface="Lucida Sans"/>
                <a:sym typeface="Lucida Sans"/>
              </a:rPr>
              <a:t>làm</a:t>
            </a:r>
            <a:r>
              <a:rPr lang="en-US" dirty="0"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lang="en-US" dirty="0" err="1">
                <a:latin typeface="Lucida Sans"/>
                <a:ea typeface="Lucida Sans"/>
                <a:cs typeface="Lucida Sans"/>
                <a:sym typeface="Lucida Sans"/>
              </a:rPr>
              <a:t>cho</a:t>
            </a:r>
            <a:r>
              <a:rPr lang="en-US" dirty="0">
                <a:latin typeface="Lucida Sans"/>
                <a:ea typeface="Lucida Sans"/>
                <a:cs typeface="Lucida Sans"/>
                <a:sym typeface="Lucida Sans"/>
              </a:rPr>
              <a:t> XLNNTN </a:t>
            </a:r>
            <a:r>
              <a:rPr lang="en-US" dirty="0" err="1">
                <a:latin typeface="Lucida Sans"/>
                <a:ea typeface="Lucida Sans"/>
                <a:cs typeface="Lucida Sans"/>
                <a:sym typeface="Lucida Sans"/>
              </a:rPr>
              <a:t>khó</a:t>
            </a:r>
            <a:endParaRPr dirty="0"/>
          </a:p>
        </p:txBody>
      </p:sp>
      <p:sp>
        <p:nvSpPr>
          <p:cNvPr id="259" name="Google Shape;259;p7"/>
          <p:cNvSpPr txBox="1">
            <a:spLocks noGrp="1"/>
          </p:cNvSpPr>
          <p:nvPr>
            <p:ph type="body" idx="1"/>
          </p:nvPr>
        </p:nvSpPr>
        <p:spPr>
          <a:xfrm>
            <a:off x="1066800" y="1733550"/>
            <a:ext cx="6329363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Ông già đi nhanh quá.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Học sinh học sinh học.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>
            <a:off x="381000" y="1270978"/>
            <a:ext cx="2766060" cy="1605572"/>
          </a:xfrm>
          <a:prstGeom prst="roundRect">
            <a:avLst>
              <a:gd name="adj" fmla="val 16667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3293428" y="1270978"/>
            <a:ext cx="2766060" cy="1605572"/>
          </a:xfrm>
          <a:prstGeom prst="roundRect">
            <a:avLst>
              <a:gd name="adj" fmla="val 16667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838200" y="1200150"/>
            <a:ext cx="16995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Không chuẩn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453570" y="1633160"/>
            <a:ext cx="289560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Great job @justinbieber! Were SOO PROUD of what youve accomplished! U taught us 2 #neversaynever &amp; you yourself should never give up either♥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3276600" y="1195685"/>
            <a:ext cx="26568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Vấn đề ranh giới từ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149340" y="1270978"/>
            <a:ext cx="2766060" cy="1605572"/>
          </a:xfrm>
          <a:prstGeom prst="roundRect">
            <a:avLst>
              <a:gd name="adj" fmla="val 16667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6781800" y="1200150"/>
            <a:ext cx="156324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Thành ngữ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6149340" y="1759744"/>
            <a:ext cx="276606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dark horse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cold feet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lose face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in the towel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381000" y="3025899"/>
            <a:ext cx="2766060" cy="1603251"/>
          </a:xfrm>
          <a:prstGeom prst="roundRect">
            <a:avLst>
              <a:gd name="adj" fmla="val 16667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457200" y="2948285"/>
            <a:ext cx="27865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Từ mới - neologisms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381000" y="3420158"/>
            <a:ext cx="276606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unfriend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Retweet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149340" y="3011044"/>
            <a:ext cx="2766060" cy="1605572"/>
          </a:xfrm>
          <a:prstGeom prst="roundRect">
            <a:avLst>
              <a:gd name="adj" fmla="val 16667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248400" y="2897535"/>
            <a:ext cx="27191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Tên riêng gây rắc rối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6248400" y="3462121"/>
            <a:ext cx="2805430" cy="90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is </a:t>
            </a:r>
            <a:r>
              <a:rPr lang="en-US" sz="1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Bug’s Life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playing …</a:t>
            </a:r>
            <a:endParaRPr sz="16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It Be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was recorded …</a:t>
            </a:r>
            <a:endParaRPr dirty="0"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a mutation on the </a:t>
            </a:r>
            <a:r>
              <a:rPr lang="en-US" sz="16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 …</a:t>
            </a:r>
            <a:endParaRPr sz="16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329940" y="2997323"/>
            <a:ext cx="2766060" cy="1603251"/>
          </a:xfrm>
          <a:prstGeom prst="roundRect">
            <a:avLst>
              <a:gd name="adj" fmla="val 16667"/>
            </a:avLst>
          </a:prstGeom>
          <a:solidFill>
            <a:srgbClr val="E5DECF"/>
          </a:solidFill>
          <a:ln w="9525" cap="flat" cmpd="sng">
            <a:solidFill>
              <a:srgbClr val="A40019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3581400" y="2900740"/>
            <a:ext cx="22319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 thức thế giới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3329940" y="3474927"/>
            <a:ext cx="276606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Mary and Sue are sisters.</a:t>
            </a:r>
            <a:endParaRPr/>
          </a:p>
          <a:p>
            <a:pPr marL="0" marR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Mary and Sue are mothers.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609600" y="4674880"/>
            <a:ext cx="68323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Nhưng đó cũng là những thứ làm cho XLNNTN thú vị!</a:t>
            </a:r>
            <a:endParaRPr/>
          </a:p>
        </p:txBody>
      </p:sp>
      <p:grpSp>
        <p:nvGrpSpPr>
          <p:cNvPr id="296" name="Google Shape;296;p9"/>
          <p:cNvGrpSpPr/>
          <p:nvPr/>
        </p:nvGrpSpPr>
        <p:grpSpPr>
          <a:xfrm>
            <a:off x="3288695" y="1937960"/>
            <a:ext cx="2755295" cy="533400"/>
            <a:chOff x="3686175" y="2535809"/>
            <a:chExt cx="1774825" cy="337261"/>
          </a:xfrm>
        </p:grpSpPr>
        <p:sp>
          <p:nvSpPr>
            <p:cNvPr id="297" name="Google Shape;297;p9"/>
            <p:cNvSpPr/>
            <p:nvPr/>
          </p:nvSpPr>
          <p:spPr>
            <a:xfrm>
              <a:off x="3686175" y="2535809"/>
              <a:ext cx="182101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3897307" y="2535809"/>
              <a:ext cx="23752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4159901" y="2535809"/>
              <a:ext cx="49352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4678494" y="2535809"/>
              <a:ext cx="32857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5029500" y="2535809"/>
              <a:ext cx="43150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3686175" y="2727808"/>
              <a:ext cx="182101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3897307" y="2727808"/>
              <a:ext cx="484283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4413259" y="2727808"/>
              <a:ext cx="593808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029500" y="2727808"/>
              <a:ext cx="431500" cy="145262"/>
            </a:xfrm>
            <a:prstGeom prst="rect">
              <a:avLst/>
            </a:prstGeom>
            <a:solidFill>
              <a:srgbClr val="7A9FE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9"/>
          <p:cNvSpPr txBox="1"/>
          <p:nvPr/>
        </p:nvSpPr>
        <p:spPr>
          <a:xfrm>
            <a:off x="3212495" y="1885950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New York-New Haven Railroad</a:t>
            </a:r>
            <a:endParaRPr/>
          </a:p>
          <a:p>
            <a:pPr marL="0" marR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New York-New Haven Railroad</a:t>
            </a:r>
            <a:endParaRPr/>
          </a:p>
        </p:txBody>
      </p:sp>
      <p:sp>
        <p:nvSpPr>
          <p:cNvPr id="307" name="Google Shape;307;p9"/>
          <p:cNvSpPr txBox="1">
            <a:spLocks noGrp="1"/>
          </p:cNvSpPr>
          <p:nvPr>
            <p:ph type="title"/>
          </p:nvPr>
        </p:nvSpPr>
        <p:spPr>
          <a:xfrm>
            <a:off x="228600" y="381000"/>
            <a:ext cx="8763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ucida Sans"/>
                <a:ea typeface="Lucida Sans"/>
                <a:cs typeface="Lucida Sans"/>
                <a:sym typeface="Lucida Sans"/>
              </a:rPr>
              <a:t>Những thứ khác làm cho XLNNTN khó?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Để đóng góp vào sự tiến bộ của lĩnh vực này</a:t>
            </a:r>
            <a:endParaRPr/>
          </a:p>
        </p:txBody>
      </p:sp>
      <p:sp>
        <p:nvSpPr>
          <p:cNvPr id="314" name="Google Shape;314;p10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! 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dirty="0"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endParaRPr dirty="0"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giới</a:t>
            </a:r>
            <a:endParaRPr dirty="0"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tri </a:t>
            </a:r>
            <a:r>
              <a:rPr lang="en-US" dirty="0" err="1"/>
              <a:t>thức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:</a:t>
            </a:r>
            <a:endParaRPr dirty="0"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endParaRPr dirty="0"/>
          </a:p>
          <a:p>
            <a:pPr marL="10287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P(“</a:t>
            </a:r>
            <a:r>
              <a:rPr lang="en-US" dirty="0" err="1"/>
              <a:t>maison</a:t>
            </a:r>
            <a:r>
              <a:rPr lang="en-US" dirty="0"/>
              <a:t>” → “house”)   </a:t>
            </a:r>
            <a:r>
              <a:rPr lang="en-US" dirty="0" err="1">
                <a:solidFill>
                  <a:srgbClr val="008000"/>
                </a:solidFill>
              </a:rPr>
              <a:t>cao</a:t>
            </a:r>
            <a:endParaRPr dirty="0">
              <a:solidFill>
                <a:srgbClr val="008000"/>
              </a:solidFill>
            </a:endParaRPr>
          </a:p>
          <a:p>
            <a:pPr marL="10287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P(“</a:t>
            </a:r>
            <a:r>
              <a:rPr lang="en-US" dirty="0" err="1"/>
              <a:t>L’avocat</a:t>
            </a:r>
            <a:r>
              <a:rPr lang="en-US" dirty="0"/>
              <a:t> </a:t>
            </a:r>
            <a:r>
              <a:rPr lang="en-US" dirty="0" err="1"/>
              <a:t>général</a:t>
            </a:r>
            <a:r>
              <a:rPr lang="en-US" dirty="0"/>
              <a:t>” → “the general avocado”)   </a:t>
            </a:r>
            <a:r>
              <a:rPr lang="en-US" dirty="0" err="1">
                <a:solidFill>
                  <a:srgbClr val="008000"/>
                </a:solidFill>
              </a:rPr>
              <a:t>thấp</a:t>
            </a:r>
            <a:endParaRPr dirty="0">
              <a:solidFill>
                <a:srgbClr val="008000"/>
              </a:solidFill>
            </a:endParaRPr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May </a:t>
            </a:r>
            <a:r>
              <a:rPr lang="en-US" dirty="0" err="1"/>
              <a:t>mắn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,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nửa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Môn học</a:t>
            </a:r>
            <a:endParaRPr/>
          </a:p>
        </p:txBody>
      </p:sp>
      <p:sp>
        <p:nvSpPr>
          <p:cNvPr id="321" name="Google Shape;321;p11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Dạy những lý thuyết và phương pháp cơ bản về XLNNTN theo cách tiếp cận thống kê (statistical NLP):</a:t>
            </a:r>
            <a:endParaRPr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Viterbi</a:t>
            </a:r>
            <a:endParaRPr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Phân lớp Naïve Bayes, Maxent</a:t>
            </a:r>
            <a:endParaRPr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Mô hình ngôn ngữ N-gram</a:t>
            </a:r>
            <a:endParaRPr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Phân tích cú pháp</a:t>
            </a:r>
            <a:endParaRPr sz="1600"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Chỉ mục ngược (inverted index), tf-idf, mô hình vector cho ngữ nghĩa</a:t>
            </a:r>
            <a:endParaRPr sz="1600"/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Giới thiệu ứng dụng một số thực tiễn</a:t>
            </a:r>
            <a:endParaRPr sz="1800"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Rút trích thông tin</a:t>
            </a:r>
            <a:endParaRPr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Sửa lỗi chính tả</a:t>
            </a:r>
            <a:endParaRPr sz="1600"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Truy vấn thông tin</a:t>
            </a:r>
            <a:endParaRPr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Phân tích ý kiến</a:t>
            </a:r>
            <a:endParaRPr sz="1600"/>
          </a:p>
          <a:p>
            <a:pPr marL="685800" lvl="1" indent="-228600" algn="l" rtl="0">
              <a:spcBef>
                <a:spcPts val="32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Hỏi đáp, chatbot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Kỹ năng cần có</a:t>
            </a:r>
            <a:endParaRPr/>
          </a:p>
        </p:txBody>
      </p:sp>
      <p:sp>
        <p:nvSpPr>
          <p:cNvPr id="328" name="Google Shape;328;p12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Đại số tuyến tính cơ bản (vector, ma trận)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Lý thuyết xác suất cơ bản</a:t>
            </a:r>
            <a:endParaRPr sz="280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Lập trình Java hoặc Python</a:t>
            </a:r>
            <a:endParaRPr/>
          </a:p>
          <a:p>
            <a:pPr marL="685800" lvl="1" indent="-762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P-jurafsky">
  <a:themeElements>
    <a:clrScheme name="NLP Class">
      <a:dk1>
        <a:srgbClr val="000000"/>
      </a:dk1>
      <a:lt1>
        <a:srgbClr val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849</Words>
  <Application>Microsoft Office PowerPoint</Application>
  <PresentationFormat>On-screen Show (16:9)</PresentationFormat>
  <Paragraphs>152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STFangsong</vt:lpstr>
      <vt:lpstr>Arial</vt:lpstr>
      <vt:lpstr>Calibri</vt:lpstr>
      <vt:lpstr>Lucida Sans</vt:lpstr>
      <vt:lpstr>Times</vt:lpstr>
      <vt:lpstr>Times New Roman</vt:lpstr>
      <vt:lpstr>NLP-jurafsky</vt:lpstr>
      <vt:lpstr>Giới thiệu về  Xử lý ngôn ngữ tự nhiên</vt:lpstr>
      <vt:lpstr>Hỏi đáp: Ứng dụng Watson của IBM</vt:lpstr>
      <vt:lpstr>Rút trích thông tin  (Information Extraction)</vt:lpstr>
      <vt:lpstr>Rút trích thông tin &amp; Phân tích ý kiến (SA)</vt:lpstr>
      <vt:lpstr>Dịch máy (dịch tự động, machine translation)</vt:lpstr>
      <vt:lpstr>Công nghệ xử lý ngôn ngữ (language technology)</vt:lpstr>
      <vt:lpstr>Sự nhập nhằng làm cho XLNNTN khó</vt:lpstr>
      <vt:lpstr>Những thứ khác làm cho XLNNTN khó?</vt:lpstr>
      <vt:lpstr>Để đóng góp vào sự tiến bộ của lĩnh vực này</vt:lpstr>
      <vt:lpstr>Môn học</vt:lpstr>
      <vt:lpstr>Kỹ năng cần có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 Xử lý ngôn ngữ tự nhiên</dc:title>
  <dc:creator>Christopher Manning</dc:creator>
  <cp:lastModifiedBy>Hoàng Quý</cp:lastModifiedBy>
  <cp:revision>3</cp:revision>
  <dcterms:created xsi:type="dcterms:W3CDTF">2010-04-19T15:31:24Z</dcterms:created>
  <dcterms:modified xsi:type="dcterms:W3CDTF">2026-04-29T08:25:45Z</dcterms:modified>
</cp:coreProperties>
</file>