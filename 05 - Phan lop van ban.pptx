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15" r:id="rId1"/>
  </p:sldMasterIdLst>
  <p:notesMasterIdLst>
    <p:notesMasterId r:id="rId87"/>
  </p:notesMasterIdLst>
  <p:handoutMasterIdLst>
    <p:handoutMasterId r:id="rId88"/>
  </p:handoutMasterIdLst>
  <p:sldIdLst>
    <p:sldId id="268" r:id="rId2"/>
    <p:sldId id="386" r:id="rId3"/>
    <p:sldId id="436" r:id="rId4"/>
    <p:sldId id="472" r:id="rId5"/>
    <p:sldId id="545" r:id="rId6"/>
    <p:sldId id="546" r:id="rId7"/>
    <p:sldId id="503" r:id="rId8"/>
    <p:sldId id="561" r:id="rId9"/>
    <p:sldId id="502" r:id="rId10"/>
    <p:sldId id="435" r:id="rId11"/>
    <p:sldId id="387" r:id="rId12"/>
    <p:sldId id="388" r:id="rId13"/>
    <p:sldId id="390" r:id="rId14"/>
    <p:sldId id="439" r:id="rId15"/>
    <p:sldId id="391" r:id="rId16"/>
    <p:sldId id="514" r:id="rId17"/>
    <p:sldId id="515" r:id="rId18"/>
    <p:sldId id="392" r:id="rId19"/>
    <p:sldId id="544" r:id="rId20"/>
    <p:sldId id="447" r:id="rId21"/>
    <p:sldId id="516" r:id="rId22"/>
    <p:sldId id="517" r:id="rId23"/>
    <p:sldId id="400" r:id="rId24"/>
    <p:sldId id="450" r:id="rId25"/>
    <p:sldId id="451" r:id="rId26"/>
    <p:sldId id="453" r:id="rId27"/>
    <p:sldId id="454" r:id="rId28"/>
    <p:sldId id="455" r:id="rId29"/>
    <p:sldId id="456" r:id="rId30"/>
    <p:sldId id="547" r:id="rId31"/>
    <p:sldId id="548" r:id="rId32"/>
    <p:sldId id="518" r:id="rId33"/>
    <p:sldId id="519" r:id="rId34"/>
    <p:sldId id="458" r:id="rId35"/>
    <p:sldId id="477" r:id="rId36"/>
    <p:sldId id="459" r:id="rId37"/>
    <p:sldId id="409" r:id="rId38"/>
    <p:sldId id="549" r:id="rId39"/>
    <p:sldId id="550" r:id="rId40"/>
    <p:sldId id="410" r:id="rId41"/>
    <p:sldId id="520" r:id="rId42"/>
    <p:sldId id="523" r:id="rId43"/>
    <p:sldId id="552" r:id="rId44"/>
    <p:sldId id="553" r:id="rId45"/>
    <p:sldId id="474" r:id="rId46"/>
    <p:sldId id="580" r:id="rId47"/>
    <p:sldId id="581" r:id="rId48"/>
    <p:sldId id="554" r:id="rId49"/>
    <p:sldId id="551" r:id="rId50"/>
    <p:sldId id="560" r:id="rId51"/>
    <p:sldId id="555" r:id="rId52"/>
    <p:sldId id="573" r:id="rId53"/>
    <p:sldId id="572" r:id="rId54"/>
    <p:sldId id="556" r:id="rId55"/>
    <p:sldId id="443" r:id="rId56"/>
    <p:sldId id="558" r:id="rId57"/>
    <p:sldId id="562" r:id="rId58"/>
    <p:sldId id="445" r:id="rId59"/>
    <p:sldId id="487" r:id="rId60"/>
    <p:sldId id="563" r:id="rId61"/>
    <p:sldId id="484" r:id="rId62"/>
    <p:sldId id="564" r:id="rId63"/>
    <p:sldId id="485" r:id="rId64"/>
    <p:sldId id="574" r:id="rId65"/>
    <p:sldId id="521" r:id="rId66"/>
    <p:sldId id="489" r:id="rId67"/>
    <p:sldId id="473" r:id="rId68"/>
    <p:sldId id="461" r:id="rId69"/>
    <p:sldId id="460" r:id="rId70"/>
    <p:sldId id="522" r:id="rId71"/>
    <p:sldId id="537" r:id="rId72"/>
    <p:sldId id="566" r:id="rId73"/>
    <p:sldId id="538" r:id="rId74"/>
    <p:sldId id="567" r:id="rId75"/>
    <p:sldId id="568" r:id="rId76"/>
    <p:sldId id="569" r:id="rId77"/>
    <p:sldId id="570" r:id="rId78"/>
    <p:sldId id="540" r:id="rId79"/>
    <p:sldId id="579" r:id="rId80"/>
    <p:sldId id="542" r:id="rId81"/>
    <p:sldId id="541" r:id="rId82"/>
    <p:sldId id="527" r:id="rId83"/>
    <p:sldId id="576" r:id="rId84"/>
    <p:sldId id="577" r:id="rId85"/>
    <p:sldId id="578" r:id="rId86"/>
  </p:sldIdLst>
  <p:sldSz cx="9144000" cy="5143500" type="screen16x9"/>
  <p:notesSz cx="6845300" cy="93964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D3"/>
    <a:srgbClr val="FFCC66"/>
    <a:srgbClr val="A4001D"/>
    <a:srgbClr val="A40508"/>
    <a:srgbClr val="A5002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41" autoAdjust="0"/>
    <p:restoredTop sz="86973" autoAdjust="0"/>
  </p:normalViewPr>
  <p:slideViewPr>
    <p:cSldViewPr>
      <p:cViewPr varScale="1">
        <p:scale>
          <a:sx n="97" d="100"/>
          <a:sy n="97" d="100"/>
        </p:scale>
        <p:origin x="1008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-2224" y="-112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handoutMaster" Target="handoutMasters/handout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image" Target="../media/image23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9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fld id="{8A029216-D615-3945-A1F3-D96FC886DA6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263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513" y="704850"/>
            <a:ext cx="6264275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EB9031F-EB71-7642-8F3C-6FDC1408CB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73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352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C00000"/>
                </a:solidFill>
              </a:rPr>
              <a:t>Pathetic = </a:t>
            </a:r>
            <a:r>
              <a:rPr lang="en-US" b="1" i="1" dirty="0" err="1">
                <a:solidFill>
                  <a:srgbClr val="C00000"/>
                </a:solidFill>
              </a:rPr>
              <a:t>thảm</a:t>
            </a:r>
            <a:r>
              <a:rPr lang="en-US" b="1" i="1" dirty="0">
                <a:solidFill>
                  <a:srgbClr val="C00000"/>
                </a:solidFill>
              </a:rPr>
              <a:t> </a:t>
            </a:r>
            <a:r>
              <a:rPr lang="en-US" b="1" i="1" dirty="0" err="1">
                <a:solidFill>
                  <a:srgbClr val="C00000"/>
                </a:solidFill>
              </a:rPr>
              <a:t>hại</a:t>
            </a:r>
            <a:endParaRPr lang="en-US" b="1" i="1" dirty="0">
              <a:solidFill>
                <a:srgbClr val="C00000"/>
              </a:solidFill>
            </a:endParaRPr>
          </a:p>
          <a:p>
            <a:r>
              <a:rPr lang="en-US" b="1" i="1" dirty="0">
                <a:solidFill>
                  <a:srgbClr val="C00000"/>
                </a:solidFill>
              </a:rPr>
              <a:t>Ridiculously = that </a:t>
            </a:r>
            <a:r>
              <a:rPr lang="en-US" b="1" i="1" dirty="0" err="1">
                <a:solidFill>
                  <a:srgbClr val="C00000"/>
                </a:solidFill>
              </a:rPr>
              <a:t>nực</a:t>
            </a:r>
            <a:r>
              <a:rPr lang="en-US" b="1" i="1" dirty="0">
                <a:solidFill>
                  <a:srgbClr val="C00000"/>
                </a:solidFill>
              </a:rPr>
              <a:t> </a:t>
            </a:r>
            <a:r>
              <a:rPr lang="en-US" b="1" i="1" dirty="0" err="1">
                <a:solidFill>
                  <a:srgbClr val="C00000"/>
                </a:solidFill>
              </a:rPr>
              <a:t>cười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16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E6D798-0D31-0647-AB71-9E94307BC9C4}" type="slidenum">
              <a:rPr lang="en-US"/>
              <a:pPr/>
              <a:t>13</a:t>
            </a:fld>
            <a:endParaRPr 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898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41FE78-3ECD-CD47-AF85-D701825482C7}" type="slidenum">
              <a:rPr lang="en-US"/>
              <a:pPr/>
              <a:t>15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1512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16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190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17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417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21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0364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22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0689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32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134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33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8657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41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702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42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7335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643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52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9975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53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352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64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1725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65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5345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70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3058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4073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846" indent="-28571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2840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599975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111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247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383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8519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5655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384C32A9-5A2D-B045-843B-D06D034130F2}" type="slidenum">
              <a:rPr lang="en-US" sz="1200"/>
              <a:pPr eaLnBrk="1" hangingPunct="1"/>
              <a:t>73</a:t>
            </a:fld>
            <a:endParaRPr lang="en-US" sz="1200" dirty="0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8462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846" indent="-28571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2840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599975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111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247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383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8519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5655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CE933F43-4F06-6E4C-A88E-635F26D155D2}" type="slidenum">
              <a:rPr lang="en-US" sz="1200"/>
              <a:pPr eaLnBrk="1" hangingPunct="1"/>
              <a:t>78</a:t>
            </a:fld>
            <a:endParaRPr lang="en-US" sz="1200" dirty="0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0961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9527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82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714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6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 rot="16200000">
            <a:off x="-2549264" y="2474314"/>
            <a:ext cx="5143502" cy="1948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 userDrawn="1"/>
        </p:nvSpPr>
        <p:spPr>
          <a:xfrm rot="16200000" flipV="1">
            <a:off x="-2442604" y="2560132"/>
            <a:ext cx="5143502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34995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19702"/>
            <a:ext cx="7543800" cy="68039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200150"/>
            <a:ext cx="7543801" cy="3429000"/>
          </a:xfrm>
        </p:spPr>
        <p:txBody>
          <a:bodyPr/>
          <a:lstStyle>
            <a:lvl1pPr marL="7938" indent="-7938">
              <a:buNone/>
              <a:tabLst/>
              <a:defRPr sz="2800" baseline="0"/>
            </a:lvl1pPr>
            <a:lvl2pPr marL="404813" indent="-254000">
              <a:tabLst/>
              <a:defRPr sz="2400" baseline="0"/>
            </a:lvl2pPr>
            <a:lvl3pPr marL="515938" indent="-228600">
              <a:tabLst/>
              <a:defRPr sz="2000" baseline="0"/>
            </a:lvl3pPr>
            <a:lvl4pPr marL="690563" indent="-265113">
              <a:tabLst/>
              <a:defRPr sz="1600" baseline="0"/>
            </a:lvl4pPr>
            <a:lvl5pPr marL="801688" indent="-239713">
              <a:tabLst/>
              <a:defRPr sz="1400" baseline="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40" y="5029201"/>
            <a:ext cx="3617103" cy="89483"/>
          </a:xfrm>
        </p:spPr>
        <p:txBody>
          <a:bodyPr/>
          <a:lstStyle>
            <a:lvl1pPr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Slides adapted from Jure </a:t>
            </a:r>
            <a:r>
              <a:rPr lang="en-US" dirty="0" err="1"/>
              <a:t>Leskovec</a:t>
            </a:r>
            <a:endParaRPr lang="en-US" sz="525" dirty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980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 rot="16200000">
            <a:off x="-2556759" y="2481809"/>
            <a:ext cx="5143502" cy="1798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 userDrawn="1"/>
        </p:nvSpPr>
        <p:spPr>
          <a:xfrm rot="16200000" flipV="1">
            <a:off x="-2472584" y="2548889"/>
            <a:ext cx="5143502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2616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3"/>
            <a:ext cx="3703320" cy="3017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12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465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465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183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6041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9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8" y="548640"/>
            <a:ext cx="5009393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5" y="4844840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240CDC23-E565-C848-9AF6-12BD09C53D9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40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63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CDC23-E565-C848-9AF6-12BD09C53D91}" type="datetimeFigureOut">
              <a:rPr lang="en-US" smtClean="0"/>
              <a:t>5/20/2026</a:t>
            </a:fld>
            <a:r>
              <a:rPr lang="en-US" dirty="0" err="1"/>
              <a:t>sss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Slides adapted from Jure </a:t>
            </a:r>
            <a:r>
              <a:rPr lang="en-US" dirty="0" err="1"/>
              <a:t>Leskovec</a:t>
            </a:r>
            <a:endParaRPr lang="en-US" sz="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8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0" y="510778"/>
            <a:ext cx="3890964" cy="1298972"/>
          </a:xfrm>
        </p:spPr>
        <p:txBody>
          <a:bodyPr/>
          <a:lstStyle>
            <a:lvl1pPr algn="ctr">
              <a:defRPr sz="2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0" y="2876550"/>
            <a:ext cx="3886200" cy="1676400"/>
          </a:xfrm>
        </p:spPr>
        <p:txBody>
          <a:bodyPr/>
          <a:lstStyle>
            <a:lvl1pPr marL="0" indent="0" algn="ctr">
              <a:spcBef>
                <a:spcPts val="675"/>
              </a:spcBef>
              <a:buFont typeface="Times" pitchFamily="-65" charset="0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239000" y="4705350"/>
            <a:ext cx="12192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334000" y="4705350"/>
            <a:ext cx="19050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0" y="4705350"/>
            <a:ext cx="765174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4C7FEE-6B48-4643-BCFB-F13B0E13E171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33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733550"/>
            <a:ext cx="4040188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6" y="125372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6" y="1733550"/>
            <a:ext cx="4041775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2484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965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3057525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3D734-B240-FB4D-AF6E-6869FD66910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7255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28E5E2-1321-4548-96C8-615581C5A8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09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733550"/>
            <a:ext cx="4040188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6" y="125372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6" y="1733550"/>
            <a:ext cx="4041775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2484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890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3057525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3D734-B240-FB4D-AF6E-6869FD66910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3701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733550"/>
            <a:ext cx="4040188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6" y="125372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6" y="1733550"/>
            <a:ext cx="4041775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2484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2758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3057525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3D734-B240-FB4D-AF6E-6869FD66910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300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16200000">
            <a:off x="-2518606" y="2473636"/>
            <a:ext cx="5143502" cy="1962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 rot="16200000" flipV="1">
            <a:off x="-2442604" y="2560132"/>
            <a:ext cx="5143502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384301"/>
            <a:ext cx="7543801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2" y="4844840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240CDC23-E565-C848-9AF6-12BD09C53D9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40" y="4844840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5" y="4844840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D07771B2-D7F7-364E-B6F3-F7FE93606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294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02" r:id="rId15"/>
    <p:sldLayoutId id="2147483709" r:id="rId16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0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5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6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5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9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9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4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1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1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4.e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3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5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8.e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3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3.emf"/><Relationship Id="rId9" Type="http://schemas.openxmlformats.org/officeDocument/2006/relationships/oleObject" Target="../embeddings/oleObject30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8.e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29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36.e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pitt.edu/mpqa/subj_lexicon.html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jh.harvard.edu/~inquirer/homecat.htm" TargetMode="External"/><Relationship Id="rId2" Type="http://schemas.openxmlformats.org/officeDocument/2006/relationships/hyperlink" Target="http://www.wjh.harvard.edu/~inquire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wjh.harvard.edu/~inquirer/inquirerbasic.xls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ic.edu/~liub/FBS/opinion-lexicon-English.rar" TargetMode="External"/><Relationship Id="rId2" Type="http://schemas.openxmlformats.org/officeDocument/2006/relationships/hyperlink" Target="http://www.cs.uic.edu/~liub/FBS/sentiment-analysis.html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hyperlink" Target="http://spamassassin.apache.org/tests_3_3_x.html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emf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>
          <a:xfrm>
            <a:off x="152400" y="445769"/>
            <a:ext cx="2590800" cy="1714500"/>
          </a:xfrm>
        </p:spPr>
        <p:txBody>
          <a:bodyPr>
            <a:noAutofit/>
          </a:bodyPr>
          <a:lstStyle/>
          <a:p>
            <a:r>
              <a:rPr lang="en-US" sz="3400" dirty="0"/>
              <a:t>Naive Bayes and </a:t>
            </a:r>
            <a:r>
              <a:rPr lang="en-US" sz="3400" dirty="0" err="1"/>
              <a:t>Phân</a:t>
            </a:r>
            <a:r>
              <a:rPr lang="en-US" sz="3400" dirty="0"/>
              <a:t> </a:t>
            </a:r>
            <a:r>
              <a:rPr lang="en-US" sz="3400" dirty="0" err="1"/>
              <a:t>loại</a:t>
            </a:r>
            <a:r>
              <a:rPr lang="en-US" sz="3400" dirty="0"/>
              <a:t> </a:t>
            </a:r>
            <a:r>
              <a:rPr lang="en-US" sz="3400" dirty="0" err="1"/>
              <a:t>cảm</a:t>
            </a:r>
            <a:r>
              <a:rPr lang="en-US" sz="3400" dirty="0"/>
              <a:t> </a:t>
            </a:r>
            <a:r>
              <a:rPr lang="en-US" sz="3400" dirty="0" err="1"/>
              <a:t>xúc</a:t>
            </a:r>
            <a:endParaRPr lang="en-US" sz="34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The Task of Text Classification</a:t>
            </a:r>
          </a:p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(</a:t>
            </a:r>
            <a:r>
              <a:rPr lang="en-US" sz="3600" dirty="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Phân</a:t>
            </a: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</a:t>
            </a:r>
            <a:r>
              <a:rPr lang="en-US" sz="3600" dirty="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loại</a:t>
            </a: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</a:t>
            </a:r>
            <a:r>
              <a:rPr lang="en-US" sz="3600" dirty="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văn</a:t>
            </a: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</a:t>
            </a:r>
            <a:r>
              <a:rPr lang="en-US" sz="3600" dirty="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bản</a:t>
            </a: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)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6B286F-326C-E740-A18B-B6F82EA65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spam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?</a:t>
            </a:r>
          </a:p>
        </p:txBody>
      </p:sp>
      <p:pic>
        <p:nvPicPr>
          <p:cNvPr id="5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2000" y="1200150"/>
            <a:ext cx="7871720" cy="3489237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877358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1608" y="-13769"/>
            <a:ext cx="7772400" cy="857250"/>
          </a:xfrm>
        </p:spPr>
        <p:txBody>
          <a:bodyPr>
            <a:normAutofit/>
          </a:bodyPr>
          <a:lstStyle/>
          <a:p>
            <a:r>
              <a:rPr lang="en-US" dirty="0"/>
              <a:t>Ai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Federalist?</a:t>
            </a:r>
          </a:p>
        </p:txBody>
      </p:sp>
      <p:sp>
        <p:nvSpPr>
          <p:cNvPr id="1359875" name="Rectangle 3"/>
          <p:cNvSpPr>
            <a:spLocks noGrp="1" noChangeArrowheads="1"/>
          </p:cNvSpPr>
          <p:nvPr>
            <p:ph idx="1"/>
          </p:nvPr>
        </p:nvSpPr>
        <p:spPr>
          <a:xfrm>
            <a:off x="464593" y="971550"/>
            <a:ext cx="7162800" cy="2819400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 dirty="0"/>
              <a:t>1787-8: anonymous essays try to convince New York to ratify U.S Constitution:  Jay, Madison, Hamilton.  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 dirty="0"/>
              <a:t>Authorship of 12 of the letters in dispute</a:t>
            </a: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en-US" dirty="0"/>
              <a:t>1963: solved by </a:t>
            </a:r>
            <a:r>
              <a:rPr lang="en-US" dirty="0" err="1"/>
              <a:t>Mosteller</a:t>
            </a:r>
            <a:r>
              <a:rPr lang="en-US" dirty="0"/>
              <a:t> and Wallace using Bayesian methods</a:t>
            </a:r>
          </a:p>
        </p:txBody>
      </p:sp>
      <p:pic>
        <p:nvPicPr>
          <p:cNvPr id="12" name="Picture 11" descr="370px-Federali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047750"/>
            <a:ext cx="1270000" cy="2059459"/>
          </a:xfrm>
          <a:prstGeom prst="rect">
            <a:avLst/>
          </a:prstGeom>
        </p:spPr>
      </p:pic>
      <p:pic>
        <p:nvPicPr>
          <p:cNvPr id="2" name="Picture 1" descr="220px-James_Madison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93" y="3714750"/>
            <a:ext cx="907007" cy="1104900"/>
          </a:xfrm>
          <a:prstGeom prst="rect">
            <a:avLst/>
          </a:prstGeom>
        </p:spPr>
      </p:pic>
      <p:pic>
        <p:nvPicPr>
          <p:cNvPr id="3" name="Picture 2" descr="220px-Alexander_Hamilton_portrait_by_John_Trumbull_1806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3718" y="3657600"/>
            <a:ext cx="947391" cy="1123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4774168"/>
            <a:ext cx="1626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+mn-lt"/>
              </a:rPr>
              <a:t>James Madison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4400" y="4793218"/>
            <a:ext cx="20517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+mn-lt"/>
              </a:rPr>
              <a:t>Alexander Hamilton</a:t>
            </a:r>
          </a:p>
        </p:txBody>
      </p:sp>
    </p:spTree>
    <p:extLst>
      <p:ext uri="{BB962C8B-B14F-4D97-AF65-F5344CB8AC3E}">
        <p14:creationId xmlns:p14="http://schemas.microsoft.com/office/powerpoint/2010/main" val="1610093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ight Arrow 7"/>
          <p:cNvSpPr/>
          <p:nvPr/>
        </p:nvSpPr>
        <p:spPr bwMode="auto">
          <a:xfrm>
            <a:off x="3124200" y="2571750"/>
            <a:ext cx="1219200" cy="1066800"/>
          </a:xfrm>
          <a:prstGeom prst="rightArrow">
            <a:avLst/>
          </a:prstGeom>
          <a:solidFill>
            <a:schemeClr val="bg2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0"/>
            <a:ext cx="8077200" cy="895350"/>
          </a:xfrm>
        </p:spPr>
        <p:txBody>
          <a:bodyPr>
            <a:normAutofit/>
          </a:bodyPr>
          <a:lstStyle/>
          <a:p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y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0" y="1752600"/>
            <a:ext cx="3810000" cy="3333750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Antogonists</a:t>
            </a:r>
            <a:r>
              <a:rPr lang="en-US" dirty="0"/>
              <a:t> and Inhibitors</a:t>
            </a:r>
          </a:p>
          <a:p>
            <a:r>
              <a:rPr lang="en-US" dirty="0"/>
              <a:t>Blood Supply</a:t>
            </a:r>
          </a:p>
          <a:p>
            <a:r>
              <a:rPr lang="en-US" dirty="0"/>
              <a:t>Chemistry</a:t>
            </a:r>
          </a:p>
          <a:p>
            <a:r>
              <a:rPr lang="en-US" dirty="0"/>
              <a:t>Drug Therapy</a:t>
            </a:r>
          </a:p>
          <a:p>
            <a:r>
              <a:rPr lang="en-US" dirty="0"/>
              <a:t>Embryology</a:t>
            </a:r>
          </a:p>
          <a:p>
            <a:r>
              <a:rPr lang="en-US" dirty="0"/>
              <a:t>Epidemiology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945141" y="1276350"/>
            <a:ext cx="5198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latin typeface="+mn-lt"/>
              </a:rPr>
              <a:t>MeSH</a:t>
            </a:r>
            <a:r>
              <a:rPr lang="en-US" sz="2800" b="1" dirty="0">
                <a:latin typeface="+mn-lt"/>
              </a:rPr>
              <a:t> Subject Category Hierarchy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1" y="2724150"/>
            <a:ext cx="53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n-lt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352550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Lucida Sans" pitchFamily="-65" charset="0"/>
              </a:rPr>
              <a:t>MEDLINE Article</a:t>
            </a:r>
          </a:p>
          <a:p>
            <a:endParaRPr lang="en-US" sz="1800" dirty="0">
              <a:latin typeface="+mn-lt"/>
            </a:endParaRPr>
          </a:p>
        </p:txBody>
      </p:sp>
      <p:pic>
        <p:nvPicPr>
          <p:cNvPr id="10" name="Picture 9" descr="medline.tif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809750"/>
            <a:ext cx="2009622" cy="26733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64972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uiExpand="1" build="p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839200" cy="51435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phim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(pos) hay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(neg)?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52550"/>
            <a:ext cx="7924800" cy="3333750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i="1" dirty="0"/>
              <a:t>...zany characters and richly applied satire, and some great plot twists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i="1" dirty="0"/>
              <a:t>It was pathetic. The worst part about it was the boxing scenes...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i="1" dirty="0"/>
              <a:t>...awesome caramel sauce and sweet toasty almonds. I love this place!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i="1" dirty="0"/>
              <a:t>...awful pizza and ridiculously overpriced...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A21FEF-D069-544F-8971-30FD3196355F}"/>
              </a:ext>
            </a:extLst>
          </p:cNvPr>
          <p:cNvSpPr txBox="1"/>
          <p:nvPr/>
        </p:nvSpPr>
        <p:spPr>
          <a:xfrm>
            <a:off x="359655" y="1352550"/>
            <a:ext cx="3770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20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27A2AB-BD3D-A545-ABF9-7654F5B1B352}"/>
              </a:ext>
            </a:extLst>
          </p:cNvPr>
          <p:cNvSpPr txBox="1"/>
          <p:nvPr/>
        </p:nvSpPr>
        <p:spPr>
          <a:xfrm>
            <a:off x="382898" y="3248620"/>
            <a:ext cx="3305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0020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CBCC4B-B5BD-444F-9AC4-8A4BD510F700}"/>
              </a:ext>
            </a:extLst>
          </p:cNvPr>
          <p:cNvSpPr txBox="1"/>
          <p:nvPr/>
        </p:nvSpPr>
        <p:spPr>
          <a:xfrm>
            <a:off x="382898" y="2260807"/>
            <a:ext cx="3305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0020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6F6B93-8A62-9F42-A21B-2CAF0DE37CFC}"/>
              </a:ext>
            </a:extLst>
          </p:cNvPr>
          <p:cNvSpPr txBox="1"/>
          <p:nvPr/>
        </p:nvSpPr>
        <p:spPr>
          <a:xfrm>
            <a:off x="382898" y="4075152"/>
            <a:ext cx="3305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0020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 </a:t>
            </a:r>
          </a:p>
        </p:txBody>
      </p:sp>
    </p:spTree>
    <p:extLst>
      <p:ext uri="{BB962C8B-B14F-4D97-AF65-F5344CB8AC3E}">
        <p14:creationId xmlns:p14="http://schemas.microsoft.com/office/powerpoint/2010/main" val="3169109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763000" cy="51435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phim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(pos) hay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(neg)?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52550"/>
            <a:ext cx="7924800" cy="3333750"/>
          </a:xfrm>
        </p:spPr>
        <p:txBody>
          <a:bodyPr>
            <a:normAutofit fontScale="92500" lnSpcReduction="1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i="1" dirty="0"/>
              <a:t>...zany characters and </a:t>
            </a:r>
            <a:r>
              <a:rPr lang="en-US" b="1" i="1" dirty="0">
                <a:solidFill>
                  <a:srgbClr val="0020D3"/>
                </a:solidFill>
              </a:rPr>
              <a:t>richly</a:t>
            </a:r>
            <a:r>
              <a:rPr lang="en-US" i="1" dirty="0"/>
              <a:t> applied satire, and some </a:t>
            </a:r>
            <a:r>
              <a:rPr lang="en-US" b="1" i="1" dirty="0">
                <a:solidFill>
                  <a:srgbClr val="0020D3"/>
                </a:solidFill>
              </a:rPr>
              <a:t>great</a:t>
            </a:r>
            <a:r>
              <a:rPr lang="en-US" i="1" dirty="0"/>
              <a:t> plot twists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i="1" dirty="0"/>
              <a:t>It was </a:t>
            </a:r>
            <a:r>
              <a:rPr lang="en-US" b="1" i="1" dirty="0">
                <a:solidFill>
                  <a:srgbClr val="C00000"/>
                </a:solidFill>
              </a:rPr>
              <a:t>pathetic</a:t>
            </a:r>
            <a:r>
              <a:rPr lang="en-US" i="1" dirty="0"/>
              <a:t>. The </a:t>
            </a:r>
            <a:r>
              <a:rPr lang="en-US" b="1" i="1" dirty="0">
                <a:solidFill>
                  <a:srgbClr val="C00000"/>
                </a:solidFill>
              </a:rPr>
              <a:t>worst</a:t>
            </a:r>
            <a:r>
              <a:rPr lang="en-US" i="1" dirty="0"/>
              <a:t> part about it was the boxing scenes...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i="1" dirty="0"/>
              <a:t>...</a:t>
            </a:r>
            <a:r>
              <a:rPr lang="en-US" b="1" i="1" dirty="0">
                <a:solidFill>
                  <a:srgbClr val="0020D3"/>
                </a:solidFill>
              </a:rPr>
              <a:t>awesome</a:t>
            </a:r>
            <a:r>
              <a:rPr lang="en-US" i="1" dirty="0"/>
              <a:t> caramel sauce and sweet toasty almonds. I </a:t>
            </a:r>
            <a:r>
              <a:rPr lang="en-US" b="1" i="1" dirty="0">
                <a:solidFill>
                  <a:srgbClr val="0020D3"/>
                </a:solidFill>
              </a:rPr>
              <a:t>love</a:t>
            </a:r>
            <a:r>
              <a:rPr lang="en-US" i="1" dirty="0"/>
              <a:t> this place!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i="1" dirty="0"/>
              <a:t>...</a:t>
            </a:r>
            <a:r>
              <a:rPr lang="en-US" b="1" i="1" dirty="0">
                <a:solidFill>
                  <a:srgbClr val="C00000"/>
                </a:solidFill>
              </a:rPr>
              <a:t>awful</a:t>
            </a:r>
            <a:r>
              <a:rPr lang="en-US" i="1" dirty="0"/>
              <a:t> pizza and </a:t>
            </a:r>
            <a:r>
              <a:rPr lang="en-US" b="1" i="1" dirty="0">
                <a:solidFill>
                  <a:srgbClr val="C00000"/>
                </a:solidFill>
              </a:rPr>
              <a:t>ridiculously</a:t>
            </a:r>
            <a:r>
              <a:rPr lang="en-US" i="1" dirty="0"/>
              <a:t> overpriced...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A21FEF-D069-544F-8971-30FD3196355F}"/>
              </a:ext>
            </a:extLst>
          </p:cNvPr>
          <p:cNvSpPr txBox="1"/>
          <p:nvPr/>
        </p:nvSpPr>
        <p:spPr>
          <a:xfrm>
            <a:off x="359655" y="1352550"/>
            <a:ext cx="3770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0020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27A2AB-BD3D-A545-ABF9-7654F5B1B352}"/>
              </a:ext>
            </a:extLst>
          </p:cNvPr>
          <p:cNvSpPr txBox="1"/>
          <p:nvPr/>
        </p:nvSpPr>
        <p:spPr>
          <a:xfrm>
            <a:off x="382898" y="3248620"/>
            <a:ext cx="3305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0020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CBCC4B-B5BD-444F-9AC4-8A4BD510F700}"/>
              </a:ext>
            </a:extLst>
          </p:cNvPr>
          <p:cNvSpPr txBox="1"/>
          <p:nvPr/>
        </p:nvSpPr>
        <p:spPr>
          <a:xfrm>
            <a:off x="382898" y="2260807"/>
            <a:ext cx="3305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0020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6F6B93-8A62-9F42-A21B-2CAF0DE37CFC}"/>
              </a:ext>
            </a:extLst>
          </p:cNvPr>
          <p:cNvSpPr txBox="1"/>
          <p:nvPr/>
        </p:nvSpPr>
        <p:spPr>
          <a:xfrm>
            <a:off x="382898" y="4075152"/>
            <a:ext cx="3305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0020D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− </a:t>
            </a:r>
          </a:p>
        </p:txBody>
      </p:sp>
    </p:spTree>
    <p:extLst>
      <p:ext uri="{BB962C8B-B14F-4D97-AF65-F5344CB8AC3E}">
        <p14:creationId xmlns:p14="http://schemas.microsoft.com/office/powerpoint/2010/main" val="195283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19702"/>
            <a:ext cx="8763000" cy="68039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nghiên</a:t>
            </a:r>
            <a:r>
              <a:rPr lang="en-US" dirty="0"/>
              <a:t>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sentiment analysis?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52550"/>
            <a:ext cx="8915400" cy="3333750"/>
          </a:xfrm>
        </p:spPr>
        <p:txBody>
          <a:bodyPr/>
          <a:lstStyle/>
          <a:p>
            <a:r>
              <a:rPr lang="en-US" sz="2700" i="1" dirty="0">
                <a:cs typeface="ＭＳ Ｐゴシック" pitchFamily="-65" charset="-128"/>
              </a:rPr>
              <a:t>Movie</a:t>
            </a:r>
            <a:r>
              <a:rPr lang="en-US" sz="2700" dirty="0">
                <a:cs typeface="ＭＳ Ｐゴシック" pitchFamily="-65" charset="-128"/>
              </a:rPr>
              <a:t>:  is this review positive or negative?</a:t>
            </a:r>
          </a:p>
          <a:p>
            <a:r>
              <a:rPr lang="en-US" sz="2700" i="1" dirty="0">
                <a:cs typeface="ＭＳ Ｐゴシック" pitchFamily="-65" charset="-128"/>
              </a:rPr>
              <a:t>Products</a:t>
            </a:r>
            <a:r>
              <a:rPr lang="en-US" sz="2700" dirty="0">
                <a:cs typeface="ＭＳ Ｐゴシック" pitchFamily="-65" charset="-128"/>
              </a:rPr>
              <a:t>: what do people think about the new iPhone?</a:t>
            </a:r>
          </a:p>
          <a:p>
            <a:r>
              <a:rPr lang="en-US" sz="2700" i="1" dirty="0">
                <a:cs typeface="ＭＳ Ｐゴシック" pitchFamily="-65" charset="-128"/>
              </a:rPr>
              <a:t>Public sentiment</a:t>
            </a:r>
            <a:r>
              <a:rPr lang="en-US" sz="2700" dirty="0">
                <a:cs typeface="ＭＳ Ｐゴシック" pitchFamily="-65" charset="-128"/>
              </a:rPr>
              <a:t>: how is consumer confidence? </a:t>
            </a:r>
          </a:p>
          <a:p>
            <a:r>
              <a:rPr lang="en-US" sz="2700" i="1" dirty="0">
                <a:cs typeface="ＭＳ Ｐゴシック" pitchFamily="-65" charset="-128"/>
              </a:rPr>
              <a:t>Politics</a:t>
            </a:r>
            <a:r>
              <a:rPr lang="en-US" sz="2700" dirty="0">
                <a:cs typeface="ＭＳ Ｐゴシック" pitchFamily="-65" charset="-128"/>
              </a:rPr>
              <a:t>: what do people think about this candidate or issue?</a:t>
            </a:r>
          </a:p>
          <a:p>
            <a:r>
              <a:rPr lang="en-US" sz="2700" i="1" dirty="0">
                <a:cs typeface="ＭＳ Ｐゴシック" pitchFamily="-65" charset="-128"/>
              </a:rPr>
              <a:t>Prediction</a:t>
            </a:r>
            <a:r>
              <a:rPr lang="en-US" sz="2700" dirty="0">
                <a:cs typeface="ＭＳ Ｐゴシック" pitchFamily="-65" charset="-128"/>
              </a:rPr>
              <a:t>: predict election outcomes or market trends from sentiment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11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09550"/>
            <a:ext cx="8610600" cy="85725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tình</a:t>
            </a:r>
            <a:r>
              <a:rPr lang="en-US" dirty="0"/>
              <a:t> </a:t>
            </a:r>
            <a:r>
              <a:rPr lang="en-US" dirty="0" err="1"/>
              <a:t>cảm</a:t>
            </a:r>
            <a:r>
              <a:rPr lang="en-US" dirty="0"/>
              <a:t> (</a:t>
            </a:r>
            <a:r>
              <a:rPr lang="en-US" b="1" dirty="0"/>
              <a:t>affective states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55746"/>
            <a:ext cx="8763000" cy="3886200"/>
          </a:xfrm>
        </p:spPr>
        <p:txBody>
          <a:bodyPr>
            <a:normAutofit lnSpcReduction="10000"/>
          </a:bodyPr>
          <a:lstStyle/>
          <a:p>
            <a:r>
              <a:rPr lang="en-US" sz="1800" b="1" dirty="0"/>
              <a:t>Emotion</a:t>
            </a:r>
            <a:r>
              <a:rPr lang="en-US" sz="1800" dirty="0"/>
              <a:t>: brief organically synchronized … evaluation of a major event </a:t>
            </a:r>
          </a:p>
          <a:p>
            <a:pPr lvl="1"/>
            <a:r>
              <a:rPr lang="en-US" sz="1800" i="1" dirty="0"/>
              <a:t>angry (</a:t>
            </a:r>
            <a:r>
              <a:rPr lang="en-US" sz="1800" i="1" dirty="0" err="1"/>
              <a:t>tức</a:t>
            </a:r>
            <a:r>
              <a:rPr lang="en-US" sz="1800" i="1" dirty="0"/>
              <a:t> </a:t>
            </a:r>
            <a:r>
              <a:rPr lang="en-US" sz="1800" i="1" dirty="0" err="1"/>
              <a:t>giận</a:t>
            </a:r>
            <a:r>
              <a:rPr lang="en-US" sz="1800" i="1" dirty="0"/>
              <a:t>), sad (</a:t>
            </a:r>
            <a:r>
              <a:rPr lang="en-US" sz="1800" i="1" dirty="0" err="1"/>
              <a:t>buồn</a:t>
            </a:r>
            <a:r>
              <a:rPr lang="en-US" sz="1800" i="1" dirty="0"/>
              <a:t>), joyful (</a:t>
            </a:r>
            <a:r>
              <a:rPr lang="en-US" sz="1800" i="1" dirty="0" err="1"/>
              <a:t>vui</a:t>
            </a:r>
            <a:r>
              <a:rPr lang="en-US" sz="1800" i="1" dirty="0"/>
              <a:t> </a:t>
            </a:r>
            <a:r>
              <a:rPr lang="en-US" sz="1800" i="1" dirty="0" err="1"/>
              <a:t>mừng</a:t>
            </a:r>
            <a:r>
              <a:rPr lang="en-US" sz="1800" i="1" dirty="0"/>
              <a:t>), fearful (</a:t>
            </a:r>
            <a:r>
              <a:rPr lang="en-US" sz="1800" i="1" dirty="0" err="1"/>
              <a:t>sợ</a:t>
            </a:r>
            <a:r>
              <a:rPr lang="en-US" sz="1800" i="1" dirty="0"/>
              <a:t> </a:t>
            </a:r>
            <a:r>
              <a:rPr lang="en-US" sz="1800" i="1" dirty="0" err="1"/>
              <a:t>hãi</a:t>
            </a:r>
            <a:r>
              <a:rPr lang="en-US" sz="1800" i="1" dirty="0"/>
              <a:t>), ashamed (</a:t>
            </a:r>
            <a:r>
              <a:rPr lang="en-US" sz="1800" i="1" dirty="0" err="1"/>
              <a:t>xấu</a:t>
            </a:r>
            <a:r>
              <a:rPr lang="en-US" sz="1800" i="1" dirty="0"/>
              <a:t> </a:t>
            </a:r>
            <a:r>
              <a:rPr lang="en-US" sz="1800" i="1" dirty="0" err="1"/>
              <a:t>hổ</a:t>
            </a:r>
            <a:r>
              <a:rPr lang="en-US" sz="1800" i="1" dirty="0"/>
              <a:t>), </a:t>
            </a:r>
            <a:r>
              <a:rPr lang="en-US" sz="1800" i="1" dirty="0" err="1"/>
              <a:t>pround</a:t>
            </a:r>
            <a:r>
              <a:rPr lang="en-US" sz="1800" i="1" dirty="0"/>
              <a:t> (</a:t>
            </a:r>
            <a:r>
              <a:rPr lang="en-US" sz="1800" i="1" dirty="0" err="1"/>
              <a:t>tự</a:t>
            </a:r>
            <a:r>
              <a:rPr lang="en-US" sz="1800" i="1" dirty="0"/>
              <a:t> </a:t>
            </a:r>
            <a:r>
              <a:rPr lang="en-US" sz="1800" i="1" dirty="0" err="1"/>
              <a:t>hào</a:t>
            </a:r>
            <a:r>
              <a:rPr lang="en-US" sz="1800" i="1" dirty="0"/>
              <a:t>), elated (</a:t>
            </a:r>
            <a:r>
              <a:rPr lang="en-US" sz="1800" i="1" dirty="0" err="1"/>
              <a:t>phấn</a:t>
            </a:r>
            <a:r>
              <a:rPr lang="en-US" sz="1800" i="1" dirty="0"/>
              <a:t> </a:t>
            </a:r>
            <a:r>
              <a:rPr lang="en-US" sz="1800" i="1" dirty="0" err="1"/>
              <a:t>khởi</a:t>
            </a:r>
            <a:r>
              <a:rPr lang="en-US" sz="1800" i="1" dirty="0"/>
              <a:t>).</a:t>
            </a:r>
            <a:endParaRPr lang="en-US" sz="1800" dirty="0"/>
          </a:p>
          <a:p>
            <a:r>
              <a:rPr lang="en-US" sz="1800" b="1" dirty="0"/>
              <a:t>Mood</a:t>
            </a:r>
            <a:r>
              <a:rPr lang="en-US" sz="1800" dirty="0"/>
              <a:t>: diffuse non-caused low-intensity long-duration change in subjective feeling</a:t>
            </a:r>
          </a:p>
          <a:p>
            <a:pPr lvl="1"/>
            <a:r>
              <a:rPr lang="en-US" sz="1800" i="1" dirty="0"/>
              <a:t>cheerful (</a:t>
            </a:r>
            <a:r>
              <a:rPr lang="en-US" sz="1800" i="1" dirty="0" err="1"/>
              <a:t>vui</a:t>
            </a:r>
            <a:r>
              <a:rPr lang="en-US" sz="1800" i="1" dirty="0"/>
              <a:t> </a:t>
            </a:r>
            <a:r>
              <a:rPr lang="en-US" sz="1800" i="1" dirty="0" err="1"/>
              <a:t>vẻ</a:t>
            </a:r>
            <a:r>
              <a:rPr lang="en-US" sz="1800" i="1" dirty="0"/>
              <a:t>), gloomy (</a:t>
            </a:r>
            <a:r>
              <a:rPr lang="en-US" sz="1800" i="1" dirty="0" err="1"/>
              <a:t>ảm</a:t>
            </a:r>
            <a:r>
              <a:rPr lang="en-US" sz="1800" i="1" dirty="0"/>
              <a:t> </a:t>
            </a:r>
            <a:r>
              <a:rPr lang="en-US" sz="1800" i="1" dirty="0" err="1"/>
              <a:t>đạm</a:t>
            </a:r>
            <a:r>
              <a:rPr lang="en-US" sz="1800" i="1" dirty="0"/>
              <a:t>), irritable (</a:t>
            </a:r>
            <a:r>
              <a:rPr lang="en-US" sz="1800" i="1" dirty="0" err="1"/>
              <a:t>dễ</a:t>
            </a:r>
            <a:r>
              <a:rPr lang="en-US" sz="1800" i="1" dirty="0"/>
              <a:t> </a:t>
            </a:r>
            <a:r>
              <a:rPr lang="en-US" sz="1800" i="1" dirty="0" err="1"/>
              <a:t>nổi</a:t>
            </a:r>
            <a:r>
              <a:rPr lang="en-US" sz="1800" i="1" dirty="0"/>
              <a:t> </a:t>
            </a:r>
            <a:r>
              <a:rPr lang="en-US" sz="1800" i="1" dirty="0" err="1"/>
              <a:t>cáo</a:t>
            </a:r>
            <a:r>
              <a:rPr lang="en-US" sz="1800" i="1" dirty="0"/>
              <a:t>), listless (</a:t>
            </a:r>
            <a:r>
              <a:rPr lang="en-US" sz="1800" i="1" dirty="0" err="1"/>
              <a:t>bơ</a:t>
            </a:r>
            <a:r>
              <a:rPr lang="en-US" sz="1800" i="1" dirty="0"/>
              <a:t> </a:t>
            </a:r>
            <a:r>
              <a:rPr lang="en-US" sz="1800" i="1" dirty="0" err="1"/>
              <a:t>phờ</a:t>
            </a:r>
            <a:r>
              <a:rPr lang="en-US" sz="1800" i="1" dirty="0"/>
              <a:t>), depressed (</a:t>
            </a:r>
            <a:r>
              <a:rPr lang="en-US" sz="1800" i="1" dirty="0" err="1"/>
              <a:t>chán</a:t>
            </a:r>
            <a:r>
              <a:rPr lang="en-US" sz="1800" i="1" dirty="0"/>
              <a:t> </a:t>
            </a:r>
            <a:r>
              <a:rPr lang="en-US" sz="1800" i="1" dirty="0" err="1"/>
              <a:t>nản</a:t>
            </a:r>
            <a:r>
              <a:rPr lang="en-US" sz="1800" i="1" dirty="0"/>
              <a:t>), buoyant (</a:t>
            </a:r>
            <a:r>
              <a:rPr lang="vi-VN" sz="1800" i="1" dirty="0"/>
              <a:t>sôi động)</a:t>
            </a:r>
            <a:endParaRPr lang="en-US" sz="1800" dirty="0"/>
          </a:p>
          <a:p>
            <a:r>
              <a:rPr lang="en-US" sz="1800" b="1" dirty="0"/>
              <a:t>Interpersonal stances</a:t>
            </a:r>
            <a:r>
              <a:rPr lang="en-US" sz="1800" dirty="0"/>
              <a:t>: affective stance toward another person in a specific interaction</a:t>
            </a:r>
          </a:p>
          <a:p>
            <a:pPr lvl="1"/>
            <a:r>
              <a:rPr lang="en-US" sz="1800" i="1" dirty="0"/>
              <a:t>friendly, flirtatious, distant, cold, warm, supportive, contemptuous</a:t>
            </a:r>
          </a:p>
          <a:p>
            <a:r>
              <a:rPr lang="en-US" sz="1800" b="1" dirty="0"/>
              <a:t>Attitudes</a:t>
            </a:r>
            <a:r>
              <a:rPr lang="en-US" sz="1800" dirty="0"/>
              <a:t>: enduring, affectively colored beliefs, dispositions towards objects or persons</a:t>
            </a:r>
          </a:p>
          <a:p>
            <a:pPr lvl="1"/>
            <a:r>
              <a:rPr lang="en-US" sz="1800" i="1" dirty="0"/>
              <a:t> liking, loving, hating, valuing, desiring</a:t>
            </a:r>
            <a:endParaRPr lang="en-US" sz="1800" dirty="0"/>
          </a:p>
          <a:p>
            <a:r>
              <a:rPr lang="en-US" sz="1800" b="1" dirty="0"/>
              <a:t>Personality traits</a:t>
            </a:r>
            <a:r>
              <a:rPr lang="en-US" sz="1800" dirty="0"/>
              <a:t>: stable personality dispositions and typical behavior tendencies</a:t>
            </a:r>
          </a:p>
          <a:p>
            <a:pPr lvl="1"/>
            <a:r>
              <a:rPr lang="en-US" sz="1800" i="1" dirty="0"/>
              <a:t>nervous, anxious, reckless, morose, hostile, jealous</a:t>
            </a:r>
          </a:p>
        </p:txBody>
      </p:sp>
    </p:spTree>
    <p:extLst>
      <p:ext uri="{BB962C8B-B14F-4D97-AF65-F5344CB8AC3E}">
        <p14:creationId xmlns:p14="http://schemas.microsoft.com/office/powerpoint/2010/main" val="2606821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09550"/>
            <a:ext cx="7772400" cy="85725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tình</a:t>
            </a:r>
            <a:r>
              <a:rPr lang="en-US" dirty="0"/>
              <a:t> </a:t>
            </a:r>
            <a:r>
              <a:rPr lang="en-US" dirty="0" err="1"/>
              <a:t>cảm</a:t>
            </a:r>
            <a:r>
              <a:rPr lang="en-US" dirty="0"/>
              <a:t> (</a:t>
            </a:r>
            <a:r>
              <a:rPr lang="en-US" b="1" dirty="0"/>
              <a:t>affective states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55746"/>
            <a:ext cx="8839200" cy="3886200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Emotion</a:t>
            </a:r>
            <a:r>
              <a:rPr 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: brief organically synchronized … evaluation of a major event </a:t>
            </a:r>
          </a:p>
          <a:p>
            <a:pPr lvl="1"/>
            <a:r>
              <a:rPr lang="en-US" sz="18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angry, sad, joyful, fearful, ashamed, proud, elated</a:t>
            </a:r>
            <a:endParaRPr lang="en-US" sz="18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Mood</a:t>
            </a:r>
            <a:r>
              <a:rPr 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: diffuse non-caused low-intensity long-duration change in subjective feeling</a:t>
            </a:r>
          </a:p>
          <a:p>
            <a:pPr lvl="1"/>
            <a:r>
              <a:rPr lang="en-US" sz="18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cheerful, gloomy, irritable, listless, depressed, buoyant</a:t>
            </a:r>
            <a:endParaRPr lang="en-US" sz="18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Interpersonal stances</a:t>
            </a:r>
            <a:r>
              <a:rPr 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: affective stance toward another person in a specific interaction</a:t>
            </a:r>
          </a:p>
          <a:p>
            <a:pPr lvl="1"/>
            <a:r>
              <a:rPr lang="en-US" sz="18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friendly, flirtatious, distant, cold, warm, supportive, contemptuous</a:t>
            </a:r>
          </a:p>
          <a:p>
            <a:r>
              <a:rPr lang="en-US" sz="1800" b="1" dirty="0"/>
              <a:t>Attitudes: enduring, affectively colored beliefs, dispositions towards objects or persons</a:t>
            </a:r>
          </a:p>
          <a:p>
            <a:pPr lvl="1"/>
            <a:r>
              <a:rPr lang="en-US" sz="1800" b="1" i="1" dirty="0"/>
              <a:t> </a:t>
            </a:r>
            <a:r>
              <a:rPr lang="en-US" sz="1800" i="1" dirty="0"/>
              <a:t>liking (</a:t>
            </a:r>
            <a:r>
              <a:rPr lang="en-US" sz="1800" i="1" dirty="0" err="1"/>
              <a:t>thích</a:t>
            </a:r>
            <a:r>
              <a:rPr lang="en-US" sz="1800" i="1" dirty="0"/>
              <a:t>), loving (</a:t>
            </a:r>
            <a:r>
              <a:rPr lang="en-US" sz="1800" i="1" dirty="0" err="1"/>
              <a:t>yêu</a:t>
            </a:r>
            <a:r>
              <a:rPr lang="en-US" sz="1800" i="1" dirty="0"/>
              <a:t>), hating (</a:t>
            </a:r>
            <a:r>
              <a:rPr lang="en-US" sz="1800" i="1" dirty="0" err="1"/>
              <a:t>ghét</a:t>
            </a:r>
            <a:r>
              <a:rPr lang="en-US" sz="1800" i="1" dirty="0"/>
              <a:t>), valuing, desiring (</a:t>
            </a:r>
            <a:r>
              <a:rPr lang="en-US" sz="1800" i="1" dirty="0" err="1"/>
              <a:t>khát</a:t>
            </a:r>
            <a:r>
              <a:rPr lang="en-US" sz="1800" i="1" dirty="0"/>
              <a:t> khao)</a:t>
            </a:r>
          </a:p>
          <a:p>
            <a:r>
              <a:rPr lang="en-US" sz="1800" b="1" dirty="0">
                <a:solidFill>
                  <a:srgbClr val="7CD7CF"/>
                </a:solidFill>
              </a:rPr>
              <a:t>Personality traits</a:t>
            </a:r>
            <a:r>
              <a:rPr lang="en-US" sz="1800" dirty="0">
                <a:solidFill>
                  <a:srgbClr val="7CD7CF"/>
                </a:solidFill>
              </a:rPr>
              <a:t>: stable personality dispositions and typical behavior tendencies</a:t>
            </a:r>
          </a:p>
          <a:p>
            <a:pPr lvl="1"/>
            <a:r>
              <a:rPr lang="en-US" sz="1800" i="1" dirty="0">
                <a:solidFill>
                  <a:srgbClr val="7CD7CF"/>
                </a:solidFill>
              </a:rPr>
              <a:t>nervous, anxious, reckless, morose, hostile, jealous</a:t>
            </a:r>
          </a:p>
        </p:txBody>
      </p:sp>
    </p:spTree>
    <p:extLst>
      <p:ext uri="{BB962C8B-B14F-4D97-AF65-F5344CB8AC3E}">
        <p14:creationId xmlns:p14="http://schemas.microsoft.com/office/powerpoint/2010/main" val="209597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xúc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Sentiment analysis is the detection of </a:t>
            </a:r>
            <a:r>
              <a:rPr lang="en-US" sz="3200" b="1" dirty="0"/>
              <a:t>attitudes</a:t>
            </a:r>
          </a:p>
          <a:p>
            <a:r>
              <a:rPr lang="en-US" sz="3200" dirty="0"/>
              <a:t>Simple task we focus on in this chapter</a:t>
            </a:r>
          </a:p>
          <a:p>
            <a:pPr lvl="1"/>
            <a:r>
              <a:rPr lang="en-US" sz="2800" dirty="0"/>
              <a:t>Is the attitude of this text </a:t>
            </a:r>
            <a:r>
              <a:rPr lang="en-US" sz="2800" b="1" dirty="0"/>
              <a:t>positive</a:t>
            </a:r>
            <a:r>
              <a:rPr lang="en-US" sz="2800" dirty="0"/>
              <a:t> or </a:t>
            </a:r>
            <a:r>
              <a:rPr lang="en-US" sz="2800" b="1" dirty="0"/>
              <a:t>negative</a:t>
            </a:r>
            <a:r>
              <a:rPr lang="en-US" sz="2800" dirty="0"/>
              <a:t>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049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u="sng" dirty="0" err="1"/>
              <a:t>Tóm</a:t>
            </a:r>
            <a:r>
              <a:rPr lang="en-US" sz="3600" b="1" u="sng" dirty="0"/>
              <a:t> </a:t>
            </a:r>
            <a:r>
              <a:rPr lang="en-US" sz="3600" b="1" u="sng" dirty="0" err="1"/>
              <a:t>lại</a:t>
            </a:r>
            <a:r>
              <a:rPr lang="en-US" sz="3600" dirty="0"/>
              <a:t>: </a:t>
            </a:r>
            <a:r>
              <a:rPr lang="en-US" sz="3600" b="1" dirty="0" err="1"/>
              <a:t>Phân</a:t>
            </a:r>
            <a:r>
              <a:rPr lang="en-US" sz="3600" b="1" dirty="0"/>
              <a:t> </a:t>
            </a:r>
            <a:r>
              <a:rPr lang="en-US" sz="3600" b="1" dirty="0" err="1"/>
              <a:t>loại</a:t>
            </a:r>
            <a:r>
              <a:rPr lang="en-US" sz="3600" b="1" dirty="0"/>
              <a:t> </a:t>
            </a:r>
            <a:r>
              <a:rPr lang="en-US" sz="3600" b="1" dirty="0" err="1"/>
              <a:t>văn</a:t>
            </a:r>
            <a:r>
              <a:rPr lang="en-US" sz="3600" b="1" dirty="0"/>
              <a:t> </a:t>
            </a:r>
            <a:r>
              <a:rPr lang="en-US" sz="3600" b="1" dirty="0" err="1"/>
              <a:t>bản</a:t>
            </a:r>
            <a:endParaRPr lang="en-US" sz="3600" b="1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428750"/>
            <a:ext cx="7467600" cy="3276600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xúc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(Sentiment analysis)</a:t>
            </a:r>
          </a:p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rác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(Spam detection)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(Authorship identification)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ngôn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ngữ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(Language Identification)</a:t>
            </a:r>
          </a:p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Gán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(Assigning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categories, topics, or genres)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2309653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: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endParaRPr 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3200" i="1" dirty="0" err="1">
                <a:latin typeface="Calibri" charset="0"/>
              </a:rPr>
              <a:t>Đầu</a:t>
            </a:r>
            <a:r>
              <a:rPr lang="en-US" sz="3200" i="1" dirty="0">
                <a:latin typeface="Calibri" charset="0"/>
              </a:rPr>
              <a:t> </a:t>
            </a:r>
            <a:r>
              <a:rPr lang="en-US" sz="3200" i="1" dirty="0" err="1">
                <a:latin typeface="Calibri" charset="0"/>
              </a:rPr>
              <a:t>vào</a:t>
            </a:r>
            <a:r>
              <a:rPr lang="en-US" sz="3200" dirty="0">
                <a:latin typeface="Calibri" charset="0"/>
              </a:rPr>
              <a:t>:</a:t>
            </a:r>
          </a:p>
          <a:p>
            <a:pPr lvl="1"/>
            <a:r>
              <a:rPr lang="en-US" sz="2800" dirty="0">
                <a:latin typeface="Calibri" charset="0"/>
              </a:rPr>
              <a:t> </a:t>
            </a:r>
            <a:r>
              <a:rPr lang="en-US" sz="2800" dirty="0" err="1">
                <a:latin typeface="Calibri" charset="0"/>
              </a:rPr>
              <a:t>Một</a:t>
            </a:r>
            <a:r>
              <a:rPr lang="en-US" sz="2800" dirty="0">
                <a:latin typeface="Calibri" charset="0"/>
              </a:rPr>
              <a:t> </a:t>
            </a:r>
            <a:r>
              <a:rPr lang="en-US" sz="2800" dirty="0" err="1">
                <a:latin typeface="Calibri" charset="0"/>
              </a:rPr>
              <a:t>văn</a:t>
            </a:r>
            <a:r>
              <a:rPr lang="en-US" sz="2800" dirty="0">
                <a:latin typeface="Calibri" charset="0"/>
              </a:rPr>
              <a:t> </a:t>
            </a:r>
            <a:r>
              <a:rPr lang="en-US" sz="2800" dirty="0" err="1">
                <a:latin typeface="Calibri" charset="0"/>
              </a:rPr>
              <a:t>bản</a:t>
            </a:r>
            <a:r>
              <a:rPr lang="en-US" sz="2800" dirty="0">
                <a:latin typeface="Calibri" charset="0"/>
              </a:rPr>
              <a:t> </a:t>
            </a:r>
            <a:r>
              <a:rPr lang="en-US" sz="2800" i="1" dirty="0">
                <a:solidFill>
                  <a:srgbClr val="FF0000"/>
                </a:solidFill>
                <a:latin typeface="Calibri" charset="0"/>
              </a:rPr>
              <a:t>d</a:t>
            </a:r>
          </a:p>
          <a:p>
            <a:pPr lvl="1"/>
            <a:r>
              <a:rPr lang="en-US" sz="2800" i="1" dirty="0">
                <a:latin typeface="Calibri" charset="0"/>
              </a:rPr>
              <a:t> </a:t>
            </a:r>
            <a:r>
              <a:rPr lang="en-US" sz="2800" dirty="0" err="1">
                <a:latin typeface="Calibri" charset="0"/>
                <a:ea typeface="ＭＳ Ｐゴシック" charset="0"/>
              </a:rPr>
              <a:t>Một</a:t>
            </a:r>
            <a:r>
              <a:rPr lang="en-US" sz="2800" dirty="0">
                <a:latin typeface="Calibri" charset="0"/>
                <a:ea typeface="ＭＳ Ｐゴシック" charset="0"/>
              </a:rPr>
              <a:t> </a:t>
            </a:r>
            <a:r>
              <a:rPr lang="en-US" sz="2800" dirty="0" err="1">
                <a:latin typeface="Calibri" charset="0"/>
                <a:ea typeface="ＭＳ Ｐゴシック" charset="0"/>
              </a:rPr>
              <a:t>tập</a:t>
            </a:r>
            <a:r>
              <a:rPr lang="en-US" sz="2800" dirty="0">
                <a:latin typeface="Calibri" charset="0"/>
                <a:ea typeface="ＭＳ Ｐゴシック" charset="0"/>
              </a:rPr>
              <a:t> </a:t>
            </a:r>
            <a:r>
              <a:rPr lang="en-US" sz="2800" dirty="0" err="1">
                <a:latin typeface="Calibri" charset="0"/>
                <a:ea typeface="ＭＳ Ｐゴシック" charset="0"/>
              </a:rPr>
              <a:t>cố</a:t>
            </a:r>
            <a:r>
              <a:rPr lang="en-US" sz="2800" dirty="0">
                <a:latin typeface="Calibri" charset="0"/>
                <a:ea typeface="ＭＳ Ｐゴシック" charset="0"/>
              </a:rPr>
              <a:t> </a:t>
            </a:r>
            <a:r>
              <a:rPr lang="en-US" sz="2800" dirty="0" err="1">
                <a:latin typeface="Calibri" charset="0"/>
                <a:ea typeface="ＭＳ Ｐゴシック" charset="0"/>
              </a:rPr>
              <a:t>định</a:t>
            </a:r>
            <a:r>
              <a:rPr lang="en-US" sz="2800" dirty="0">
                <a:latin typeface="Calibri" charset="0"/>
                <a:ea typeface="ＭＳ Ｐゴシック" charset="0"/>
              </a:rPr>
              <a:t> </a:t>
            </a:r>
            <a:r>
              <a:rPr lang="en-US" sz="2800" dirty="0" err="1">
                <a:latin typeface="Calibri" charset="0"/>
                <a:ea typeface="ＭＳ Ｐゴシック" charset="0"/>
              </a:rPr>
              <a:t>các</a:t>
            </a:r>
            <a:r>
              <a:rPr lang="en-US" sz="2800" dirty="0">
                <a:latin typeface="Calibri" charset="0"/>
                <a:ea typeface="ＭＳ Ｐゴシック" charset="0"/>
              </a:rPr>
              <a:t> </a:t>
            </a:r>
            <a:r>
              <a:rPr lang="en-US" sz="2800" dirty="0" err="1">
                <a:latin typeface="Calibri" charset="0"/>
                <a:ea typeface="ＭＳ Ｐゴシック" charset="0"/>
              </a:rPr>
              <a:t>lớp</a:t>
            </a:r>
            <a:r>
              <a:rPr lang="en-US" sz="2800" dirty="0">
                <a:latin typeface="Calibri" charset="0"/>
                <a:ea typeface="ＭＳ Ｐゴシック" charset="0"/>
              </a:rPr>
              <a:t>  </a:t>
            </a:r>
            <a:r>
              <a:rPr lang="en-US" sz="2800" i="1" dirty="0">
                <a:solidFill>
                  <a:srgbClr val="FF0000"/>
                </a:solidFill>
                <a:latin typeface="Calibri" charset="0"/>
                <a:ea typeface="ＭＳ Ｐゴシック" charset="0"/>
              </a:rPr>
              <a:t>C </a:t>
            </a:r>
            <a:r>
              <a:rPr lang="en-US" sz="2800" dirty="0">
                <a:solidFill>
                  <a:srgbClr val="FF0000"/>
                </a:solidFill>
                <a:latin typeface="Calibri" charset="0"/>
                <a:ea typeface="ＭＳ Ｐゴシック" charset="0"/>
              </a:rPr>
              <a:t>=</a:t>
            </a:r>
            <a:r>
              <a:rPr lang="en-US" sz="2800" i="1" dirty="0">
                <a:solidFill>
                  <a:srgbClr val="FF0000"/>
                </a:solidFill>
                <a:latin typeface="Calibri" charset="0"/>
                <a:ea typeface="ＭＳ Ｐゴシック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{</a:t>
            </a:r>
            <a:r>
              <a:rPr lang="en-US" sz="2800" i="1" dirty="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c</a:t>
            </a:r>
            <a:r>
              <a:rPr lang="en-US" sz="2800" baseline="-25000" dirty="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1</a:t>
            </a:r>
            <a:r>
              <a:rPr lang="en-US" sz="2800" dirty="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, </a:t>
            </a:r>
            <a:r>
              <a:rPr lang="en-US" sz="2800" i="1" dirty="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c</a:t>
            </a:r>
            <a:r>
              <a:rPr lang="en-US" sz="2800" baseline="-25000" dirty="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2</a:t>
            </a:r>
            <a:r>
              <a:rPr lang="en-US" sz="2800" dirty="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,…, </a:t>
            </a:r>
            <a:r>
              <a:rPr lang="en-US" sz="2800" i="1" dirty="0" err="1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c</a:t>
            </a:r>
            <a:r>
              <a:rPr lang="en-US" sz="2800" i="1" baseline="-25000" dirty="0" err="1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J</a:t>
            </a:r>
            <a:r>
              <a:rPr lang="en-US" sz="2800" dirty="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}</a:t>
            </a:r>
          </a:p>
          <a:p>
            <a:pPr lvl="1"/>
            <a:endParaRPr lang="en-US" sz="2800" i="1" dirty="0">
              <a:latin typeface="Calibri" charset="0"/>
            </a:endParaRPr>
          </a:p>
          <a:p>
            <a:r>
              <a:rPr lang="en-US" sz="3200" i="1" dirty="0" err="1">
                <a:latin typeface="Calibri" charset="0"/>
              </a:rPr>
              <a:t>Đầu</a:t>
            </a:r>
            <a:r>
              <a:rPr lang="en-US" sz="3200" i="1" dirty="0">
                <a:latin typeface="Calibri" charset="0"/>
              </a:rPr>
              <a:t> ra</a:t>
            </a:r>
            <a:r>
              <a:rPr lang="en-US" sz="3200" dirty="0">
                <a:latin typeface="Calibri" charset="0"/>
              </a:rPr>
              <a:t>: </a:t>
            </a:r>
            <a:r>
              <a:rPr lang="en-US" sz="3200" dirty="0" err="1">
                <a:latin typeface="Calibri" charset="0"/>
              </a:rPr>
              <a:t>Một</a:t>
            </a:r>
            <a:r>
              <a:rPr lang="en-US" sz="3200" dirty="0">
                <a:latin typeface="Calibri" charset="0"/>
              </a:rPr>
              <a:t> </a:t>
            </a:r>
            <a:r>
              <a:rPr lang="en-US" sz="3200" dirty="0" err="1">
                <a:latin typeface="Calibri" charset="0"/>
              </a:rPr>
              <a:t>lớp</a:t>
            </a:r>
            <a:r>
              <a:rPr lang="en-US" sz="3200" dirty="0">
                <a:latin typeface="Calibri" charset="0"/>
              </a:rPr>
              <a:t> </a:t>
            </a:r>
            <a:r>
              <a:rPr lang="en-US" sz="3200" dirty="0" err="1">
                <a:latin typeface="Calibri" charset="0"/>
              </a:rPr>
              <a:t>được</a:t>
            </a:r>
            <a:r>
              <a:rPr lang="en-US" sz="3200" dirty="0">
                <a:latin typeface="Calibri" charset="0"/>
              </a:rPr>
              <a:t> </a:t>
            </a:r>
            <a:r>
              <a:rPr lang="en-US" sz="3200" dirty="0" err="1">
                <a:latin typeface="Calibri" charset="0"/>
              </a:rPr>
              <a:t>dự</a:t>
            </a:r>
            <a:r>
              <a:rPr lang="en-US" sz="3200" dirty="0">
                <a:latin typeface="Calibri" charset="0"/>
              </a:rPr>
              <a:t> </a:t>
            </a:r>
            <a:r>
              <a:rPr lang="en-US" sz="3200" dirty="0" err="1">
                <a:latin typeface="Calibri" charset="0"/>
              </a:rPr>
              <a:t>đoán</a:t>
            </a:r>
            <a:r>
              <a:rPr lang="en-US" sz="3200" dirty="0">
                <a:latin typeface="Calibri" charset="0"/>
              </a:rPr>
              <a:t> </a:t>
            </a:r>
            <a:r>
              <a:rPr lang="en-US" sz="3200" i="1" dirty="0">
                <a:solidFill>
                  <a:srgbClr val="FF0000"/>
                </a:solidFill>
                <a:latin typeface="Calibri" charset="0"/>
              </a:rPr>
              <a:t>c</a:t>
            </a:r>
            <a:r>
              <a:rPr lang="en-US" sz="3200" dirty="0">
                <a:solidFill>
                  <a:srgbClr val="FF0000"/>
                </a:solidFill>
                <a:latin typeface="Calibri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 </a:t>
            </a:r>
            <a:r>
              <a:rPr lang="en-US" sz="3200" i="1" dirty="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C</a:t>
            </a:r>
            <a:endParaRPr lang="en-US" sz="3200" i="1" baseline="-25000" dirty="0">
              <a:solidFill>
                <a:srgbClr val="FF0000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952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/>
          <p:cNvSpPr>
            <a:spLocks noGrp="1" noChangeArrowheads="1"/>
          </p:cNvSpPr>
          <p:nvPr>
            <p:ph type="title"/>
          </p:nvPr>
        </p:nvSpPr>
        <p:spPr>
          <a:xfrm>
            <a:off x="833470" y="361950"/>
            <a:ext cx="7543800" cy="680397"/>
          </a:xfrm>
        </p:spPr>
        <p:txBody>
          <a:bodyPr>
            <a:normAutofit fontScale="90000"/>
          </a:bodyPr>
          <a:lstStyle/>
          <a:p>
            <a:r>
              <a:rPr lang="en-US" sz="3600" dirty="0" err="1"/>
              <a:t>Các</a:t>
            </a:r>
            <a:r>
              <a:rPr lang="en-US" sz="3600" dirty="0"/>
              <a:t> </a:t>
            </a:r>
            <a:r>
              <a:rPr lang="en-US" sz="3600" dirty="0" err="1"/>
              <a:t>phương</a:t>
            </a:r>
            <a:r>
              <a:rPr lang="en-US" sz="3600" dirty="0"/>
              <a:t> </a:t>
            </a:r>
            <a:r>
              <a:rPr lang="en-US" sz="3600" dirty="0" err="1"/>
              <a:t>pháp</a:t>
            </a:r>
            <a:r>
              <a:rPr lang="en-US" sz="3600" dirty="0"/>
              <a:t> </a:t>
            </a:r>
            <a:r>
              <a:rPr lang="en-US" sz="3600" dirty="0" err="1"/>
              <a:t>phâ</a:t>
            </a:r>
            <a:r>
              <a:rPr lang="en-US" dirty="0" err="1"/>
              <a:t>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sz="3600" dirty="0"/>
              <a:t>:  </a:t>
            </a:r>
            <a:r>
              <a:rPr lang="en-US" sz="3600" dirty="0" err="1"/>
              <a:t>Dựa</a:t>
            </a:r>
            <a:r>
              <a:rPr lang="en-US" sz="3600" dirty="0"/>
              <a:t> </a:t>
            </a:r>
            <a:r>
              <a:rPr lang="en-US" sz="3600" dirty="0" err="1"/>
              <a:t>trên</a:t>
            </a:r>
            <a:r>
              <a:rPr lang="en-US" sz="3600" dirty="0"/>
              <a:t> </a:t>
            </a:r>
            <a:r>
              <a:rPr lang="en-US" sz="3600" dirty="0" err="1"/>
              <a:t>luật</a:t>
            </a:r>
            <a:r>
              <a:rPr lang="en-US" sz="3600" dirty="0"/>
              <a:t> (Hand-coded rules)</a:t>
            </a:r>
          </a:p>
        </p:txBody>
      </p:sp>
      <p:sp>
        <p:nvSpPr>
          <p:cNvPr id="27651" name="Rectangle 5"/>
          <p:cNvSpPr>
            <a:spLocks noGrp="1" noChangeArrowheads="1"/>
          </p:cNvSpPr>
          <p:nvPr>
            <p:ph idx="1"/>
          </p:nvPr>
        </p:nvSpPr>
        <p:spPr>
          <a:xfrm>
            <a:off x="822960" y="1200150"/>
            <a:ext cx="8321040" cy="3429000"/>
          </a:xfrm>
        </p:spPr>
        <p:txBody>
          <a:bodyPr/>
          <a:lstStyle/>
          <a:p>
            <a:r>
              <a:rPr lang="en-US" dirty="0" err="1">
                <a:latin typeface="Calibri" charset="0"/>
              </a:rPr>
              <a:t>Các</a:t>
            </a:r>
            <a:r>
              <a:rPr lang="en-US" dirty="0">
                <a:latin typeface="Calibri" charset="0"/>
              </a:rPr>
              <a:t> </a:t>
            </a:r>
            <a:r>
              <a:rPr lang="en-US" dirty="0" err="1">
                <a:latin typeface="Calibri" charset="0"/>
              </a:rPr>
              <a:t>luật</a:t>
            </a:r>
            <a:r>
              <a:rPr lang="en-US" dirty="0">
                <a:latin typeface="Calibri" charset="0"/>
              </a:rPr>
              <a:t> </a:t>
            </a:r>
            <a:r>
              <a:rPr lang="en-US" dirty="0" err="1">
                <a:latin typeface="Calibri" charset="0"/>
              </a:rPr>
              <a:t>dựa</a:t>
            </a:r>
            <a:r>
              <a:rPr lang="en-US" dirty="0">
                <a:latin typeface="Calibri" charset="0"/>
              </a:rPr>
              <a:t> </a:t>
            </a:r>
            <a:r>
              <a:rPr lang="en-US" dirty="0" err="1">
                <a:latin typeface="Calibri" charset="0"/>
              </a:rPr>
              <a:t>trên</a:t>
            </a:r>
            <a:r>
              <a:rPr lang="en-US" dirty="0">
                <a:latin typeface="Calibri" charset="0"/>
              </a:rPr>
              <a:t> </a:t>
            </a:r>
            <a:r>
              <a:rPr lang="en-US" dirty="0" err="1">
                <a:latin typeface="Calibri" charset="0"/>
              </a:rPr>
              <a:t>việc</a:t>
            </a:r>
            <a:r>
              <a:rPr lang="en-US" dirty="0">
                <a:latin typeface="Calibri" charset="0"/>
              </a:rPr>
              <a:t> </a:t>
            </a:r>
            <a:r>
              <a:rPr lang="en-US" dirty="0" err="1">
                <a:latin typeface="Calibri" charset="0"/>
              </a:rPr>
              <a:t>kết</a:t>
            </a:r>
            <a:r>
              <a:rPr lang="en-US" dirty="0">
                <a:latin typeface="Calibri" charset="0"/>
              </a:rPr>
              <a:t> </a:t>
            </a:r>
            <a:r>
              <a:rPr lang="en-US" dirty="0" err="1">
                <a:latin typeface="Calibri" charset="0"/>
              </a:rPr>
              <a:t>hợp</a:t>
            </a:r>
            <a:r>
              <a:rPr lang="en-US" dirty="0">
                <a:latin typeface="Calibri" charset="0"/>
              </a:rPr>
              <a:t> </a:t>
            </a:r>
            <a:r>
              <a:rPr lang="en-US" dirty="0" err="1">
                <a:latin typeface="Calibri" charset="0"/>
              </a:rPr>
              <a:t>các</a:t>
            </a:r>
            <a:r>
              <a:rPr lang="en-US" dirty="0">
                <a:latin typeface="Calibri" charset="0"/>
              </a:rPr>
              <a:t> </a:t>
            </a:r>
            <a:r>
              <a:rPr lang="en-US" dirty="0" err="1">
                <a:latin typeface="Calibri" charset="0"/>
              </a:rPr>
              <a:t>từ</a:t>
            </a:r>
            <a:r>
              <a:rPr lang="en-US" dirty="0">
                <a:latin typeface="Calibri" charset="0"/>
              </a:rPr>
              <a:t> </a:t>
            </a:r>
            <a:r>
              <a:rPr lang="en-US" dirty="0" err="1">
                <a:latin typeface="Calibri" charset="0"/>
              </a:rPr>
              <a:t>hoặc</a:t>
            </a:r>
            <a:r>
              <a:rPr lang="en-US" dirty="0">
                <a:latin typeface="Calibri" charset="0"/>
              </a:rPr>
              <a:t> </a:t>
            </a:r>
            <a:r>
              <a:rPr lang="en-US" dirty="0" err="1">
                <a:latin typeface="Calibri" charset="0"/>
              </a:rPr>
              <a:t>các</a:t>
            </a:r>
            <a:r>
              <a:rPr lang="en-US" dirty="0">
                <a:latin typeface="Calibri" charset="0"/>
              </a:rPr>
              <a:t> </a:t>
            </a:r>
            <a:r>
              <a:rPr lang="en-US" dirty="0" err="1">
                <a:latin typeface="Calibri" charset="0"/>
              </a:rPr>
              <a:t>đặc</a:t>
            </a:r>
            <a:r>
              <a:rPr lang="en-US" dirty="0">
                <a:latin typeface="Calibri" charset="0"/>
              </a:rPr>
              <a:t> </a:t>
            </a:r>
            <a:r>
              <a:rPr lang="en-US" dirty="0" err="1">
                <a:latin typeface="Calibri" charset="0"/>
              </a:rPr>
              <a:t>trưng</a:t>
            </a:r>
            <a:r>
              <a:rPr lang="en-US" dirty="0">
                <a:latin typeface="Calibri" charset="0"/>
              </a:rPr>
              <a:t> </a:t>
            </a:r>
            <a:r>
              <a:rPr lang="en-US" dirty="0" err="1">
                <a:latin typeface="Calibri" charset="0"/>
              </a:rPr>
              <a:t>khác</a:t>
            </a:r>
            <a:endParaRPr lang="en-US" dirty="0">
              <a:latin typeface="Calibri" charset="0"/>
            </a:endParaRPr>
          </a:p>
          <a:p>
            <a:pPr lvl="1"/>
            <a:r>
              <a:rPr lang="en-US" dirty="0">
                <a:latin typeface="Calibri" charset="0"/>
              </a:rPr>
              <a:t> spam: black-list-address OR (“dollars” AND “you have been selected”)</a:t>
            </a:r>
          </a:p>
          <a:p>
            <a:r>
              <a:rPr lang="en-US" dirty="0" err="1">
                <a:latin typeface="Calibri" charset="0"/>
              </a:rPr>
              <a:t>Độ</a:t>
            </a:r>
            <a:r>
              <a:rPr lang="en-US" dirty="0">
                <a:latin typeface="Calibri" charset="0"/>
              </a:rPr>
              <a:t> </a:t>
            </a:r>
            <a:r>
              <a:rPr lang="en-US" dirty="0" err="1">
                <a:latin typeface="Calibri" charset="0"/>
              </a:rPr>
              <a:t>chính</a:t>
            </a:r>
            <a:r>
              <a:rPr lang="en-US" dirty="0">
                <a:latin typeface="Calibri" charset="0"/>
              </a:rPr>
              <a:t> </a:t>
            </a:r>
            <a:r>
              <a:rPr lang="en-US" dirty="0" err="1">
                <a:latin typeface="Calibri" charset="0"/>
              </a:rPr>
              <a:t>xác</a:t>
            </a:r>
            <a:r>
              <a:rPr lang="en-US" dirty="0">
                <a:latin typeface="Calibri" charset="0"/>
              </a:rPr>
              <a:t> </a:t>
            </a:r>
            <a:r>
              <a:rPr lang="en-US" dirty="0" err="1">
                <a:latin typeface="Calibri" charset="0"/>
              </a:rPr>
              <a:t>có</a:t>
            </a:r>
            <a:r>
              <a:rPr lang="en-US" dirty="0">
                <a:latin typeface="Calibri" charset="0"/>
              </a:rPr>
              <a:t> </a:t>
            </a:r>
            <a:r>
              <a:rPr lang="en-US" dirty="0" err="1">
                <a:latin typeface="Calibri" charset="0"/>
              </a:rPr>
              <a:t>thể</a:t>
            </a:r>
            <a:r>
              <a:rPr lang="en-US" dirty="0">
                <a:latin typeface="Calibri" charset="0"/>
              </a:rPr>
              <a:t> </a:t>
            </a:r>
            <a:r>
              <a:rPr lang="en-US" dirty="0" err="1">
                <a:latin typeface="Calibri" charset="0"/>
              </a:rPr>
              <a:t>cao</a:t>
            </a:r>
            <a:endParaRPr lang="en-US" dirty="0">
              <a:latin typeface="Calibri" charset="0"/>
            </a:endParaRPr>
          </a:p>
          <a:p>
            <a:pPr lvl="1"/>
            <a:r>
              <a:rPr lang="vi-VN" dirty="0">
                <a:latin typeface="Calibri" charset="0"/>
              </a:rPr>
              <a:t>Nếu các quy tắc được tinh chỉnh cẩn thận bởi chuyên gia</a:t>
            </a:r>
            <a:endParaRPr lang="en-US" dirty="0">
              <a:latin typeface="Calibri" charset="0"/>
            </a:endParaRPr>
          </a:p>
          <a:p>
            <a:r>
              <a:rPr lang="vi-VN" dirty="0">
                <a:latin typeface="Calibri" charset="0"/>
              </a:rPr>
              <a:t>Nhưng việc xây dựng và duy trì những luật này rất tốn kém</a:t>
            </a:r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31373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060" y="381000"/>
            <a:ext cx="7467600" cy="742950"/>
          </a:xfrm>
        </p:spPr>
        <p:txBody>
          <a:bodyPr>
            <a:normAutofit fontScale="90000"/>
          </a:bodyPr>
          <a:lstStyle/>
          <a:p>
            <a:r>
              <a:rPr lang="en-US" sz="3600" dirty="0" err="1"/>
              <a:t>Các</a:t>
            </a:r>
            <a:r>
              <a:rPr lang="en-US" sz="3600" dirty="0"/>
              <a:t> </a:t>
            </a:r>
            <a:r>
              <a:rPr lang="en-US" sz="3600" dirty="0" err="1"/>
              <a:t>phương</a:t>
            </a:r>
            <a:r>
              <a:rPr lang="en-US" sz="3600" dirty="0"/>
              <a:t> </a:t>
            </a:r>
            <a:r>
              <a:rPr lang="en-US" sz="3600" dirty="0" err="1"/>
              <a:t>pháp</a:t>
            </a:r>
            <a:r>
              <a:rPr lang="en-US" sz="3600" dirty="0"/>
              <a:t>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loại</a:t>
            </a:r>
            <a:r>
              <a:rPr lang="en-US" sz="3600" dirty="0"/>
              <a:t>:</a:t>
            </a:r>
            <a:br>
              <a:rPr lang="en-US" sz="3600" dirty="0"/>
            </a:br>
            <a:r>
              <a:rPr lang="en-US" sz="3600" dirty="0" err="1"/>
              <a:t>Máy</a:t>
            </a:r>
            <a:r>
              <a:rPr lang="en-US" sz="3600" dirty="0"/>
              <a:t> </a:t>
            </a:r>
            <a:r>
              <a:rPr lang="en-US" sz="3600" dirty="0" err="1"/>
              <a:t>học</a:t>
            </a:r>
            <a:r>
              <a:rPr lang="en-US" sz="3600" dirty="0"/>
              <a:t> </a:t>
            </a:r>
            <a:r>
              <a:rPr lang="en-US" sz="3600" dirty="0" err="1"/>
              <a:t>giám</a:t>
            </a:r>
            <a:r>
              <a:rPr lang="en-US" sz="3600" dirty="0"/>
              <a:t> </a:t>
            </a:r>
            <a:r>
              <a:rPr lang="en-US" sz="3600" dirty="0" err="1"/>
              <a:t>sát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352550"/>
            <a:ext cx="7543801" cy="3429000"/>
          </a:xfrm>
        </p:spPr>
        <p:txBody>
          <a:bodyPr/>
          <a:lstStyle/>
          <a:p>
            <a:r>
              <a:rPr lang="en-US" i="1" dirty="0" err="1">
                <a:latin typeface="Calibri" charset="0"/>
              </a:rPr>
              <a:t>Đầu</a:t>
            </a:r>
            <a:r>
              <a:rPr lang="en-US" i="1" dirty="0">
                <a:latin typeface="Calibri" charset="0"/>
              </a:rPr>
              <a:t> </a:t>
            </a:r>
            <a:r>
              <a:rPr lang="en-US" i="1" dirty="0" err="1">
                <a:latin typeface="Calibri" charset="0"/>
              </a:rPr>
              <a:t>vào</a:t>
            </a:r>
            <a:r>
              <a:rPr lang="en-US" sz="2800" i="1" dirty="0">
                <a:latin typeface="Calibri" charset="0"/>
              </a:rPr>
              <a:t>: </a:t>
            </a:r>
          </a:p>
          <a:p>
            <a:pPr lvl="1"/>
            <a:r>
              <a:rPr lang="en-US" sz="2400" dirty="0" err="1">
                <a:latin typeface="Calibri" charset="0"/>
              </a:rPr>
              <a:t>Một</a:t>
            </a:r>
            <a:r>
              <a:rPr lang="en-US" sz="2400" dirty="0">
                <a:latin typeface="Calibri" charset="0"/>
              </a:rPr>
              <a:t> </a:t>
            </a:r>
            <a:r>
              <a:rPr lang="en-US" sz="2400" dirty="0" err="1">
                <a:latin typeface="Calibri" charset="0"/>
              </a:rPr>
              <a:t>văn</a:t>
            </a:r>
            <a:r>
              <a:rPr lang="en-US" sz="2400" dirty="0">
                <a:latin typeface="Calibri" charset="0"/>
              </a:rPr>
              <a:t> </a:t>
            </a:r>
            <a:r>
              <a:rPr lang="en-US" sz="2400" dirty="0" err="1">
                <a:latin typeface="Calibri" charset="0"/>
              </a:rPr>
              <a:t>bản</a:t>
            </a:r>
            <a:r>
              <a:rPr lang="en-US" sz="2400" dirty="0">
                <a:latin typeface="Calibri" charset="0"/>
              </a:rPr>
              <a:t> </a:t>
            </a:r>
            <a:r>
              <a:rPr lang="en-US" sz="2400" i="1" dirty="0">
                <a:solidFill>
                  <a:srgbClr val="FF0000"/>
                </a:solidFill>
                <a:latin typeface="Calibri" charset="0"/>
              </a:rPr>
              <a:t>d</a:t>
            </a:r>
          </a:p>
          <a:p>
            <a:pPr lvl="1"/>
            <a:r>
              <a:rPr lang="en-US" sz="2400" dirty="0" err="1">
                <a:latin typeface="Calibri" charset="0"/>
                <a:ea typeface="ＭＳ Ｐゴシック" charset="0"/>
              </a:rPr>
              <a:t>Một</a:t>
            </a:r>
            <a:r>
              <a:rPr lang="en-US" sz="2400" dirty="0">
                <a:latin typeface="Calibri" charset="0"/>
                <a:ea typeface="ＭＳ Ｐゴシック" charset="0"/>
              </a:rPr>
              <a:t> </a:t>
            </a:r>
            <a:r>
              <a:rPr lang="en-US" sz="2400" dirty="0" err="1">
                <a:latin typeface="Calibri" charset="0"/>
                <a:ea typeface="ＭＳ Ｐゴシック" charset="0"/>
              </a:rPr>
              <a:t>tập</a:t>
            </a:r>
            <a:r>
              <a:rPr lang="en-US" sz="2400" dirty="0">
                <a:latin typeface="Calibri" charset="0"/>
                <a:ea typeface="ＭＳ Ｐゴシック" charset="0"/>
              </a:rPr>
              <a:t> </a:t>
            </a:r>
            <a:r>
              <a:rPr lang="en-US" sz="2400" dirty="0" err="1">
                <a:latin typeface="Calibri" charset="0"/>
                <a:ea typeface="ＭＳ Ｐゴシック" charset="0"/>
              </a:rPr>
              <a:t>cố</a:t>
            </a:r>
            <a:r>
              <a:rPr lang="en-US" sz="2400" dirty="0">
                <a:latin typeface="Calibri" charset="0"/>
                <a:ea typeface="ＭＳ Ｐゴシック" charset="0"/>
              </a:rPr>
              <a:t> </a:t>
            </a:r>
            <a:r>
              <a:rPr lang="en-US" sz="2400" dirty="0" err="1">
                <a:latin typeface="Calibri" charset="0"/>
                <a:ea typeface="ＭＳ Ｐゴシック" charset="0"/>
              </a:rPr>
              <a:t>định</a:t>
            </a:r>
            <a:r>
              <a:rPr lang="en-US" sz="2400" dirty="0">
                <a:latin typeface="Calibri" charset="0"/>
                <a:ea typeface="ＭＳ Ｐゴシック" charset="0"/>
              </a:rPr>
              <a:t> </a:t>
            </a:r>
            <a:r>
              <a:rPr lang="en-US" sz="2400" dirty="0" err="1">
                <a:latin typeface="Calibri" charset="0"/>
                <a:ea typeface="ＭＳ Ｐゴシック" charset="0"/>
              </a:rPr>
              <a:t>các</a:t>
            </a:r>
            <a:r>
              <a:rPr lang="en-US" sz="2400" dirty="0">
                <a:latin typeface="Calibri" charset="0"/>
                <a:ea typeface="ＭＳ Ｐゴシック" charset="0"/>
              </a:rPr>
              <a:t> </a:t>
            </a:r>
            <a:r>
              <a:rPr lang="en-US" sz="2400" dirty="0" err="1">
                <a:latin typeface="Calibri" charset="0"/>
                <a:ea typeface="ＭＳ Ｐゴシック" charset="0"/>
              </a:rPr>
              <a:t>lớp</a:t>
            </a:r>
            <a:r>
              <a:rPr lang="en-US" sz="2400" dirty="0">
                <a:latin typeface="Calibri" charset="0"/>
                <a:ea typeface="ＭＳ Ｐゴシック" charset="0"/>
              </a:rPr>
              <a:t>  </a:t>
            </a:r>
            <a:r>
              <a:rPr lang="en-US" sz="2400" i="1" dirty="0">
                <a:solidFill>
                  <a:srgbClr val="FF0000"/>
                </a:solidFill>
                <a:latin typeface="Calibri" charset="0"/>
                <a:ea typeface="ＭＳ Ｐゴシック" charset="0"/>
              </a:rPr>
              <a:t>C </a:t>
            </a:r>
            <a:r>
              <a:rPr lang="en-US" sz="2400" dirty="0">
                <a:solidFill>
                  <a:srgbClr val="FF0000"/>
                </a:solidFill>
                <a:latin typeface="Calibri" charset="0"/>
                <a:ea typeface="ＭＳ Ｐゴシック" charset="0"/>
              </a:rPr>
              <a:t>=</a:t>
            </a:r>
            <a:r>
              <a:rPr lang="en-US" sz="2400" i="1" dirty="0">
                <a:solidFill>
                  <a:srgbClr val="FF0000"/>
                </a:solidFill>
                <a:latin typeface="Calibri" charset="0"/>
                <a:ea typeface="ＭＳ Ｐゴシック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{</a:t>
            </a:r>
            <a:r>
              <a:rPr lang="en-US" sz="2400" i="1" dirty="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c</a:t>
            </a:r>
            <a:r>
              <a:rPr lang="en-US" sz="2400" baseline="-25000" dirty="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1</a:t>
            </a:r>
            <a:r>
              <a:rPr lang="en-US" sz="2400" dirty="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, </a:t>
            </a:r>
            <a:r>
              <a:rPr lang="en-US" sz="2400" i="1" dirty="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c</a:t>
            </a:r>
            <a:r>
              <a:rPr lang="en-US" sz="2400" baseline="-25000" dirty="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2</a:t>
            </a:r>
            <a:r>
              <a:rPr lang="en-US" sz="2400" dirty="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,…, </a:t>
            </a:r>
            <a:r>
              <a:rPr lang="en-US" sz="2400" i="1" dirty="0" err="1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c</a:t>
            </a:r>
            <a:r>
              <a:rPr lang="en-US" sz="2400" i="1" baseline="-25000" dirty="0" err="1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J</a:t>
            </a:r>
            <a:r>
              <a:rPr lang="en-US" sz="2400" dirty="0">
                <a:solidFill>
                  <a:srgbClr val="FF0000"/>
                </a:solidFill>
                <a:latin typeface="Calibri" charset="0"/>
                <a:ea typeface="ＭＳ Ｐゴシック" charset="0"/>
                <a:sym typeface="Symbol" charset="0"/>
              </a:rPr>
              <a:t>}</a:t>
            </a:r>
            <a:endParaRPr lang="en-US" sz="1800" i="1" dirty="0">
              <a:solidFill>
                <a:srgbClr val="FF0000"/>
              </a:solidFill>
              <a:latin typeface="Calibri" charset="0"/>
            </a:endParaRPr>
          </a:p>
          <a:p>
            <a:pPr lvl="1" algn="just"/>
            <a:r>
              <a:rPr lang="en-US" sz="2400" dirty="0" err="1">
                <a:latin typeface="Calibri" charset="0"/>
              </a:rPr>
              <a:t>Một</a:t>
            </a:r>
            <a:r>
              <a:rPr lang="en-US" sz="2400" dirty="0">
                <a:latin typeface="Calibri" charset="0"/>
              </a:rPr>
              <a:t> </a:t>
            </a:r>
            <a:r>
              <a:rPr lang="en-US" sz="2400" dirty="0" err="1">
                <a:latin typeface="Calibri" charset="0"/>
              </a:rPr>
              <a:t>tập</a:t>
            </a:r>
            <a:r>
              <a:rPr lang="en-US" sz="2400" dirty="0">
                <a:latin typeface="Calibri" charset="0"/>
              </a:rPr>
              <a:t> </a:t>
            </a:r>
            <a:r>
              <a:rPr lang="en-US" sz="2400" dirty="0" err="1">
                <a:latin typeface="Calibri" charset="0"/>
              </a:rPr>
              <a:t>dữ</a:t>
            </a:r>
            <a:r>
              <a:rPr lang="en-US" sz="2400" dirty="0">
                <a:latin typeface="Calibri" charset="0"/>
              </a:rPr>
              <a:t> </a:t>
            </a:r>
            <a:r>
              <a:rPr lang="en-US" sz="2400" dirty="0" err="1">
                <a:latin typeface="Calibri" charset="0"/>
              </a:rPr>
              <a:t>liệu</a:t>
            </a:r>
            <a:r>
              <a:rPr lang="en-US" sz="2400" dirty="0">
                <a:latin typeface="Calibri" charset="0"/>
              </a:rPr>
              <a:t> </a:t>
            </a:r>
            <a:r>
              <a:rPr lang="en-US" sz="2400" dirty="0" err="1">
                <a:latin typeface="Calibri" charset="0"/>
              </a:rPr>
              <a:t>huấn</a:t>
            </a:r>
            <a:r>
              <a:rPr lang="en-US" sz="2400" dirty="0">
                <a:latin typeface="Calibri" charset="0"/>
              </a:rPr>
              <a:t> </a:t>
            </a:r>
            <a:r>
              <a:rPr lang="en-US" sz="2400" dirty="0" err="1">
                <a:latin typeface="Calibri" charset="0"/>
              </a:rPr>
              <a:t>luyện</a:t>
            </a:r>
            <a:r>
              <a:rPr lang="en-US" sz="2400" dirty="0">
                <a:latin typeface="Calibri" charset="0"/>
              </a:rPr>
              <a:t> </a:t>
            </a:r>
            <a:r>
              <a:rPr lang="en-US" sz="2400" i="1" dirty="0">
                <a:solidFill>
                  <a:srgbClr val="FF0000"/>
                </a:solidFill>
                <a:latin typeface="Calibri" charset="0"/>
              </a:rPr>
              <a:t>m</a:t>
            </a:r>
            <a:r>
              <a:rPr lang="en-US" sz="2400" i="1" dirty="0">
                <a:latin typeface="Calibri" charset="0"/>
              </a:rPr>
              <a:t> </a:t>
            </a:r>
            <a:r>
              <a:rPr lang="en-US" sz="2400" dirty="0" err="1">
                <a:latin typeface="Calibri" charset="0"/>
              </a:rPr>
              <a:t>các</a:t>
            </a:r>
            <a:r>
              <a:rPr lang="en-US" sz="2400" dirty="0">
                <a:latin typeface="Calibri" charset="0"/>
              </a:rPr>
              <a:t> </a:t>
            </a:r>
            <a:r>
              <a:rPr lang="en-US" sz="2400" dirty="0" err="1">
                <a:latin typeface="Calibri" charset="0"/>
              </a:rPr>
              <a:t>văn</a:t>
            </a:r>
            <a:r>
              <a:rPr lang="en-US" sz="2400" dirty="0">
                <a:latin typeface="Calibri" charset="0"/>
              </a:rPr>
              <a:t> </a:t>
            </a:r>
            <a:r>
              <a:rPr lang="en-US" sz="2400" dirty="0" err="1">
                <a:latin typeface="Calibri" charset="0"/>
              </a:rPr>
              <a:t>bản</a:t>
            </a:r>
            <a:r>
              <a:rPr lang="en-US" sz="2400" dirty="0">
                <a:latin typeface="Calibri" charset="0"/>
              </a:rPr>
              <a:t> </a:t>
            </a:r>
            <a:r>
              <a:rPr lang="en-US" sz="2400" b="1" dirty="0" err="1">
                <a:latin typeface="Calibri" charset="0"/>
              </a:rPr>
              <a:t>được</a:t>
            </a:r>
            <a:r>
              <a:rPr lang="en-US" sz="2400" b="1" dirty="0">
                <a:latin typeface="Calibri" charset="0"/>
              </a:rPr>
              <a:t> </a:t>
            </a:r>
            <a:r>
              <a:rPr lang="en-US" sz="2400" b="1" dirty="0" err="1">
                <a:latin typeface="Calibri" charset="0"/>
              </a:rPr>
              <a:t>gán</a:t>
            </a:r>
            <a:r>
              <a:rPr lang="en-US" sz="2400" b="1" dirty="0">
                <a:latin typeface="Calibri" charset="0"/>
              </a:rPr>
              <a:t> </a:t>
            </a:r>
            <a:r>
              <a:rPr lang="en-US" sz="2400" b="1" dirty="0" err="1">
                <a:latin typeface="Calibri" charset="0"/>
              </a:rPr>
              <a:t>nhãn</a:t>
            </a:r>
            <a:r>
              <a:rPr lang="en-US" sz="2400" b="1" dirty="0">
                <a:latin typeface="Calibri" charset="0"/>
              </a:rPr>
              <a:t> </a:t>
            </a:r>
            <a:r>
              <a:rPr lang="en-US" sz="2400" b="1" dirty="0" err="1">
                <a:latin typeface="Calibri" charset="0"/>
              </a:rPr>
              <a:t>sẵn</a:t>
            </a:r>
            <a:r>
              <a:rPr lang="en-US" sz="2400" dirty="0">
                <a:latin typeface="Calibri" charset="0"/>
              </a:rPr>
              <a:t> </a:t>
            </a:r>
            <a:r>
              <a:rPr lang="en-US" sz="2400" i="1" dirty="0">
                <a:solidFill>
                  <a:srgbClr val="FF0000"/>
                </a:solidFill>
                <a:latin typeface="Calibri" charset="0"/>
              </a:rPr>
              <a:t>(d</a:t>
            </a:r>
            <a:r>
              <a:rPr lang="en-US" sz="2400" i="1" baseline="-25000" dirty="0">
                <a:solidFill>
                  <a:srgbClr val="FF0000"/>
                </a:solidFill>
                <a:latin typeface="Calibri" charset="0"/>
              </a:rPr>
              <a:t>1</a:t>
            </a:r>
            <a:r>
              <a:rPr lang="en-US" sz="2400" i="1" dirty="0">
                <a:solidFill>
                  <a:srgbClr val="FF0000"/>
                </a:solidFill>
                <a:latin typeface="Calibri" charset="0"/>
              </a:rPr>
              <a:t>,c</a:t>
            </a:r>
            <a:r>
              <a:rPr lang="en-US" sz="2400" i="1" baseline="-25000" dirty="0">
                <a:solidFill>
                  <a:srgbClr val="FF0000"/>
                </a:solidFill>
                <a:latin typeface="Calibri" charset="0"/>
              </a:rPr>
              <a:t>1</a:t>
            </a:r>
            <a:r>
              <a:rPr lang="en-US" sz="2400" i="1" dirty="0">
                <a:solidFill>
                  <a:srgbClr val="FF0000"/>
                </a:solidFill>
                <a:latin typeface="Calibri" charset="0"/>
              </a:rPr>
              <a:t>),....,(</a:t>
            </a:r>
            <a:r>
              <a:rPr lang="en-US" sz="2400" i="1" dirty="0" err="1">
                <a:solidFill>
                  <a:srgbClr val="FF0000"/>
                </a:solidFill>
                <a:latin typeface="Calibri" charset="0"/>
              </a:rPr>
              <a:t>d</a:t>
            </a:r>
            <a:r>
              <a:rPr lang="en-US" sz="2400" i="1" baseline="-25000" dirty="0" err="1">
                <a:solidFill>
                  <a:srgbClr val="FF0000"/>
                </a:solidFill>
                <a:latin typeface="Calibri" charset="0"/>
              </a:rPr>
              <a:t>m</a:t>
            </a:r>
            <a:r>
              <a:rPr lang="en-US" sz="2400" i="1" dirty="0" err="1">
                <a:solidFill>
                  <a:srgbClr val="FF0000"/>
                </a:solidFill>
                <a:latin typeface="Calibri" charset="0"/>
              </a:rPr>
              <a:t>,c</a:t>
            </a:r>
            <a:r>
              <a:rPr lang="en-US" sz="2400" i="1" baseline="-25000" dirty="0" err="1">
                <a:solidFill>
                  <a:srgbClr val="FF0000"/>
                </a:solidFill>
                <a:latin typeface="Calibri" charset="0"/>
              </a:rPr>
              <a:t>m</a:t>
            </a:r>
            <a:r>
              <a:rPr lang="en-US" sz="2400" i="1" dirty="0">
                <a:solidFill>
                  <a:srgbClr val="FF0000"/>
                </a:solidFill>
                <a:latin typeface="Calibri" charset="0"/>
              </a:rPr>
              <a:t>)</a:t>
            </a:r>
          </a:p>
          <a:p>
            <a:r>
              <a:rPr lang="en-US" i="1" dirty="0" err="1">
                <a:latin typeface="Calibri" charset="0"/>
              </a:rPr>
              <a:t>Đầu</a:t>
            </a:r>
            <a:r>
              <a:rPr lang="en-US" i="1" dirty="0">
                <a:latin typeface="Calibri" charset="0"/>
              </a:rPr>
              <a:t> ra</a:t>
            </a:r>
            <a:r>
              <a:rPr lang="en-US" sz="2800" i="1" dirty="0">
                <a:latin typeface="Calibri" charset="0"/>
              </a:rPr>
              <a:t>: </a:t>
            </a:r>
          </a:p>
          <a:p>
            <a:pPr lvl="1"/>
            <a:r>
              <a:rPr lang="en-US" sz="2400" dirty="0" err="1">
                <a:latin typeface="Calibri" charset="0"/>
              </a:rPr>
              <a:t>Một</a:t>
            </a:r>
            <a:r>
              <a:rPr lang="en-US" sz="2400" dirty="0">
                <a:latin typeface="Calibri" charset="0"/>
              </a:rPr>
              <a:t> </a:t>
            </a:r>
            <a:r>
              <a:rPr lang="en-US" sz="2400" dirty="0" err="1">
                <a:latin typeface="Calibri" charset="0"/>
              </a:rPr>
              <a:t>bộ</a:t>
            </a:r>
            <a:r>
              <a:rPr lang="en-US" sz="2400" dirty="0">
                <a:latin typeface="Calibri" charset="0"/>
              </a:rPr>
              <a:t> </a:t>
            </a:r>
            <a:r>
              <a:rPr lang="en-US" sz="2400" dirty="0" err="1">
                <a:latin typeface="Calibri" charset="0"/>
              </a:rPr>
              <a:t>phân</a:t>
            </a:r>
            <a:r>
              <a:rPr lang="en-US" sz="2400" dirty="0">
                <a:latin typeface="Calibri" charset="0"/>
              </a:rPr>
              <a:t> </a:t>
            </a:r>
            <a:r>
              <a:rPr lang="en-US" sz="2400" dirty="0" err="1">
                <a:latin typeface="Calibri" charset="0"/>
              </a:rPr>
              <a:t>loại</a:t>
            </a:r>
            <a:r>
              <a:rPr lang="en-US" sz="2400" dirty="0">
                <a:latin typeface="Calibri" charset="0"/>
              </a:rPr>
              <a:t> </a:t>
            </a:r>
            <a:r>
              <a:rPr lang="en-US" sz="2400" dirty="0" err="1">
                <a:latin typeface="Calibri" charset="0"/>
              </a:rPr>
              <a:t>đã</a:t>
            </a:r>
            <a:r>
              <a:rPr lang="en-US" sz="2400" dirty="0">
                <a:latin typeface="Calibri" charset="0"/>
              </a:rPr>
              <a:t> </a:t>
            </a:r>
            <a:r>
              <a:rPr lang="en-US" sz="2400" dirty="0" err="1">
                <a:latin typeface="Calibri" charset="0"/>
              </a:rPr>
              <a:t>được</a:t>
            </a:r>
            <a:r>
              <a:rPr lang="en-US" sz="2400" dirty="0">
                <a:latin typeface="Calibri" charset="0"/>
              </a:rPr>
              <a:t> </a:t>
            </a:r>
            <a:r>
              <a:rPr lang="en-US" sz="2400" dirty="0" err="1">
                <a:latin typeface="Calibri" charset="0"/>
              </a:rPr>
              <a:t>huấn</a:t>
            </a:r>
            <a:r>
              <a:rPr lang="en-US" sz="2400" dirty="0">
                <a:latin typeface="Calibri" charset="0"/>
              </a:rPr>
              <a:t> </a:t>
            </a:r>
            <a:r>
              <a:rPr lang="en-US" sz="2400" dirty="0" err="1">
                <a:latin typeface="Calibri" charset="0"/>
              </a:rPr>
              <a:t>luyện</a:t>
            </a:r>
            <a:r>
              <a:rPr lang="en-US" sz="2400" dirty="0">
                <a:latin typeface="Calibri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Calibri" charset="0"/>
              </a:rPr>
              <a:t>γ</a:t>
            </a:r>
            <a:r>
              <a:rPr lang="en-US" sz="2400" i="1" dirty="0">
                <a:solidFill>
                  <a:srgbClr val="FF0000"/>
                </a:solidFill>
                <a:latin typeface="Calibri" charset="0"/>
              </a:rPr>
              <a:t>: d </a:t>
            </a:r>
            <a:r>
              <a:rPr lang="en-US" sz="2400" i="1" dirty="0">
                <a:solidFill>
                  <a:srgbClr val="FF0000"/>
                </a:solidFill>
                <a:latin typeface="Calibri" charset="0"/>
                <a:sym typeface="Wingdings" charset="2"/>
              </a:rPr>
              <a:t> c</a:t>
            </a:r>
            <a:endParaRPr lang="en-US" sz="2400" i="1" dirty="0">
              <a:solidFill>
                <a:srgbClr val="FF0000"/>
              </a:solidFill>
              <a:latin typeface="Calibri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99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/>
          <p:cNvSpPr>
            <a:spLocks noGrp="1" noChangeArrowheads="1"/>
          </p:cNvSpPr>
          <p:nvPr>
            <p:ph type="title"/>
          </p:nvPr>
        </p:nvSpPr>
        <p:spPr>
          <a:xfrm>
            <a:off x="914400" y="361950"/>
            <a:ext cx="7924800" cy="742950"/>
          </a:xfrm>
        </p:spPr>
        <p:txBody>
          <a:bodyPr>
            <a:normAutofit fontScale="90000"/>
          </a:bodyPr>
          <a:lstStyle/>
          <a:p>
            <a:r>
              <a:rPr lang="en-US" sz="3600" dirty="0" err="1"/>
              <a:t>Các</a:t>
            </a:r>
            <a:r>
              <a:rPr lang="en-US" sz="3600" dirty="0"/>
              <a:t> </a:t>
            </a:r>
            <a:r>
              <a:rPr lang="en-US" sz="3600" dirty="0" err="1"/>
              <a:t>phương</a:t>
            </a:r>
            <a:r>
              <a:rPr lang="en-US" sz="3600" dirty="0"/>
              <a:t> </a:t>
            </a:r>
            <a:r>
              <a:rPr lang="en-US" sz="3600" dirty="0" err="1"/>
              <a:t>pháp</a:t>
            </a:r>
            <a:r>
              <a:rPr lang="en-US" sz="3600" dirty="0"/>
              <a:t>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loại</a:t>
            </a:r>
            <a:r>
              <a:rPr lang="en-US" sz="3600" dirty="0"/>
              <a:t>:</a:t>
            </a:r>
            <a:br>
              <a:rPr lang="en-US" sz="3600" dirty="0"/>
            </a:b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giám</a:t>
            </a:r>
            <a:r>
              <a:rPr lang="en-US" dirty="0"/>
              <a:t> </a:t>
            </a:r>
            <a:r>
              <a:rPr lang="en-US" dirty="0" err="1"/>
              <a:t>sát</a:t>
            </a:r>
            <a:endParaRPr lang="en-US" sz="3600" dirty="0"/>
          </a:p>
        </p:txBody>
      </p:sp>
      <p:sp>
        <p:nvSpPr>
          <p:cNvPr id="29699" name="Rectangle 5"/>
          <p:cNvSpPr>
            <a:spLocks noGrp="1" noChangeArrowheads="1"/>
          </p:cNvSpPr>
          <p:nvPr>
            <p:ph idx="1"/>
          </p:nvPr>
        </p:nvSpPr>
        <p:spPr>
          <a:xfrm>
            <a:off x="800099" y="1357643"/>
            <a:ext cx="7543801" cy="3429000"/>
          </a:xfrm>
        </p:spPr>
        <p:txBody>
          <a:bodyPr/>
          <a:lstStyle/>
          <a:p>
            <a:r>
              <a:rPr lang="en-US" sz="2800" dirty="0" err="1">
                <a:latin typeface="Calibri" charset="0"/>
              </a:rPr>
              <a:t>Các</a:t>
            </a:r>
            <a:r>
              <a:rPr lang="en-US" sz="2800" dirty="0">
                <a:latin typeface="Calibri" charset="0"/>
              </a:rPr>
              <a:t> </a:t>
            </a:r>
            <a:r>
              <a:rPr lang="en-US" sz="2800" dirty="0" err="1">
                <a:latin typeface="Calibri" charset="0"/>
              </a:rPr>
              <a:t>bộ</a:t>
            </a:r>
            <a:r>
              <a:rPr lang="en-US" sz="2800" dirty="0">
                <a:latin typeface="Calibri" charset="0"/>
              </a:rPr>
              <a:t> </a:t>
            </a:r>
            <a:r>
              <a:rPr lang="en-US" sz="2800" dirty="0" err="1">
                <a:latin typeface="Calibri" charset="0"/>
              </a:rPr>
              <a:t>phân</a:t>
            </a:r>
            <a:r>
              <a:rPr lang="en-US" sz="2800" dirty="0">
                <a:latin typeface="Calibri" charset="0"/>
              </a:rPr>
              <a:t> </a:t>
            </a:r>
            <a:r>
              <a:rPr lang="en-US" sz="2800" dirty="0" err="1">
                <a:latin typeface="Calibri" charset="0"/>
              </a:rPr>
              <a:t>loại</a:t>
            </a:r>
            <a:endParaRPr lang="en-US" sz="2800" dirty="0">
              <a:latin typeface="Calibri" charset="0"/>
            </a:endParaRPr>
          </a:p>
          <a:p>
            <a:pPr lvl="1"/>
            <a:r>
              <a:rPr lang="en-US" sz="2400" dirty="0">
                <a:latin typeface="Calibri" charset="0"/>
              </a:rPr>
              <a:t>Na</a:t>
            </a:r>
            <a:r>
              <a:rPr lang="fr-FR" sz="2400" dirty="0" err="1">
                <a:latin typeface="Calibri" charset="0"/>
              </a:rPr>
              <a:t>ï</a:t>
            </a:r>
            <a:r>
              <a:rPr lang="en-US" sz="2400" dirty="0" err="1">
                <a:latin typeface="Calibri" charset="0"/>
              </a:rPr>
              <a:t>ve</a:t>
            </a:r>
            <a:r>
              <a:rPr lang="en-US" sz="2400" dirty="0">
                <a:latin typeface="Calibri" charset="0"/>
              </a:rPr>
              <a:t> Bayes</a:t>
            </a:r>
          </a:p>
          <a:p>
            <a:pPr lvl="1"/>
            <a:r>
              <a:rPr lang="en-US" sz="2400" dirty="0">
                <a:latin typeface="Calibri" charset="0"/>
              </a:rPr>
              <a:t>Logistic regression</a:t>
            </a:r>
          </a:p>
          <a:p>
            <a:pPr lvl="1"/>
            <a:r>
              <a:rPr lang="en-US" sz="2400" dirty="0">
                <a:latin typeface="Calibri" charset="0"/>
              </a:rPr>
              <a:t>Neural networks</a:t>
            </a:r>
          </a:p>
          <a:p>
            <a:pPr lvl="1"/>
            <a:r>
              <a:rPr lang="en-US" sz="2400" dirty="0">
                <a:latin typeface="Calibri" charset="0"/>
              </a:rPr>
              <a:t>k-Nearest Neighbors</a:t>
            </a:r>
          </a:p>
          <a:p>
            <a:pPr lvl="1"/>
            <a:r>
              <a:rPr lang="en-US" sz="2400" dirty="0">
                <a:latin typeface="Calibri" charset="0"/>
              </a:rPr>
              <a:t>…</a:t>
            </a:r>
          </a:p>
          <a:p>
            <a:pPr lvl="1"/>
            <a:endParaRPr lang="en-US" sz="1000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27387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 err="1">
                <a:latin typeface="Calibri (Headings)"/>
                <a:cs typeface="Calibri (Headings)"/>
              </a:rPr>
              <a:t>Phân</a:t>
            </a:r>
            <a:r>
              <a:rPr lang="en-US" sz="3400" dirty="0">
                <a:latin typeface="Calibri (Headings)"/>
                <a:cs typeface="Calibri (Headings)"/>
              </a:rPr>
              <a:t> </a:t>
            </a:r>
            <a:r>
              <a:rPr lang="en-US" sz="3400" dirty="0" err="1">
                <a:latin typeface="Calibri (Headings)"/>
                <a:cs typeface="Calibri (Headings)"/>
              </a:rPr>
              <a:t>loại</a:t>
            </a:r>
            <a:r>
              <a:rPr lang="en-US" sz="3400" dirty="0">
                <a:latin typeface="Calibri (Headings)"/>
                <a:cs typeface="Calibri (Headings)"/>
              </a:rPr>
              <a:t> </a:t>
            </a:r>
            <a:r>
              <a:rPr lang="en-US" sz="3400" dirty="0" err="1">
                <a:latin typeface="Calibri (Headings)"/>
                <a:cs typeface="Calibri (Headings)"/>
              </a:rPr>
              <a:t>văn</a:t>
            </a:r>
            <a:r>
              <a:rPr lang="en-US" sz="3400" dirty="0">
                <a:latin typeface="Calibri (Headings)"/>
                <a:cs typeface="Calibri (Headings)"/>
              </a:rPr>
              <a:t> </a:t>
            </a:r>
            <a:r>
              <a:rPr lang="en-US" sz="3400" dirty="0" err="1">
                <a:latin typeface="Calibri (Headings)"/>
                <a:cs typeface="Calibri (Headings)"/>
              </a:rPr>
              <a:t>bản</a:t>
            </a:r>
            <a:r>
              <a:rPr lang="en-US" sz="3400" dirty="0">
                <a:latin typeface="Calibri (Headings)"/>
                <a:cs typeface="Calibri (Headings)"/>
              </a:rPr>
              <a:t> </a:t>
            </a:r>
            <a:r>
              <a:rPr lang="en-US" sz="3400" dirty="0" err="1">
                <a:latin typeface="Calibri (Headings)"/>
                <a:cs typeface="Calibri (Headings)"/>
              </a:rPr>
              <a:t>và</a:t>
            </a:r>
            <a:r>
              <a:rPr lang="en-US" sz="3400" dirty="0">
                <a:latin typeface="Calibri (Headings)"/>
                <a:cs typeface="Calibri (Headings)"/>
              </a:rPr>
              <a:t> Na</a:t>
            </a:r>
            <a:r>
              <a:rPr lang="fr-FR" sz="3400" dirty="0">
                <a:latin typeface="Calibri (Headings)"/>
                <a:cs typeface="Calibri (Headings)"/>
              </a:rPr>
              <a:t>i</a:t>
            </a:r>
            <a:r>
              <a:rPr lang="en-US" sz="3400" dirty="0" err="1">
                <a:latin typeface="Calibri (Headings)"/>
                <a:cs typeface="Calibri (Headings)"/>
              </a:rPr>
              <a:t>ve</a:t>
            </a:r>
            <a:r>
              <a:rPr lang="en-US" sz="3400" dirty="0">
                <a:latin typeface="Calibri (Headings)"/>
                <a:cs typeface="Calibri (Headings)"/>
              </a:rPr>
              <a:t> Bayes</a:t>
            </a:r>
            <a:endParaRPr lang="en-US" sz="34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The Task of Text Classification</a:t>
            </a:r>
          </a:p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(</a:t>
            </a:r>
            <a:r>
              <a:rPr lang="en-US" sz="3600" dirty="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Phân</a:t>
            </a: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</a:t>
            </a:r>
            <a:r>
              <a:rPr lang="en-US" sz="3600" dirty="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loại</a:t>
            </a: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</a:t>
            </a:r>
            <a:r>
              <a:rPr lang="en-US" sz="3600" dirty="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văn</a:t>
            </a: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</a:t>
            </a:r>
            <a:r>
              <a:rPr lang="en-US" sz="3600" dirty="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bản</a:t>
            </a: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)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F3E6B2F-AAD7-8C4C-B78B-52B2DD71A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4607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 err="1">
                <a:latin typeface="Calibri (Headings)"/>
                <a:cs typeface="Calibri (Headings)"/>
              </a:rPr>
              <a:t>Phân</a:t>
            </a:r>
            <a:r>
              <a:rPr lang="en-US" sz="3400" dirty="0">
                <a:latin typeface="Calibri (Headings)"/>
                <a:cs typeface="Calibri (Headings)"/>
              </a:rPr>
              <a:t> </a:t>
            </a:r>
            <a:r>
              <a:rPr lang="en-US" sz="3400" dirty="0" err="1">
                <a:latin typeface="Calibri (Headings)"/>
                <a:cs typeface="Calibri (Headings)"/>
              </a:rPr>
              <a:t>loại</a:t>
            </a:r>
            <a:r>
              <a:rPr lang="en-US" sz="3400" dirty="0">
                <a:latin typeface="Calibri (Headings)"/>
                <a:cs typeface="Calibri (Headings)"/>
              </a:rPr>
              <a:t> </a:t>
            </a:r>
            <a:r>
              <a:rPr lang="en-US" sz="3400" dirty="0" err="1">
                <a:latin typeface="Calibri (Headings)"/>
                <a:cs typeface="Calibri (Headings)"/>
              </a:rPr>
              <a:t>văn</a:t>
            </a:r>
            <a:r>
              <a:rPr lang="en-US" sz="3400" dirty="0">
                <a:latin typeface="Calibri (Headings)"/>
                <a:cs typeface="Calibri (Headings)"/>
              </a:rPr>
              <a:t> </a:t>
            </a:r>
            <a:r>
              <a:rPr lang="en-US" sz="3400" dirty="0" err="1">
                <a:latin typeface="Calibri (Headings)"/>
                <a:cs typeface="Calibri (Headings)"/>
              </a:rPr>
              <a:t>bản</a:t>
            </a:r>
            <a:r>
              <a:rPr lang="en-US" sz="3400" dirty="0">
                <a:latin typeface="Calibri (Headings)"/>
                <a:cs typeface="Calibri (Headings)"/>
              </a:rPr>
              <a:t> </a:t>
            </a:r>
            <a:r>
              <a:rPr lang="en-US" sz="3400" dirty="0" err="1">
                <a:latin typeface="Calibri (Headings)"/>
                <a:cs typeface="Calibri (Headings)"/>
              </a:rPr>
              <a:t>và</a:t>
            </a:r>
            <a:r>
              <a:rPr lang="en-US" sz="3400" dirty="0">
                <a:latin typeface="Calibri (Headings)"/>
                <a:cs typeface="Calibri (Headings)"/>
              </a:rPr>
              <a:t> Na</a:t>
            </a:r>
            <a:r>
              <a:rPr lang="fr-FR" sz="3400" dirty="0">
                <a:latin typeface="Calibri (Headings)"/>
                <a:cs typeface="Calibri (Headings)"/>
              </a:rPr>
              <a:t>i</a:t>
            </a:r>
            <a:r>
              <a:rPr lang="en-US" sz="3400" dirty="0" err="1">
                <a:latin typeface="Calibri (Headings)"/>
                <a:cs typeface="Calibri (Headings)"/>
              </a:rPr>
              <a:t>ve</a:t>
            </a:r>
            <a:r>
              <a:rPr lang="en-US" sz="3400" dirty="0">
                <a:latin typeface="Calibri (Headings)"/>
                <a:cs typeface="Calibri (Headings)"/>
              </a:rPr>
              <a:t> Bayes</a:t>
            </a:r>
            <a:endParaRPr lang="en-US" sz="34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Na</a:t>
            </a:r>
            <a:r>
              <a:rPr lang="fr-FR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i</a:t>
            </a:r>
            <a:r>
              <a:rPr lang="en-US" sz="3600" dirty="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ve</a:t>
            </a: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Bayes (I)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443A39-80F7-3D4D-BCB5-844F1C269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3189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Naive Bayes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822960" y="1352550"/>
            <a:ext cx="7635240" cy="3333750"/>
          </a:xfrm>
        </p:spPr>
        <p:txBody>
          <a:bodyPr/>
          <a:lstStyle/>
          <a:p>
            <a:pPr algn="just"/>
            <a:r>
              <a:rPr lang="en-US" sz="2800" dirty="0" err="1">
                <a:latin typeface="Calibri" charset="0"/>
              </a:rPr>
              <a:t>Phương</a:t>
            </a:r>
            <a:r>
              <a:rPr lang="en-US" sz="2800" dirty="0">
                <a:latin typeface="Calibri" charset="0"/>
              </a:rPr>
              <a:t> </a:t>
            </a:r>
            <a:r>
              <a:rPr lang="en-US" sz="2800" dirty="0" err="1">
                <a:latin typeface="Calibri" charset="0"/>
              </a:rPr>
              <a:t>pháp</a:t>
            </a:r>
            <a:r>
              <a:rPr lang="en-US" sz="2800" dirty="0">
                <a:latin typeface="Calibri" charset="0"/>
              </a:rPr>
              <a:t> </a:t>
            </a:r>
            <a:r>
              <a:rPr lang="en-US" sz="2800" dirty="0" err="1">
                <a:latin typeface="Calibri" charset="0"/>
              </a:rPr>
              <a:t>phân</a:t>
            </a:r>
            <a:r>
              <a:rPr lang="en-US" sz="2800" dirty="0">
                <a:latin typeface="Calibri" charset="0"/>
              </a:rPr>
              <a:t> </a:t>
            </a:r>
            <a:r>
              <a:rPr lang="en-US" sz="2800" dirty="0" err="1">
                <a:latin typeface="Calibri" charset="0"/>
              </a:rPr>
              <a:t>loại</a:t>
            </a:r>
            <a:r>
              <a:rPr lang="en-US" sz="2800" dirty="0">
                <a:latin typeface="Calibri" charset="0"/>
              </a:rPr>
              <a:t> </a:t>
            </a:r>
            <a:r>
              <a:rPr lang="en-US" sz="2800" dirty="0" err="1">
                <a:latin typeface="Calibri" charset="0"/>
              </a:rPr>
              <a:t>đơn</a:t>
            </a:r>
            <a:r>
              <a:rPr lang="en-US" sz="2800" dirty="0">
                <a:latin typeface="Calibri" charset="0"/>
              </a:rPr>
              <a:t> </a:t>
            </a:r>
            <a:r>
              <a:rPr lang="en-US" sz="2800" dirty="0" err="1">
                <a:latin typeface="Calibri" charset="0"/>
              </a:rPr>
              <a:t>giản</a:t>
            </a:r>
            <a:r>
              <a:rPr lang="en-US" sz="2800" dirty="0">
                <a:latin typeface="Calibri" charset="0"/>
              </a:rPr>
              <a:t> (“</a:t>
            </a:r>
            <a:r>
              <a:rPr lang="en-US" sz="2800" dirty="0" err="1">
                <a:latin typeface="Calibri" charset="0"/>
              </a:rPr>
              <a:t>na</a:t>
            </a:r>
            <a:r>
              <a:rPr lang="fr-FR" dirty="0">
                <a:latin typeface="Calibri" charset="0"/>
              </a:rPr>
              <a:t>i</a:t>
            </a:r>
            <a:r>
              <a:rPr lang="en-US" sz="2800" dirty="0" err="1">
                <a:latin typeface="Calibri" charset="0"/>
              </a:rPr>
              <a:t>ve</a:t>
            </a:r>
            <a:r>
              <a:rPr lang="en-US" sz="2800" dirty="0">
                <a:latin typeface="Calibri" charset="0"/>
              </a:rPr>
              <a:t>”) </a:t>
            </a:r>
            <a:r>
              <a:rPr lang="en-US" sz="2800" dirty="0" err="1">
                <a:latin typeface="Calibri" charset="0"/>
              </a:rPr>
              <a:t>dựa</a:t>
            </a:r>
            <a:r>
              <a:rPr lang="en-US" sz="2800" dirty="0">
                <a:latin typeface="Calibri" charset="0"/>
              </a:rPr>
              <a:t> </a:t>
            </a:r>
            <a:r>
              <a:rPr lang="en-US" sz="2800" dirty="0" err="1">
                <a:latin typeface="Calibri" charset="0"/>
              </a:rPr>
              <a:t>trên</a:t>
            </a:r>
            <a:r>
              <a:rPr lang="en-US" sz="2800" dirty="0">
                <a:latin typeface="Calibri" charset="0"/>
              </a:rPr>
              <a:t> </a:t>
            </a:r>
            <a:r>
              <a:rPr lang="en-US" sz="2800" dirty="0" err="1">
                <a:latin typeface="Calibri" charset="0"/>
              </a:rPr>
              <a:t>luật</a:t>
            </a:r>
            <a:r>
              <a:rPr lang="en-US" sz="2800" dirty="0">
                <a:latin typeface="Calibri" charset="0"/>
              </a:rPr>
              <a:t> Bayes</a:t>
            </a:r>
          </a:p>
          <a:p>
            <a:pPr algn="just"/>
            <a:r>
              <a:rPr lang="en-US" sz="2800" dirty="0" err="1">
                <a:latin typeface="Calibri" charset="0"/>
              </a:rPr>
              <a:t>Dựa</a:t>
            </a:r>
            <a:r>
              <a:rPr lang="en-US" sz="2800" dirty="0">
                <a:latin typeface="Calibri" charset="0"/>
              </a:rPr>
              <a:t> </a:t>
            </a:r>
            <a:r>
              <a:rPr lang="en-US" sz="2800" dirty="0" err="1">
                <a:latin typeface="Calibri" charset="0"/>
              </a:rPr>
              <a:t>trên</a:t>
            </a:r>
            <a:r>
              <a:rPr lang="en-US" sz="2800" dirty="0">
                <a:latin typeface="Calibri" charset="0"/>
              </a:rPr>
              <a:t> </a:t>
            </a:r>
            <a:r>
              <a:rPr lang="en-US" sz="2800" dirty="0" err="1">
                <a:latin typeface="Calibri" charset="0"/>
              </a:rPr>
              <a:t>một</a:t>
            </a:r>
            <a:r>
              <a:rPr lang="en-US" sz="2800" dirty="0">
                <a:latin typeface="Calibri" charset="0"/>
              </a:rPr>
              <a:t> </a:t>
            </a:r>
            <a:r>
              <a:rPr lang="en-US" sz="2800" dirty="0" err="1">
                <a:latin typeface="Calibri" charset="0"/>
              </a:rPr>
              <a:t>biểu</a:t>
            </a:r>
            <a:r>
              <a:rPr lang="en-US" sz="2800" dirty="0">
                <a:latin typeface="Calibri" charset="0"/>
              </a:rPr>
              <a:t> </a:t>
            </a:r>
            <a:r>
              <a:rPr lang="en-US" sz="2800" dirty="0" err="1">
                <a:latin typeface="Calibri" charset="0"/>
              </a:rPr>
              <a:t>diễn</a:t>
            </a:r>
            <a:r>
              <a:rPr lang="en-US" sz="2800" dirty="0">
                <a:latin typeface="Calibri" charset="0"/>
              </a:rPr>
              <a:t> </a:t>
            </a:r>
            <a:r>
              <a:rPr lang="en-US" sz="2800" dirty="0" err="1">
                <a:latin typeface="Calibri" charset="0"/>
              </a:rPr>
              <a:t>đơn</a:t>
            </a:r>
            <a:r>
              <a:rPr lang="en-US" sz="2800" dirty="0">
                <a:latin typeface="Calibri" charset="0"/>
              </a:rPr>
              <a:t> </a:t>
            </a:r>
            <a:r>
              <a:rPr lang="en-US" sz="2800" dirty="0" err="1">
                <a:latin typeface="Calibri" charset="0"/>
              </a:rPr>
              <a:t>giản</a:t>
            </a:r>
            <a:r>
              <a:rPr lang="en-US" sz="2800" dirty="0">
                <a:latin typeface="Calibri" charset="0"/>
              </a:rPr>
              <a:t> </a:t>
            </a:r>
            <a:r>
              <a:rPr lang="en-US" sz="2800" dirty="0" err="1">
                <a:latin typeface="Calibri" charset="0"/>
              </a:rPr>
              <a:t>của</a:t>
            </a:r>
            <a:r>
              <a:rPr lang="en-US" sz="2800" dirty="0">
                <a:latin typeface="Calibri" charset="0"/>
              </a:rPr>
              <a:t> </a:t>
            </a:r>
            <a:r>
              <a:rPr lang="en-US" sz="2800" dirty="0" err="1">
                <a:latin typeface="Calibri" charset="0"/>
              </a:rPr>
              <a:t>văn</a:t>
            </a:r>
            <a:r>
              <a:rPr lang="en-US" sz="2800" dirty="0">
                <a:latin typeface="Calibri" charset="0"/>
              </a:rPr>
              <a:t> </a:t>
            </a:r>
            <a:r>
              <a:rPr lang="en-US" sz="2800" dirty="0" err="1">
                <a:latin typeface="Calibri" charset="0"/>
              </a:rPr>
              <a:t>bản</a:t>
            </a:r>
            <a:endParaRPr lang="en-US" sz="2800" dirty="0">
              <a:latin typeface="Calibri" charset="0"/>
            </a:endParaRPr>
          </a:p>
          <a:p>
            <a:pPr lvl="1"/>
            <a:r>
              <a:rPr lang="en-US" sz="2800" b="1" dirty="0">
                <a:latin typeface="Calibri" charset="0"/>
              </a:rPr>
              <a:t>Bag of words (</a:t>
            </a:r>
            <a:r>
              <a:rPr lang="en-US" sz="2800" b="1" dirty="0" err="1">
                <a:latin typeface="Calibri" charset="0"/>
              </a:rPr>
              <a:t>túi</a:t>
            </a:r>
            <a:r>
              <a:rPr lang="en-US" sz="2800" b="1" dirty="0">
                <a:latin typeface="Calibri" charset="0"/>
              </a:rPr>
              <a:t> </a:t>
            </a:r>
            <a:r>
              <a:rPr lang="en-US" sz="2800" b="1" dirty="0" err="1">
                <a:latin typeface="Calibri" charset="0"/>
              </a:rPr>
              <a:t>từ</a:t>
            </a:r>
            <a:r>
              <a:rPr lang="en-US" sz="2800" b="1" dirty="0">
                <a:latin typeface="Calibri" charset="0"/>
              </a:rPr>
              <a:t>)</a:t>
            </a:r>
          </a:p>
          <a:p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8909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57150"/>
            <a:ext cx="7467600" cy="742950"/>
          </a:xfrm>
        </p:spPr>
        <p:txBody>
          <a:bodyPr/>
          <a:lstStyle/>
          <a:p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Bag of Words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5" name="Picture 4" descr="bagofwords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2556"/>
          <a:stretch/>
        </p:blipFill>
        <p:spPr>
          <a:xfrm>
            <a:off x="304800" y="666750"/>
            <a:ext cx="2496312" cy="5143500"/>
          </a:xfrm>
          <a:prstGeom prst="rect">
            <a:avLst/>
          </a:prstGeom>
        </p:spPr>
      </p:pic>
      <p:pic>
        <p:nvPicPr>
          <p:cNvPr id="6" name="Picture 5" descr="bagofwords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68" r="-2024"/>
          <a:stretch/>
        </p:blipFill>
        <p:spPr>
          <a:xfrm>
            <a:off x="6690021" y="742950"/>
            <a:ext cx="2377779" cy="4533900"/>
          </a:xfrm>
          <a:prstGeom prst="rect">
            <a:avLst/>
          </a:prstGeom>
        </p:spPr>
      </p:pic>
      <p:pic>
        <p:nvPicPr>
          <p:cNvPr id="7" name="Picture 6" descr="bagofwords.pd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28" r="27127"/>
          <a:stretch/>
        </p:blipFill>
        <p:spPr>
          <a:xfrm>
            <a:off x="2895600" y="819150"/>
            <a:ext cx="3667421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59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85750"/>
            <a:ext cx="7467600" cy="742950"/>
          </a:xfrm>
        </p:spPr>
        <p:txBody>
          <a:bodyPr/>
          <a:lstStyle/>
          <a:p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bag of words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1905000" y="1352550"/>
            <a:ext cx="4876800" cy="32766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spcBef>
                <a:spcPct val="20000"/>
              </a:spcBef>
            </a:pPr>
            <a:endParaRPr lang="en-US" sz="2000" dirty="0">
              <a:latin typeface="Courier"/>
              <a:cs typeface="Courier"/>
            </a:endParaRPr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381000" y="1733550"/>
            <a:ext cx="1447799" cy="172354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0600" dirty="0" err="1">
                <a:latin typeface="Lucida Grande"/>
                <a:ea typeface="Lucida Grande"/>
                <a:cs typeface="Lucida Grande"/>
              </a:rPr>
              <a:t>γ</a:t>
            </a:r>
            <a:r>
              <a:rPr lang="en-US" sz="10600" dirty="0"/>
              <a:t>(</a:t>
            </a:r>
          </a:p>
        </p:txBody>
      </p:sp>
      <p:sp>
        <p:nvSpPr>
          <p:cNvPr id="32774" name="Text Box 6"/>
          <p:cNvSpPr txBox="1">
            <a:spLocks noChangeArrowheads="1"/>
          </p:cNvSpPr>
          <p:nvPr/>
        </p:nvSpPr>
        <p:spPr bwMode="auto">
          <a:xfrm>
            <a:off x="6732866" y="1838801"/>
            <a:ext cx="2182534" cy="1723549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600" dirty="0"/>
              <a:t>)=c</a:t>
            </a:r>
          </a:p>
        </p:txBody>
      </p:sp>
      <p:graphicFrame>
        <p:nvGraphicFramePr>
          <p:cNvPr id="8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4948400"/>
              </p:ext>
            </p:extLst>
          </p:nvPr>
        </p:nvGraphicFramePr>
        <p:xfrm>
          <a:off x="1905000" y="1352550"/>
          <a:ext cx="4876800" cy="328422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seen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3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sweet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whimsical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recommend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8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happy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...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"/>
                          <a:ea typeface="Arial" charset="0"/>
                          <a:cs typeface="Courier"/>
                        </a:rPr>
                        <a:t>...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Picture 8" descr="Thumbs-down-ico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4248150"/>
            <a:ext cx="558800" cy="503632"/>
          </a:xfrm>
          <a:prstGeom prst="rect">
            <a:avLst/>
          </a:prstGeom>
        </p:spPr>
      </p:pic>
      <p:pic>
        <p:nvPicPr>
          <p:cNvPr id="10" name="Picture 9" descr="Thumbs-up-icon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3562350"/>
            <a:ext cx="591828" cy="53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0931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 err="1">
                <a:latin typeface="Calibri (Headings)"/>
                <a:cs typeface="Calibri (Headings)"/>
              </a:rPr>
              <a:t>Phân</a:t>
            </a:r>
            <a:r>
              <a:rPr lang="en-US" sz="3400" dirty="0">
                <a:latin typeface="Calibri (Headings)"/>
                <a:cs typeface="Calibri (Headings)"/>
              </a:rPr>
              <a:t> </a:t>
            </a:r>
            <a:r>
              <a:rPr lang="en-US" sz="3400" dirty="0" err="1">
                <a:latin typeface="Calibri (Headings)"/>
                <a:cs typeface="Calibri (Headings)"/>
              </a:rPr>
              <a:t>loại</a:t>
            </a:r>
            <a:r>
              <a:rPr lang="en-US" sz="3400" dirty="0">
                <a:latin typeface="Calibri (Headings)"/>
                <a:cs typeface="Calibri (Headings)"/>
              </a:rPr>
              <a:t> </a:t>
            </a:r>
            <a:r>
              <a:rPr lang="en-US" sz="3400" dirty="0" err="1">
                <a:latin typeface="Calibri (Headings)"/>
                <a:cs typeface="Calibri (Headings)"/>
              </a:rPr>
              <a:t>văn</a:t>
            </a:r>
            <a:r>
              <a:rPr lang="en-US" sz="3400" dirty="0">
                <a:latin typeface="Calibri (Headings)"/>
                <a:cs typeface="Calibri (Headings)"/>
              </a:rPr>
              <a:t> </a:t>
            </a:r>
            <a:r>
              <a:rPr lang="en-US" sz="3400" dirty="0" err="1">
                <a:latin typeface="Calibri (Headings)"/>
                <a:cs typeface="Calibri (Headings)"/>
              </a:rPr>
              <a:t>bản</a:t>
            </a:r>
            <a:r>
              <a:rPr lang="en-US" sz="3400" dirty="0">
                <a:latin typeface="Calibri (Headings)"/>
                <a:cs typeface="Calibri (Headings)"/>
              </a:rPr>
              <a:t> and Na</a:t>
            </a:r>
            <a:r>
              <a:rPr lang="fr-FR" sz="3400" dirty="0" err="1">
                <a:latin typeface="Calibri (Headings)"/>
                <a:cs typeface="Calibri (Headings)"/>
              </a:rPr>
              <a:t>ï</a:t>
            </a:r>
            <a:r>
              <a:rPr lang="en-US" sz="3400" dirty="0" err="1">
                <a:latin typeface="Calibri (Headings)"/>
                <a:cs typeface="Calibri (Headings)"/>
              </a:rPr>
              <a:t>ve</a:t>
            </a:r>
            <a:r>
              <a:rPr lang="en-US" sz="3400" dirty="0">
                <a:latin typeface="Calibri (Headings)"/>
                <a:cs typeface="Calibri (Headings)"/>
              </a:rPr>
              <a:t> Bayes</a:t>
            </a:r>
            <a:endParaRPr lang="en-US" sz="34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Na</a:t>
            </a:r>
            <a:r>
              <a:rPr lang="fr-FR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i</a:t>
            </a:r>
            <a:r>
              <a:rPr lang="en-US" sz="3600" dirty="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ve</a:t>
            </a: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Bayes (I)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23AD40-86E6-CF49-AF31-6F033B3A6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94563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 err="1">
                <a:latin typeface="Calibri (Headings)"/>
                <a:cs typeface="Calibri (Headings)"/>
              </a:rPr>
              <a:t>Phân</a:t>
            </a:r>
            <a:r>
              <a:rPr lang="en-US" sz="3400" dirty="0">
                <a:latin typeface="Calibri (Headings)"/>
                <a:cs typeface="Calibri (Headings)"/>
              </a:rPr>
              <a:t> </a:t>
            </a:r>
            <a:r>
              <a:rPr lang="en-US" sz="3400" dirty="0" err="1">
                <a:latin typeface="Calibri (Headings)"/>
                <a:cs typeface="Calibri (Headings)"/>
              </a:rPr>
              <a:t>loại</a:t>
            </a:r>
            <a:r>
              <a:rPr lang="en-US" sz="3400" dirty="0">
                <a:latin typeface="Calibri (Headings)"/>
                <a:cs typeface="Calibri (Headings)"/>
              </a:rPr>
              <a:t> </a:t>
            </a:r>
            <a:r>
              <a:rPr lang="en-US" sz="3400" dirty="0" err="1">
                <a:latin typeface="Calibri (Headings)"/>
                <a:cs typeface="Calibri (Headings)"/>
              </a:rPr>
              <a:t>văn</a:t>
            </a:r>
            <a:r>
              <a:rPr lang="en-US" sz="3400" dirty="0">
                <a:latin typeface="Calibri (Headings)"/>
                <a:cs typeface="Calibri (Headings)"/>
              </a:rPr>
              <a:t> </a:t>
            </a:r>
            <a:r>
              <a:rPr lang="en-US" sz="3400" dirty="0" err="1">
                <a:latin typeface="Calibri (Headings)"/>
                <a:cs typeface="Calibri (Headings)"/>
              </a:rPr>
              <a:t>bản</a:t>
            </a:r>
            <a:r>
              <a:rPr lang="en-US" sz="3400" dirty="0">
                <a:latin typeface="Calibri (Headings)"/>
                <a:cs typeface="Calibri (Headings)"/>
              </a:rPr>
              <a:t> and Na</a:t>
            </a:r>
            <a:r>
              <a:rPr lang="fr-FR" sz="3400" dirty="0" err="1">
                <a:latin typeface="Calibri (Headings)"/>
                <a:cs typeface="Calibri (Headings)"/>
              </a:rPr>
              <a:t>ï</a:t>
            </a:r>
            <a:r>
              <a:rPr lang="en-US" sz="3400" dirty="0" err="1">
                <a:latin typeface="Calibri (Headings)"/>
                <a:cs typeface="Calibri (Headings)"/>
              </a:rPr>
              <a:t>ve</a:t>
            </a:r>
            <a:r>
              <a:rPr lang="en-US" sz="3400" dirty="0">
                <a:latin typeface="Calibri (Headings)"/>
                <a:cs typeface="Calibri (Headings)"/>
              </a:rPr>
              <a:t> Bayes</a:t>
            </a:r>
            <a:endParaRPr lang="en-US" sz="34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 dirty="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Bộ</a:t>
            </a: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</a:t>
            </a:r>
            <a:r>
              <a:rPr lang="en-US" sz="3600" dirty="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phân</a:t>
            </a: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</a:t>
            </a:r>
            <a:r>
              <a:rPr lang="en-US" sz="3600" dirty="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lớp</a:t>
            </a: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Na</a:t>
            </a:r>
            <a:r>
              <a:rPr lang="fr-FR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i</a:t>
            </a:r>
            <a:r>
              <a:rPr lang="en-US" sz="3600" dirty="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ve</a:t>
            </a: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Bayes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99A75B-FCD8-E64D-879F-CB5BFE44A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3515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>
          <a:xfrm>
            <a:off x="822960" y="119702"/>
            <a:ext cx="7543800" cy="1004248"/>
          </a:xfrm>
        </p:spPr>
        <p:txBody>
          <a:bodyPr>
            <a:normAutofit fontScale="90000"/>
          </a:bodyPr>
          <a:lstStyle/>
          <a:p>
            <a:r>
              <a:rPr lang="en-US" dirty="0"/>
              <a:t>Qui </a:t>
            </a:r>
            <a:r>
              <a:rPr lang="en-US" dirty="0" err="1"/>
              <a:t>tắc</a:t>
            </a:r>
            <a:r>
              <a:rPr lang="en-US" dirty="0"/>
              <a:t> Bayes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lớp</a:t>
            </a:r>
            <a:endParaRPr lang="en-US" dirty="0"/>
          </a:p>
        </p:txBody>
      </p:sp>
      <p:sp>
        <p:nvSpPr>
          <p:cNvPr id="10" name="Content Placeholder 1"/>
          <p:cNvSpPr>
            <a:spLocks noGrp="1"/>
          </p:cNvSpPr>
          <p:nvPr>
            <p:ph idx="1"/>
          </p:nvPr>
        </p:nvSpPr>
        <p:spPr>
          <a:xfrm>
            <a:off x="304800" y="1384300"/>
            <a:ext cx="8229600" cy="2667000"/>
          </a:xfrm>
        </p:spPr>
        <p:txBody>
          <a:bodyPr/>
          <a:lstStyle/>
          <a:p>
            <a:pPr marL="228600" indent="-228600">
              <a:spcBef>
                <a:spcPct val="50000"/>
              </a:spcBef>
              <a:buFontTx/>
              <a:buChar char="•"/>
            </a:pPr>
            <a:r>
              <a:rPr lang="en-US" sz="3200" dirty="0"/>
              <a:t>Cho </a:t>
            </a:r>
            <a:r>
              <a:rPr lang="en-US" sz="3200" dirty="0" err="1"/>
              <a:t>một</a:t>
            </a:r>
            <a:r>
              <a:rPr lang="en-US" sz="3200" dirty="0"/>
              <a:t> </a:t>
            </a:r>
            <a:r>
              <a:rPr lang="en-US" sz="3200" dirty="0" err="1"/>
              <a:t>văn</a:t>
            </a:r>
            <a:r>
              <a:rPr lang="en-US" sz="3200" dirty="0"/>
              <a:t> </a:t>
            </a:r>
            <a:r>
              <a:rPr lang="en-US" sz="3200" dirty="0" err="1"/>
              <a:t>bản</a:t>
            </a:r>
            <a:r>
              <a:rPr lang="en-US" sz="3200" dirty="0"/>
              <a:t> </a:t>
            </a:r>
            <a:r>
              <a:rPr lang="en-US" sz="3600" i="1" dirty="0">
                <a:solidFill>
                  <a:srgbClr val="FF0000"/>
                </a:solidFill>
              </a:rPr>
              <a:t>d</a:t>
            </a:r>
            <a:r>
              <a:rPr lang="en-US" sz="4000" dirty="0"/>
              <a:t> </a:t>
            </a:r>
            <a:r>
              <a:rPr lang="en-US" sz="3600" dirty="0" err="1"/>
              <a:t>và</a:t>
            </a:r>
            <a:r>
              <a:rPr lang="en-US" sz="3600" dirty="0"/>
              <a:t> </a:t>
            </a:r>
            <a:r>
              <a:rPr lang="en-US" sz="3600" dirty="0" err="1"/>
              <a:t>một</a:t>
            </a:r>
            <a:r>
              <a:rPr lang="en-US" sz="3600" dirty="0"/>
              <a:t> </a:t>
            </a:r>
            <a:r>
              <a:rPr lang="en-US" sz="3600" dirty="0" err="1"/>
              <a:t>lớp</a:t>
            </a:r>
            <a:r>
              <a:rPr lang="en-US" sz="3600" dirty="0"/>
              <a:t> </a:t>
            </a:r>
            <a:r>
              <a:rPr lang="en-US" sz="4000" i="1" dirty="0">
                <a:solidFill>
                  <a:srgbClr val="FF0000"/>
                </a:solidFill>
              </a:rPr>
              <a:t>c</a:t>
            </a:r>
            <a:endParaRPr lang="en-US" sz="3200" i="1" dirty="0">
              <a:solidFill>
                <a:srgbClr val="FF0000"/>
              </a:solidFill>
            </a:endParaRP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393601"/>
              </p:ext>
            </p:extLst>
          </p:nvPr>
        </p:nvGraphicFramePr>
        <p:xfrm>
          <a:off x="2479675" y="2759075"/>
          <a:ext cx="4421188" cy="137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5" name="Equation" r:id="rId3" imgW="1371600" imgH="419100" progId="Equation.3">
                  <p:embed/>
                </p:oleObj>
              </mc:Choice>
              <mc:Fallback>
                <p:oleObj name="Equation" r:id="rId3" imgW="13716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9675" y="2759075"/>
                        <a:ext cx="4421188" cy="1377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0674656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Na</a:t>
            </a:r>
            <a:r>
              <a:rPr lang="fr-FR" dirty="0"/>
              <a:t>i</a:t>
            </a:r>
            <a:r>
              <a:rPr lang="en-US" dirty="0" err="1"/>
              <a:t>ve</a:t>
            </a:r>
            <a:r>
              <a:rPr lang="en-US" dirty="0"/>
              <a:t> Bayes (I)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6637004"/>
              </p:ext>
            </p:extLst>
          </p:nvPr>
        </p:nvGraphicFramePr>
        <p:xfrm>
          <a:off x="1672596" y="1633538"/>
          <a:ext cx="4072567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5" name="Equation" r:id="rId3" imgW="1371600" imgH="292100" progId="Equation.3">
                  <p:embed/>
                </p:oleObj>
              </mc:Choice>
              <mc:Fallback>
                <p:oleObj name="Equation" r:id="rId3" imgW="13716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2596" y="1633538"/>
                        <a:ext cx="4072567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9616719"/>
              </p:ext>
            </p:extLst>
          </p:nvPr>
        </p:nvGraphicFramePr>
        <p:xfrm>
          <a:off x="2542619" y="2495550"/>
          <a:ext cx="4010581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6" name="Equation" r:id="rId5" imgW="1371600" imgH="419100" progId="Equation.3">
                  <p:embed/>
                </p:oleObj>
              </mc:Choice>
              <mc:Fallback>
                <p:oleObj name="Equation" r:id="rId5" imgW="13716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2619" y="2495550"/>
                        <a:ext cx="4010581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638856"/>
              </p:ext>
            </p:extLst>
          </p:nvPr>
        </p:nvGraphicFramePr>
        <p:xfrm>
          <a:off x="2511425" y="3867150"/>
          <a:ext cx="3886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7" name="Equation" r:id="rId7" imgW="1346200" imgH="292100" progId="Equation.3">
                  <p:embed/>
                </p:oleObj>
              </mc:Choice>
              <mc:Fallback>
                <p:oleObj name="Equation" r:id="rId7" imgW="13462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425" y="3867150"/>
                        <a:ext cx="3886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6248400" y="1581150"/>
            <a:ext cx="2438400" cy="830997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1600" dirty="0"/>
              <a:t>MAP is “maximum a posteriori”  = most likely class</a:t>
            </a:r>
          </a:p>
        </p:txBody>
      </p:sp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6934200" y="2876550"/>
            <a:ext cx="1676400" cy="338554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1600" dirty="0" err="1"/>
              <a:t>Luật</a:t>
            </a:r>
            <a:r>
              <a:rPr lang="en-US" altLang="zh-TW" sz="1600" dirty="0"/>
              <a:t> Bayes</a:t>
            </a:r>
          </a:p>
        </p:txBody>
      </p:sp>
      <p:sp>
        <p:nvSpPr>
          <p:cNvPr id="12" name="Text Box 16"/>
          <p:cNvSpPr txBox="1">
            <a:spLocks noChangeArrowheads="1"/>
          </p:cNvSpPr>
          <p:nvPr/>
        </p:nvSpPr>
        <p:spPr bwMode="auto">
          <a:xfrm>
            <a:off x="7010400" y="3943350"/>
            <a:ext cx="1676400" cy="338554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1600" dirty="0" err="1"/>
              <a:t>Loại</a:t>
            </a:r>
            <a:r>
              <a:rPr lang="en-US" altLang="zh-TW" sz="1600" dirty="0"/>
              <a:t> </a:t>
            </a:r>
            <a:r>
              <a:rPr lang="en-US" altLang="zh-TW" sz="1600" dirty="0" err="1"/>
              <a:t>bỏ</a:t>
            </a:r>
            <a:r>
              <a:rPr lang="en-US" altLang="zh-TW" sz="1600" dirty="0"/>
              <a:t> </a:t>
            </a:r>
            <a:r>
              <a:rPr lang="en-US" altLang="zh-TW" sz="1600" dirty="0" err="1"/>
              <a:t>mẫu</a:t>
            </a:r>
            <a:r>
              <a:rPr lang="en-US" altLang="zh-TW" sz="1600" dirty="0"/>
              <a:t> </a:t>
            </a:r>
            <a:r>
              <a:rPr lang="en-US" altLang="zh-TW" sz="1600" dirty="0" err="1"/>
              <a:t>số</a:t>
            </a:r>
            <a:endParaRPr lang="en-US" altLang="zh-TW" sz="1600" dirty="0"/>
          </a:p>
        </p:txBody>
      </p:sp>
    </p:spTree>
    <p:extLst>
      <p:ext uri="{BB962C8B-B14F-4D97-AF65-F5344CB8AC3E}">
        <p14:creationId xmlns:p14="http://schemas.microsoft.com/office/powerpoint/2010/main" val="1097180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 animBg="1"/>
      <p:bldP spid="11" grpId="0" animBg="1"/>
      <p:bldP spid="12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Na</a:t>
            </a:r>
            <a:r>
              <a:rPr lang="fr-FR" dirty="0"/>
              <a:t>i</a:t>
            </a:r>
            <a:r>
              <a:rPr lang="en-US" dirty="0" err="1"/>
              <a:t>ve</a:t>
            </a:r>
            <a:r>
              <a:rPr lang="en-US" dirty="0"/>
              <a:t> Bayes (II)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248283"/>
              </p:ext>
            </p:extLst>
          </p:nvPr>
        </p:nvGraphicFramePr>
        <p:xfrm>
          <a:off x="381000" y="1581150"/>
          <a:ext cx="4900612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5" name="Equation" r:id="rId3" imgW="1651000" imgH="292100" progId="Equation.3">
                  <p:embed/>
                </p:oleObj>
              </mc:Choice>
              <mc:Fallback>
                <p:oleObj name="Equation" r:id="rId3" imgW="16510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581150"/>
                        <a:ext cx="4900612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7162800" y="2443728"/>
            <a:ext cx="1676400" cy="1077218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1600" dirty="0"/>
              <a:t>Văn </a:t>
            </a:r>
            <a:r>
              <a:rPr lang="en-US" altLang="zh-TW" sz="1600" dirty="0" err="1"/>
              <a:t>bản</a:t>
            </a:r>
            <a:r>
              <a:rPr lang="en-US" altLang="zh-TW" sz="1600" dirty="0"/>
              <a:t> d </a:t>
            </a:r>
            <a:r>
              <a:rPr lang="en-US" altLang="zh-TW" sz="1600" dirty="0" err="1"/>
              <a:t>được</a:t>
            </a:r>
            <a:r>
              <a:rPr lang="en-US" altLang="zh-TW" sz="1600" dirty="0"/>
              <a:t> </a:t>
            </a:r>
            <a:r>
              <a:rPr lang="en-US" altLang="zh-TW" sz="1600" dirty="0" err="1"/>
              <a:t>biểu</a:t>
            </a:r>
            <a:r>
              <a:rPr lang="en-US" altLang="zh-TW" sz="1600" dirty="0"/>
              <a:t> </a:t>
            </a:r>
            <a:r>
              <a:rPr lang="en-US" altLang="zh-TW" sz="1600" dirty="0" err="1"/>
              <a:t>diễn</a:t>
            </a:r>
            <a:r>
              <a:rPr lang="en-US" altLang="zh-TW" sz="1600" dirty="0"/>
              <a:t> </a:t>
            </a:r>
            <a:r>
              <a:rPr lang="en-US" altLang="zh-TW" sz="1600" dirty="0" err="1"/>
              <a:t>như</a:t>
            </a:r>
            <a:r>
              <a:rPr lang="en-US" altLang="zh-TW" sz="1600" dirty="0"/>
              <a:t> </a:t>
            </a:r>
            <a:r>
              <a:rPr lang="en-US" altLang="zh-TW" sz="1600" dirty="0" err="1"/>
              <a:t>các</a:t>
            </a:r>
            <a:r>
              <a:rPr lang="en-US" altLang="zh-TW" sz="1600" dirty="0"/>
              <a:t> </a:t>
            </a:r>
            <a:r>
              <a:rPr lang="en-US" altLang="zh-TW" sz="1600" dirty="0" err="1"/>
              <a:t>đặc</a:t>
            </a:r>
            <a:r>
              <a:rPr lang="en-US" altLang="zh-TW" sz="1600" dirty="0"/>
              <a:t> </a:t>
            </a:r>
            <a:r>
              <a:rPr lang="en-US" altLang="zh-TW" sz="1600" dirty="0" err="1"/>
              <a:t>trưng</a:t>
            </a:r>
            <a:r>
              <a:rPr lang="en-US" altLang="zh-TW" sz="1600" dirty="0"/>
              <a:t> x1..xn</a:t>
            </a:r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9749968"/>
              </p:ext>
            </p:extLst>
          </p:nvPr>
        </p:nvGraphicFramePr>
        <p:xfrm>
          <a:off x="1295400" y="2724150"/>
          <a:ext cx="5768975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26" name="Equation" r:id="rId5" imgW="1943100" imgH="292100" progId="Equation.3">
                  <p:embed/>
                </p:oleObj>
              </mc:Choice>
              <mc:Fallback>
                <p:oleObj name="Equation" r:id="rId5" imgW="19431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724150"/>
                        <a:ext cx="5768975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6">
            <a:extLst>
              <a:ext uri="{FF2B5EF4-FFF2-40B4-BE49-F238E27FC236}">
                <a16:creationId xmlns:a16="http://schemas.microsoft.com/office/drawing/2014/main" id="{52B07BB6-9AF9-2C40-8218-DA3DF1B92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130885"/>
            <a:ext cx="1371600" cy="338554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1600" dirty="0"/>
              <a:t>"Likelihood"</a:t>
            </a:r>
          </a:p>
        </p:txBody>
      </p:sp>
      <p:sp>
        <p:nvSpPr>
          <p:cNvPr id="8" name="Text Box 16">
            <a:extLst>
              <a:ext uri="{FF2B5EF4-FFF2-40B4-BE49-F238E27FC236}">
                <a16:creationId xmlns:a16="http://schemas.microsoft.com/office/drawing/2014/main" id="{47240457-6AFA-094B-9A1E-FFC09A3D7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412" y="1141037"/>
            <a:ext cx="838200" cy="338554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1600" dirty="0"/>
              <a:t>"Prior"</a:t>
            </a:r>
          </a:p>
        </p:txBody>
      </p:sp>
    </p:spTree>
    <p:extLst>
      <p:ext uri="{BB962C8B-B14F-4D97-AF65-F5344CB8AC3E}">
        <p14:creationId xmlns:p14="http://schemas.microsoft.com/office/powerpoint/2010/main" val="29614607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81000"/>
            <a:ext cx="7620000" cy="742950"/>
          </a:xfrm>
        </p:spPr>
        <p:txBody>
          <a:bodyPr/>
          <a:lstStyle/>
          <a:p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Na</a:t>
            </a:r>
            <a:r>
              <a:rPr lang="fr-FR" dirty="0" err="1"/>
              <a:t>ï</a:t>
            </a:r>
            <a:r>
              <a:rPr lang="en-US" dirty="0" err="1"/>
              <a:t>ve</a:t>
            </a:r>
            <a:r>
              <a:rPr lang="en-US" dirty="0"/>
              <a:t> Bayes (IV)</a:t>
            </a:r>
          </a:p>
        </p:txBody>
      </p:sp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6324600" y="2655153"/>
            <a:ext cx="2438400" cy="584776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1600" dirty="0"/>
              <a:t>How often does this class occur?</a:t>
            </a:r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591522"/>
              </p:ext>
            </p:extLst>
          </p:nvPr>
        </p:nvGraphicFramePr>
        <p:xfrm>
          <a:off x="762000" y="1504950"/>
          <a:ext cx="6637337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1" name="Equation" r:id="rId3" imgW="2235200" imgH="292100" progId="Equation.3">
                  <p:embed/>
                </p:oleObj>
              </mc:Choice>
              <mc:Fallback>
                <p:oleObj name="Equation" r:id="rId3" imgW="22352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504950"/>
                        <a:ext cx="6637337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6"/>
          <p:cNvSpPr txBox="1">
            <a:spLocks noChangeArrowheads="1"/>
          </p:cNvSpPr>
          <p:nvPr/>
        </p:nvSpPr>
        <p:spPr bwMode="auto">
          <a:xfrm>
            <a:off x="1600200" y="2602290"/>
            <a:ext cx="4343400" cy="461665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lvl="1" eaLnBrk="1" hangingPunct="1"/>
            <a:r>
              <a:rPr lang="en-US" dirty="0">
                <a:latin typeface="Calibri" charset="0"/>
                <a:cs typeface="Arial" charset="0"/>
              </a:rPr>
              <a:t>O(|</a:t>
            </a:r>
            <a:r>
              <a:rPr lang="en-US" i="1" dirty="0" err="1">
                <a:latin typeface="Calibri" charset="0"/>
                <a:cs typeface="Arial" charset="0"/>
              </a:rPr>
              <a:t>X</a:t>
            </a:r>
            <a:r>
              <a:rPr lang="en-US" dirty="0" err="1">
                <a:latin typeface="Calibri" charset="0"/>
                <a:cs typeface="Arial" charset="0"/>
              </a:rPr>
              <a:t>|</a:t>
            </a:r>
            <a:r>
              <a:rPr lang="en-US" i="1" baseline="30000" dirty="0" err="1">
                <a:latin typeface="Calibri" charset="0"/>
                <a:cs typeface="Arial" charset="0"/>
              </a:rPr>
              <a:t>n</a:t>
            </a:r>
            <a:r>
              <a:rPr lang="en-US" dirty="0">
                <a:latin typeface="Calibri" charset="0"/>
                <a:cs typeface="Arial" charset="0"/>
                <a:sym typeface="Symbol" charset="0"/>
              </a:rPr>
              <a:t>•|</a:t>
            </a:r>
            <a:r>
              <a:rPr lang="en-US" i="1" dirty="0">
                <a:latin typeface="Calibri" charset="0"/>
                <a:cs typeface="Arial" charset="0"/>
                <a:sym typeface="Symbol" charset="0"/>
              </a:rPr>
              <a:t>C</a:t>
            </a:r>
            <a:r>
              <a:rPr lang="en-US" dirty="0">
                <a:latin typeface="Calibri" charset="0"/>
                <a:cs typeface="Arial" charset="0"/>
                <a:sym typeface="Symbol" charset="0"/>
              </a:rPr>
              <a:t>|) parameters</a:t>
            </a:r>
            <a:endParaRPr lang="en-US" dirty="0">
              <a:latin typeface="Calibri" charset="0"/>
              <a:cs typeface="Arial" charset="0"/>
            </a:endParaRPr>
          </a:p>
        </p:txBody>
      </p:sp>
      <p:sp>
        <p:nvSpPr>
          <p:cNvPr id="8" name="Text Box 16"/>
          <p:cNvSpPr txBox="1">
            <a:spLocks noChangeArrowheads="1"/>
          </p:cNvSpPr>
          <p:nvPr/>
        </p:nvSpPr>
        <p:spPr bwMode="auto">
          <a:xfrm>
            <a:off x="6400800" y="3645753"/>
            <a:ext cx="2438400" cy="830997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en-US" altLang="zh-TW" sz="1600" dirty="0"/>
              <a:t>We can just count the relative frequencies in a corpus</a:t>
            </a:r>
          </a:p>
        </p:txBody>
      </p:sp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1600200" y="3364290"/>
            <a:ext cx="4343400" cy="1569660"/>
          </a:xfrm>
          <a:prstGeom prst="rect">
            <a:avLst/>
          </a:prstGeom>
          <a:solidFill>
            <a:srgbClr val="FFCC66"/>
          </a:solidFill>
          <a:ln w="317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lvl="1" eaLnBrk="1" hangingPunct="1"/>
            <a:r>
              <a:rPr lang="en-US" dirty="0">
                <a:latin typeface="Calibri" charset="0"/>
              </a:rPr>
              <a:t>Could only be estimated if a very, very large number of training examples was available.</a:t>
            </a:r>
          </a:p>
        </p:txBody>
      </p:sp>
    </p:spTree>
    <p:extLst>
      <p:ext uri="{BB962C8B-B14F-4D97-AF65-F5344CB8AC3E}">
        <p14:creationId xmlns:p14="http://schemas.microsoft.com/office/powerpoint/2010/main" val="31487170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6" grpId="0" animBg="1"/>
      <p:bldP spid="8" grpId="0" animBg="1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620000" cy="1123950"/>
          </a:xfrm>
        </p:spPr>
        <p:txBody>
          <a:bodyPr/>
          <a:lstStyle/>
          <a:p>
            <a:r>
              <a:rPr lang="en-US" dirty="0"/>
              <a:t>Multinomial Na</a:t>
            </a:r>
            <a:r>
              <a:rPr lang="fr-FR" dirty="0"/>
              <a:t>i</a:t>
            </a:r>
            <a:r>
              <a:rPr lang="en-US" dirty="0" err="1"/>
              <a:t>ve</a:t>
            </a:r>
            <a:r>
              <a:rPr lang="en-US" dirty="0"/>
              <a:t> Bayes Independence Assumptions</a:t>
            </a:r>
          </a:p>
        </p:txBody>
      </p:sp>
      <p:sp>
        <p:nvSpPr>
          <p:cNvPr id="12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2190750"/>
            <a:ext cx="8686800" cy="2590800"/>
          </a:xfrm>
        </p:spPr>
        <p:txBody>
          <a:bodyPr/>
          <a:lstStyle/>
          <a:p>
            <a:r>
              <a:rPr lang="en-US" sz="2800" b="1" dirty="0">
                <a:latin typeface="Calibri" charset="0"/>
                <a:sym typeface="Symbol" charset="2"/>
              </a:rPr>
              <a:t>Bag of Words assumption</a:t>
            </a:r>
            <a:r>
              <a:rPr lang="en-US" sz="2800" dirty="0">
                <a:latin typeface="Calibri" charset="0"/>
                <a:sym typeface="Symbol" charset="2"/>
              </a:rPr>
              <a:t>: Assume position doesn’t matter</a:t>
            </a:r>
          </a:p>
          <a:p>
            <a:pPr algn="just"/>
            <a:r>
              <a:rPr lang="en-US" sz="2800" b="1" dirty="0">
                <a:latin typeface="Calibri" charset="0"/>
                <a:sym typeface="Symbol" charset="2"/>
              </a:rPr>
              <a:t>Conditional Independence</a:t>
            </a:r>
            <a:r>
              <a:rPr lang="en-US" sz="2800" dirty="0">
                <a:latin typeface="Calibri" charset="0"/>
                <a:sym typeface="Symbol" charset="2"/>
              </a:rPr>
              <a:t>: Assume the feature probabilities </a:t>
            </a:r>
            <a:r>
              <a:rPr lang="en-US" sz="2800" i="1" dirty="0">
                <a:latin typeface="Calibri" charset="0"/>
                <a:sym typeface="Symbol" charset="2"/>
              </a:rPr>
              <a:t>P</a:t>
            </a:r>
            <a:r>
              <a:rPr lang="en-US" sz="2800" dirty="0">
                <a:latin typeface="Calibri" charset="0"/>
                <a:sym typeface="Symbol" charset="2"/>
              </a:rPr>
              <a:t>(</a:t>
            </a:r>
            <a:r>
              <a:rPr lang="en-US" sz="2800" i="1" dirty="0" err="1">
                <a:latin typeface="Calibri" charset="0"/>
                <a:sym typeface="Symbol" charset="2"/>
              </a:rPr>
              <a:t>x</a:t>
            </a:r>
            <a:r>
              <a:rPr lang="en-US" sz="2800" i="1" baseline="-25000" dirty="0" err="1">
                <a:latin typeface="Calibri" charset="0"/>
                <a:sym typeface="Symbol" charset="2"/>
              </a:rPr>
              <a:t>i</a:t>
            </a:r>
            <a:r>
              <a:rPr lang="en-US" sz="2800" dirty="0" err="1">
                <a:latin typeface="Calibri" charset="0"/>
                <a:sym typeface="Symbol" charset="2"/>
              </a:rPr>
              <a:t>|</a:t>
            </a:r>
            <a:r>
              <a:rPr lang="en-US" sz="2800" i="1" dirty="0" err="1">
                <a:latin typeface="Calibri" charset="0"/>
                <a:sym typeface="Symbol" charset="2"/>
              </a:rPr>
              <a:t>c</a:t>
            </a:r>
            <a:r>
              <a:rPr lang="en-US" sz="2800" i="1" baseline="-25000" dirty="0" err="1">
                <a:latin typeface="Calibri" charset="0"/>
                <a:sym typeface="Symbol" charset="2"/>
              </a:rPr>
              <a:t>j</a:t>
            </a:r>
            <a:r>
              <a:rPr lang="en-US" sz="2800" dirty="0">
                <a:latin typeface="Calibri" charset="0"/>
                <a:sym typeface="Symbol" charset="2"/>
              </a:rPr>
              <a:t>) are independent given the class </a:t>
            </a:r>
            <a:r>
              <a:rPr lang="en-US" sz="2800" i="1" dirty="0">
                <a:latin typeface="Calibri" charset="0"/>
                <a:sym typeface="Symbol" charset="2"/>
              </a:rPr>
              <a:t>c.</a:t>
            </a:r>
            <a:endParaRPr lang="en-US" sz="2800" i="1" dirty="0">
              <a:latin typeface="Times New Roman" charset="0"/>
            </a:endParaRPr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4044290"/>
              </p:ext>
            </p:extLst>
          </p:nvPr>
        </p:nvGraphicFramePr>
        <p:xfrm>
          <a:off x="2590800" y="971550"/>
          <a:ext cx="3205162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1" name="Equation" r:id="rId3" imgW="1079500" imgH="215900" progId="Equation.3">
                  <p:embed/>
                </p:oleObj>
              </mc:Choice>
              <mc:Fallback>
                <p:oleObj name="Equation" r:id="rId3" imgW="10795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971550"/>
                        <a:ext cx="3205162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0069037"/>
              </p:ext>
            </p:extLst>
          </p:nvPr>
        </p:nvGraphicFramePr>
        <p:xfrm>
          <a:off x="661988" y="4324350"/>
          <a:ext cx="78263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2" name="Equation" r:id="rId5" imgW="3492500" imgH="215900" progId="Equation.3">
                  <p:embed/>
                </p:oleObj>
              </mc:Choice>
              <mc:Fallback>
                <p:oleObj name="Equation" r:id="rId5" imgW="34925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8" y="4324350"/>
                        <a:ext cx="78263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4898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81000"/>
            <a:ext cx="7620000" cy="742950"/>
          </a:xfrm>
        </p:spPr>
        <p:txBody>
          <a:bodyPr/>
          <a:lstStyle/>
          <a:p>
            <a:r>
              <a:rPr lang="en-US" dirty="0"/>
              <a:t>Multinomial Na</a:t>
            </a:r>
            <a:r>
              <a:rPr lang="fr-FR" dirty="0"/>
              <a:t>i</a:t>
            </a:r>
            <a:r>
              <a:rPr lang="en-US" dirty="0" err="1"/>
              <a:t>ve</a:t>
            </a:r>
            <a:r>
              <a:rPr lang="en-US" dirty="0"/>
              <a:t> Bayes Classifier</a:t>
            </a:r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395911"/>
              </p:ext>
            </p:extLst>
          </p:nvPr>
        </p:nvGraphicFramePr>
        <p:xfrm>
          <a:off x="762000" y="1504950"/>
          <a:ext cx="6637337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9" name="Equation" r:id="rId3" imgW="2235200" imgH="292100" progId="Equation.3">
                  <p:embed/>
                </p:oleObj>
              </mc:Choice>
              <mc:Fallback>
                <p:oleObj name="Equation" r:id="rId3" imgW="22352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504950"/>
                        <a:ext cx="6637337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451346"/>
              </p:ext>
            </p:extLst>
          </p:nvPr>
        </p:nvGraphicFramePr>
        <p:xfrm>
          <a:off x="914400" y="2730500"/>
          <a:ext cx="56356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20" name="Equation" r:id="rId5" imgW="1828800" imgH="368300" progId="Equation.3">
                  <p:embed/>
                </p:oleObj>
              </mc:Choice>
              <mc:Fallback>
                <p:oleObj name="Equation" r:id="rId5" imgW="18288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730500"/>
                        <a:ext cx="5635625" cy="113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2728099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458200" cy="74295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Multinomial Naive Bayes Classifiers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4424164"/>
              </p:ext>
            </p:extLst>
          </p:nvPr>
        </p:nvGraphicFramePr>
        <p:xfrm>
          <a:off x="1524000" y="3028950"/>
          <a:ext cx="6045200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95" name="Equation" r:id="rId3" imgW="2146300" imgH="393700" progId="Equation.3">
                  <p:embed/>
                </p:oleObj>
              </mc:Choice>
              <mc:Fallback>
                <p:oleObj name="Equation" r:id="rId3" imgW="21463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028950"/>
                        <a:ext cx="6045200" cy="1103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85801" y="1581150"/>
            <a:ext cx="7620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sz="2800" dirty="0">
                <a:latin typeface="Times New Roman" charset="0"/>
              </a:rPr>
              <a:t>positions </a:t>
            </a:r>
            <a:r>
              <a:rPr lang="en-US" sz="2800" dirty="0">
                <a:latin typeface="Calibri" charset="0"/>
                <a:sym typeface="Symbol" charset="0"/>
              </a:rPr>
              <a:t> all word positions in test document      			</a:t>
            </a:r>
            <a:endParaRPr lang="en-US" sz="2800" i="1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89800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multiplying lots of probs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idx="1"/>
          </p:nvPr>
        </p:nvSpPr>
        <p:spPr>
          <a:xfrm>
            <a:off x="822960" y="1200150"/>
            <a:ext cx="8321040" cy="34290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libri" charset="0"/>
              </a:rPr>
              <a:t>There's a problem with this:</a:t>
            </a:r>
          </a:p>
          <a:p>
            <a:endParaRPr lang="en-US" sz="2400" dirty="0">
              <a:latin typeface="Calibri" charset="0"/>
            </a:endParaRPr>
          </a:p>
          <a:p>
            <a:endParaRPr lang="en-US" sz="2400" dirty="0">
              <a:latin typeface="Calibri" charset="0"/>
            </a:endParaRPr>
          </a:p>
          <a:p>
            <a:r>
              <a:rPr lang="en-US" sz="2400" dirty="0">
                <a:latin typeface="Calibri" charset="0"/>
              </a:rPr>
              <a:t>Multiplying lots of probabilities can result in floating-point underflow!</a:t>
            </a:r>
          </a:p>
          <a:p>
            <a:r>
              <a:rPr lang="en-US" sz="2400" dirty="0">
                <a:latin typeface="Calibri" charset="0"/>
              </a:rPr>
              <a:t>Luckily,  log(</a:t>
            </a:r>
            <a:r>
              <a:rPr lang="en-US" sz="2400" i="1" dirty="0">
                <a:latin typeface="Calibri" charset="0"/>
              </a:rPr>
              <a:t>ab</a:t>
            </a:r>
            <a:r>
              <a:rPr lang="en-US" sz="2400" dirty="0">
                <a:latin typeface="Calibri" charset="0"/>
              </a:rPr>
              <a:t>) = log(</a:t>
            </a:r>
            <a:r>
              <a:rPr lang="en-US" sz="2400" i="1" dirty="0">
                <a:latin typeface="Calibri" charset="0"/>
              </a:rPr>
              <a:t>a</a:t>
            </a:r>
            <a:r>
              <a:rPr lang="en-US" sz="2400" dirty="0">
                <a:latin typeface="Calibri" charset="0"/>
              </a:rPr>
              <a:t>) + log(</a:t>
            </a:r>
            <a:r>
              <a:rPr lang="en-US" sz="2400" i="1" dirty="0">
                <a:latin typeface="Calibri" charset="0"/>
              </a:rPr>
              <a:t>b</a:t>
            </a:r>
            <a:r>
              <a:rPr lang="en-US" sz="2400" dirty="0">
                <a:latin typeface="Calibri" charset="0"/>
              </a:rPr>
              <a:t>)</a:t>
            </a:r>
          </a:p>
          <a:p>
            <a:r>
              <a:rPr lang="en-US" sz="2400" dirty="0">
                <a:latin typeface="Calibri" charset="0"/>
              </a:rPr>
              <a:t>Let's sum logs of probabilities instead of multiplying probabilities!</a:t>
            </a:r>
          </a:p>
          <a:p>
            <a:endParaRPr lang="en-US" sz="2400" dirty="0">
              <a:latin typeface="Calibri" charset="0"/>
            </a:endParaRPr>
          </a:p>
          <a:p>
            <a:endParaRPr lang="en-US" sz="2000" dirty="0">
              <a:latin typeface="Calibri" charset="0"/>
            </a:endParaRPr>
          </a:p>
          <a:p>
            <a:endParaRPr lang="en-US" sz="2000" dirty="0">
              <a:latin typeface="Calibri" charset="0"/>
            </a:endParaRPr>
          </a:p>
          <a:p>
            <a:endParaRPr lang="en-US" sz="2000" dirty="0">
              <a:latin typeface="Calibri" charset="0"/>
            </a:endParaRPr>
          </a:p>
        </p:txBody>
      </p:sp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8A740B1F-5B8B-4E44-83B7-29DC285E29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098453"/>
              </p:ext>
            </p:extLst>
          </p:nvPr>
        </p:nvGraphicFramePr>
        <p:xfrm>
          <a:off x="1752600" y="1504950"/>
          <a:ext cx="542762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6" name="Equation" r:id="rId3" imgW="2146300" imgH="393700" progId="Equation.3">
                  <p:embed/>
                </p:oleObj>
              </mc:Choice>
              <mc:Fallback>
                <p:oleObj name="Equation" r:id="rId3" imgW="2146300" imgH="393700" progId="Equation.3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504950"/>
                        <a:ext cx="5427628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607360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actually do everything in log space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idx="1"/>
          </p:nvPr>
        </p:nvSpPr>
        <p:spPr>
          <a:xfrm>
            <a:off x="822960" y="1200150"/>
            <a:ext cx="8016240" cy="3657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alibri" charset="0"/>
              </a:rPr>
              <a:t>Instead of this:</a:t>
            </a:r>
          </a:p>
          <a:p>
            <a:endParaRPr lang="en-US" sz="2000" dirty="0">
              <a:latin typeface="Calibri" charset="0"/>
            </a:endParaRPr>
          </a:p>
          <a:p>
            <a:pPr marL="0" indent="0">
              <a:buNone/>
            </a:pPr>
            <a:r>
              <a:rPr lang="en-US" sz="2000" dirty="0">
                <a:latin typeface="Calibri" charset="0"/>
              </a:rPr>
              <a:t>This:</a:t>
            </a:r>
            <a:endParaRPr lang="en-US" sz="2200" dirty="0">
              <a:latin typeface="Calibri" charset="0"/>
            </a:endParaRPr>
          </a:p>
          <a:p>
            <a:endParaRPr lang="en-US" sz="2000" dirty="0">
              <a:latin typeface="Calibri" charset="0"/>
            </a:endParaRPr>
          </a:p>
          <a:p>
            <a:endParaRPr lang="en-US" sz="2000" dirty="0">
              <a:latin typeface="Calibri" charset="0"/>
            </a:endParaRPr>
          </a:p>
          <a:p>
            <a:pPr marL="0" indent="0">
              <a:buNone/>
            </a:pPr>
            <a:r>
              <a:rPr lang="en-US" sz="2000" dirty="0">
                <a:latin typeface="Calibri" charset="0"/>
              </a:rPr>
              <a:t>This is ok since log doesn't change the ranking of the classes (class with highest prob still has highest log prob)</a:t>
            </a:r>
          </a:p>
          <a:p>
            <a:pPr marL="0" indent="0">
              <a:buNone/>
            </a:pPr>
            <a:r>
              <a:rPr lang="en-US" sz="2000" dirty="0">
                <a:latin typeface="Calibri" charset="0"/>
              </a:rPr>
              <a:t>Model is now just max of sum of weights: a </a:t>
            </a:r>
            <a:r>
              <a:rPr lang="en-US" sz="2000" b="1" dirty="0">
                <a:latin typeface="Calibri" charset="0"/>
              </a:rPr>
              <a:t>linear</a:t>
            </a:r>
            <a:r>
              <a:rPr lang="en-US" sz="2000" dirty="0">
                <a:latin typeface="Calibri" charset="0"/>
              </a:rPr>
              <a:t> function of the inputs</a:t>
            </a:r>
          </a:p>
          <a:p>
            <a:pPr marL="0" indent="0">
              <a:buNone/>
            </a:pPr>
            <a:r>
              <a:rPr lang="en-US" sz="2000" dirty="0">
                <a:latin typeface="Calibri" charset="0"/>
              </a:rPr>
              <a:t>So naive bayes is a </a:t>
            </a:r>
            <a:r>
              <a:rPr lang="en-US" sz="2000" b="1" dirty="0">
                <a:latin typeface="Calibri" charset="0"/>
              </a:rPr>
              <a:t>linear classifier</a:t>
            </a:r>
          </a:p>
          <a:p>
            <a:pPr marL="0" indent="0">
              <a:buNone/>
            </a:pPr>
            <a:endParaRPr lang="en-US" sz="2000" dirty="0">
              <a:latin typeface="Calibri" charset="0"/>
            </a:endParaRPr>
          </a:p>
          <a:p>
            <a:pPr marL="0" indent="0">
              <a:buNone/>
            </a:pPr>
            <a:endParaRPr lang="en-US" sz="2000" dirty="0">
              <a:latin typeface="Calibri" charset="0"/>
            </a:endParaRPr>
          </a:p>
          <a:p>
            <a:endParaRPr lang="en-US" sz="2000" dirty="0">
              <a:latin typeface="Calibri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EBCC25-8AE3-C74C-91FF-A6535FA19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799" y="2113331"/>
            <a:ext cx="6553200" cy="1070410"/>
          </a:xfrm>
          <a:prstGeom prst="rect">
            <a:avLst/>
          </a:prstGeom>
        </p:spPr>
      </p:pic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8A740B1F-5B8B-4E44-83B7-29DC285E29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8796583"/>
              </p:ext>
            </p:extLst>
          </p:nvPr>
        </p:nvGraphicFramePr>
        <p:xfrm>
          <a:off x="1722119" y="1424555"/>
          <a:ext cx="4514421" cy="823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3" name="Equation" r:id="rId4" imgW="2146300" imgH="393700" progId="Equation.3">
                  <p:embed/>
                </p:oleObj>
              </mc:Choice>
              <mc:Fallback>
                <p:oleObj name="Equation" r:id="rId4" imgW="2146300" imgH="393700" progId="Equation.3">
                  <p:embed/>
                  <p:pic>
                    <p:nvPicPr>
                      <p:cNvPr id="5" name="Object 2">
                        <a:extLst>
                          <a:ext uri="{FF2B5EF4-FFF2-40B4-BE49-F238E27FC236}">
                            <a16:creationId xmlns:a16="http://schemas.microsoft.com/office/drawing/2014/main" id="{8A740B1F-5B8B-4E44-83B7-29DC285E29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2119" y="1424555"/>
                        <a:ext cx="4514421" cy="8239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199664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>
                <a:latin typeface="Calibri (Headings)"/>
                <a:cs typeface="Calibri (Headings)"/>
              </a:rPr>
              <a:t>Text Classification and Na</a:t>
            </a:r>
            <a:r>
              <a:rPr lang="fr-FR" sz="4000">
                <a:latin typeface="Calibri (Headings)"/>
                <a:cs typeface="Calibri (Headings)"/>
              </a:rPr>
              <a:t>ï</a:t>
            </a:r>
            <a:r>
              <a:rPr lang="en-US" sz="4000">
                <a:latin typeface="Calibri (Headings)"/>
                <a:cs typeface="Calibri (Headings)"/>
              </a:rPr>
              <a:t>ve Bayes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Formalizing the Na</a:t>
            </a:r>
            <a:r>
              <a:rPr lang="fr-FR" sz="3600" dirty="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ï</a:t>
            </a:r>
            <a:r>
              <a:rPr lang="en-US" sz="3600" dirty="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ve</a:t>
            </a: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Bayes Classifier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7327FB-6E93-0C4E-825A-682F64B46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56382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>
                <a:latin typeface="Calibri (Headings)"/>
                <a:cs typeface="Calibri (Headings)"/>
              </a:rPr>
              <a:t>Text Classification and Na</a:t>
            </a:r>
            <a:r>
              <a:rPr lang="fr-FR" sz="3400" dirty="0" err="1">
                <a:latin typeface="Calibri (Headings)"/>
                <a:cs typeface="Calibri (Headings)"/>
              </a:rPr>
              <a:t>ï</a:t>
            </a:r>
            <a:r>
              <a:rPr lang="en-US" sz="3400" dirty="0" err="1">
                <a:latin typeface="Calibri (Headings)"/>
                <a:cs typeface="Calibri (Headings)"/>
              </a:rPr>
              <a:t>ve</a:t>
            </a:r>
            <a:r>
              <a:rPr lang="en-US" sz="3400" dirty="0">
                <a:latin typeface="Calibri (Headings)"/>
                <a:cs typeface="Calibri (Headings)"/>
              </a:rPr>
              <a:t> Bayes</a:t>
            </a:r>
            <a:endParaRPr lang="en-US" sz="34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Na</a:t>
            </a:r>
            <a:r>
              <a:rPr lang="fr-FR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i</a:t>
            </a:r>
            <a:r>
              <a:rPr lang="en-US" sz="3600" dirty="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ve</a:t>
            </a: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Bayes: Learning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B09FB5-DC53-5342-B857-210DA4FB5D4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56382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61950"/>
            <a:ext cx="7467600" cy="742950"/>
          </a:xfrm>
        </p:spPr>
        <p:txBody>
          <a:bodyPr/>
          <a:lstStyle/>
          <a:p>
            <a:pPr eaLnBrk="1" hangingPunct="1"/>
            <a:r>
              <a:rPr lang="en-US" sz="3000" dirty="0">
                <a:latin typeface="Calibri" charset="0"/>
                <a:ea typeface="ＭＳ Ｐゴシック" charset="0"/>
                <a:cs typeface="ＭＳ Ｐゴシック" charset="0"/>
              </a:rPr>
              <a:t>Learning the Multinomial Na</a:t>
            </a:r>
            <a:r>
              <a:rPr lang="fr-FR" sz="3000" dirty="0">
                <a:latin typeface="Calibri" charset="0"/>
                <a:ea typeface="ＭＳ Ｐゴシック" charset="0"/>
                <a:cs typeface="ＭＳ Ｐゴシック" charset="0"/>
              </a:rPr>
              <a:t>i</a:t>
            </a:r>
            <a:r>
              <a:rPr lang="en-US" sz="3000" dirty="0" err="1">
                <a:latin typeface="Calibri" charset="0"/>
                <a:ea typeface="ＭＳ Ｐゴシック" charset="0"/>
                <a:cs typeface="ＭＳ Ｐゴシック" charset="0"/>
              </a:rPr>
              <a:t>ve</a:t>
            </a:r>
            <a:r>
              <a:rPr lang="en-US" sz="3000" dirty="0">
                <a:latin typeface="Calibri" charset="0"/>
                <a:ea typeface="ＭＳ Ｐゴシック" charset="0"/>
                <a:cs typeface="ＭＳ Ｐゴシック" charset="0"/>
              </a:rPr>
              <a:t> Bayes Model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352550"/>
            <a:ext cx="8077200" cy="1447800"/>
          </a:xfrm>
        </p:spPr>
        <p:txBody>
          <a:bodyPr/>
          <a:lstStyle/>
          <a:p>
            <a:pPr eaLnBrk="1" hangingPunct="1"/>
            <a:r>
              <a:rPr lang="en-US" sz="3200" dirty="0">
                <a:latin typeface="Calibri" charset="0"/>
                <a:ea typeface="ＭＳ Ｐゴシック" charset="0"/>
                <a:cs typeface="ＭＳ Ｐゴシック" charset="0"/>
              </a:rPr>
              <a:t>First attempt: maximum likelihood estimates</a:t>
            </a:r>
          </a:p>
          <a:p>
            <a:pPr lvl="1" eaLnBrk="1" hangingPunct="1"/>
            <a:r>
              <a:rPr lang="en-US" sz="2800" dirty="0">
                <a:latin typeface="Calibri" charset="0"/>
                <a:ea typeface="ＭＳ Ｐゴシック" charset="0"/>
              </a:rPr>
              <a:t>simply use the frequencies in the data</a:t>
            </a:r>
          </a:p>
        </p:txBody>
      </p:sp>
      <p:sp>
        <p:nvSpPr>
          <p:cNvPr id="41990" name="TextBox 20"/>
          <p:cNvSpPr txBox="1">
            <a:spLocks noChangeArrowheads="1"/>
          </p:cNvSpPr>
          <p:nvPr/>
        </p:nvSpPr>
        <p:spPr bwMode="auto">
          <a:xfrm>
            <a:off x="7620001" y="-67479"/>
            <a:ext cx="103365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Sec.13.3</a:t>
            </a:r>
          </a:p>
        </p:txBody>
      </p:sp>
      <p:graphicFrame>
        <p:nvGraphicFramePr>
          <p:cNvPr id="6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180986"/>
              </p:ext>
            </p:extLst>
          </p:nvPr>
        </p:nvGraphicFramePr>
        <p:xfrm>
          <a:off x="2530031" y="3666504"/>
          <a:ext cx="3870769" cy="1292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59" name="Equation" r:id="rId3" imgW="1739900" imgH="584200" progId="Equation.3">
                  <p:embed/>
                </p:oleObj>
              </mc:Choice>
              <mc:Fallback>
                <p:oleObj name="Equation" r:id="rId3" imgW="1739900" imgH="584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031" y="3666504"/>
                        <a:ext cx="3870769" cy="12928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0214483"/>
              </p:ext>
            </p:extLst>
          </p:nvPr>
        </p:nvGraphicFramePr>
        <p:xfrm>
          <a:off x="3009519" y="2592954"/>
          <a:ext cx="3524249" cy="980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60" name="Equation" r:id="rId5" imgW="1587500" imgH="444500" progId="Equation.3">
                  <p:embed/>
                </p:oleObj>
              </mc:Choice>
              <mc:Fallback>
                <p:oleObj name="Equation" r:id="rId5" imgW="15875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519" y="2592954"/>
                        <a:ext cx="3524249" cy="9806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2977038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Parameter estimation</a:t>
            </a:r>
          </a:p>
        </p:txBody>
      </p:sp>
      <p:sp>
        <p:nvSpPr>
          <p:cNvPr id="58373" name="Text Box 6"/>
          <p:cNvSpPr txBox="1">
            <a:spLocks noChangeArrowheads="1"/>
          </p:cNvSpPr>
          <p:nvPr/>
        </p:nvSpPr>
        <p:spPr bwMode="auto">
          <a:xfrm>
            <a:off x="3657600" y="1733550"/>
            <a:ext cx="5257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latin typeface="Calibri"/>
                <a:cs typeface="Calibri"/>
              </a:rPr>
              <a:t>fraction of times word </a:t>
            </a:r>
            <a:r>
              <a:rPr lang="en-US" i="1" dirty="0" err="1">
                <a:latin typeface="Calibri"/>
                <a:cs typeface="Calibri"/>
              </a:rPr>
              <a:t>w</a:t>
            </a:r>
            <a:r>
              <a:rPr lang="en-US" i="1" baseline="-25000" dirty="0" err="1">
                <a:latin typeface="Calibri"/>
                <a:cs typeface="Calibri"/>
              </a:rPr>
              <a:t>i</a:t>
            </a:r>
            <a:r>
              <a:rPr lang="en-US" dirty="0">
                <a:latin typeface="Calibri"/>
                <a:cs typeface="Calibri"/>
              </a:rPr>
              <a:t> appears </a:t>
            </a:r>
          </a:p>
          <a:p>
            <a:pPr algn="ctr"/>
            <a:r>
              <a:rPr lang="en-US" dirty="0">
                <a:latin typeface="Calibri"/>
                <a:cs typeface="Calibri"/>
              </a:rPr>
              <a:t>among all words in documents of topic </a:t>
            </a:r>
            <a:r>
              <a:rPr lang="en-US" i="1" dirty="0" err="1">
                <a:latin typeface="Calibri"/>
                <a:cs typeface="Calibri"/>
              </a:rPr>
              <a:t>c</a:t>
            </a:r>
            <a:r>
              <a:rPr lang="en-US" i="1" baseline="-25000" dirty="0" err="1">
                <a:latin typeface="Calibri"/>
                <a:cs typeface="Calibri"/>
              </a:rPr>
              <a:t>j</a:t>
            </a:r>
            <a:endParaRPr lang="en-US" i="1" baseline="-25000" dirty="0">
              <a:latin typeface="Calibri"/>
              <a:cs typeface="Calibri"/>
            </a:endParaRP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4023520"/>
              </p:ext>
            </p:extLst>
          </p:nvPr>
        </p:nvGraphicFramePr>
        <p:xfrm>
          <a:off x="304800" y="1733550"/>
          <a:ext cx="3192462" cy="1066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72" name="Equation" r:id="rId3" imgW="1739900" imgH="584200" progId="Equation.3">
                  <p:embed/>
                </p:oleObj>
              </mc:Choice>
              <mc:Fallback>
                <p:oleObj name="Equation" r:id="rId3" imgW="1739900" imgH="584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733550"/>
                        <a:ext cx="3192462" cy="1066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7B1C8-619D-9946-89ED-79401261A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68601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Calibri" charset="0"/>
                <a:ea typeface="ＭＳ Ｐゴシック" charset="0"/>
                <a:cs typeface="ＭＳ Ｐゴシック" charset="0"/>
              </a:rPr>
              <a:t>Problem with Maximum Likelihood</a:t>
            </a:r>
          </a:p>
        </p:txBody>
      </p:sp>
      <p:sp>
        <p:nvSpPr>
          <p:cNvPr id="43010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22960" y="1428750"/>
            <a:ext cx="7254240" cy="177165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Calibri" charset="0"/>
                <a:ea typeface="ＭＳ Ｐゴシック" charset="0"/>
                <a:cs typeface="ＭＳ Ｐゴシック" charset="0"/>
              </a:rPr>
              <a:t>What if we have seen no training documents with the word </a:t>
            </a:r>
            <a:r>
              <a:rPr lang="en-US" sz="2000" b="1" i="1" dirty="0">
                <a:latin typeface="Calibri" charset="0"/>
                <a:ea typeface="ＭＳ Ｐゴシック" charset="0"/>
                <a:cs typeface="ＭＳ Ｐゴシック" charset="0"/>
              </a:rPr>
              <a:t>fantastic</a:t>
            </a:r>
            <a:r>
              <a:rPr lang="en-US" sz="2000" b="1" dirty="0">
                <a:latin typeface="Calibri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2000" dirty="0">
                <a:latin typeface="Calibri" charset="0"/>
                <a:ea typeface="ＭＳ Ｐゴシック" charset="0"/>
                <a:cs typeface="ＭＳ Ｐゴシック" charset="0"/>
              </a:rPr>
              <a:t> and classified in the topic </a:t>
            </a:r>
            <a:r>
              <a:rPr lang="en-US" sz="2000" b="1" dirty="0">
                <a:latin typeface="Calibri" charset="0"/>
                <a:ea typeface="ＭＳ Ｐゴシック" charset="0"/>
                <a:cs typeface="ＭＳ Ｐゴシック" charset="0"/>
              </a:rPr>
              <a:t>positive</a:t>
            </a:r>
            <a:r>
              <a:rPr lang="en-US" sz="2000" dirty="0">
                <a:latin typeface="Calibri" charset="0"/>
                <a:ea typeface="ＭＳ Ｐゴシック" charset="0"/>
                <a:cs typeface="ＭＳ Ｐゴシック" charset="0"/>
              </a:rPr>
              <a:t> (</a:t>
            </a:r>
            <a:r>
              <a:rPr lang="en-US" sz="2000" b="1" i="1" dirty="0">
                <a:latin typeface="Calibri" charset="0"/>
                <a:ea typeface="ＭＳ Ｐゴシック" charset="0"/>
                <a:cs typeface="ＭＳ Ｐゴシック" charset="0"/>
              </a:rPr>
              <a:t>thumbs-up)</a:t>
            </a:r>
            <a:r>
              <a:rPr lang="en-US" sz="2000" dirty="0">
                <a:latin typeface="Calibri" charset="0"/>
                <a:ea typeface="ＭＳ Ｐゴシック" charset="0"/>
                <a:cs typeface="ＭＳ Ｐゴシック" charset="0"/>
              </a:rPr>
              <a:t>?</a:t>
            </a:r>
          </a:p>
          <a:p>
            <a:pPr lvl="1" eaLnBrk="1" hangingPunct="1">
              <a:lnSpc>
                <a:spcPct val="90000"/>
              </a:lnSpc>
            </a:pPr>
            <a:endParaRPr lang="en-US" sz="2000" dirty="0">
              <a:latin typeface="Calibri" charset="0"/>
              <a:ea typeface="ＭＳ Ｐゴシック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sz="2000" dirty="0">
              <a:latin typeface="Calibri" charset="0"/>
              <a:ea typeface="ＭＳ Ｐゴシック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 dirty="0">
              <a:latin typeface="Calibri" charset="0"/>
              <a:ea typeface="ＭＳ Ｐゴシック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000" dirty="0">
              <a:latin typeface="Calibri" charset="0"/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 dirty="0">
                <a:latin typeface="Calibri" charset="0"/>
                <a:ea typeface="ＭＳ Ｐゴシック" charset="0"/>
                <a:cs typeface="ＭＳ Ｐゴシック" charset="0"/>
              </a:rPr>
              <a:t>Zero probabilities cannot be conditioned away, no matter the other evidence!</a:t>
            </a:r>
          </a:p>
        </p:txBody>
      </p:sp>
      <p:graphicFrame>
        <p:nvGraphicFramePr>
          <p:cNvPr id="43011" name="Object 2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391044595"/>
              </p:ext>
            </p:extLst>
          </p:nvPr>
        </p:nvGraphicFramePr>
        <p:xfrm>
          <a:off x="2111376" y="2346325"/>
          <a:ext cx="550862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89" name="Equation" r:id="rId3" imgW="3683000" imgH="571500" progId="Equation.3">
                  <p:embed/>
                </p:oleObj>
              </mc:Choice>
              <mc:Fallback>
                <p:oleObj name="Equation" r:id="rId3" imgW="36830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76" y="2346325"/>
                        <a:ext cx="5508625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014982"/>
              </p:ext>
            </p:extLst>
          </p:nvPr>
        </p:nvGraphicFramePr>
        <p:xfrm>
          <a:off x="2195513" y="4248150"/>
          <a:ext cx="419417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90" name="Equation" r:id="rId5" imgW="1968500" imgH="292100" progId="Equation.3">
                  <p:embed/>
                </p:oleObj>
              </mc:Choice>
              <mc:Fallback>
                <p:oleObj name="Equation" r:id="rId5" imgW="1968500" imgH="292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248150"/>
                        <a:ext cx="4194175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5" name="TextBox 24"/>
          <p:cNvSpPr txBox="1">
            <a:spLocks noChangeArrowheads="1"/>
          </p:cNvSpPr>
          <p:nvPr/>
        </p:nvSpPr>
        <p:spPr bwMode="auto">
          <a:xfrm>
            <a:off x="7620001" y="-67479"/>
            <a:ext cx="103365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Sec.13.3</a:t>
            </a:r>
          </a:p>
        </p:txBody>
      </p:sp>
    </p:spTree>
    <p:extLst>
      <p:ext uri="{BB962C8B-B14F-4D97-AF65-F5344CB8AC3E}">
        <p14:creationId xmlns:p14="http://schemas.microsoft.com/office/powerpoint/2010/main" val="3838283272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61950"/>
            <a:ext cx="7467600" cy="742950"/>
          </a:xfrm>
        </p:spPr>
        <p:txBody>
          <a:bodyPr>
            <a:normAutofit fontScale="90000"/>
          </a:bodyPr>
          <a:lstStyle/>
          <a:p>
            <a:r>
              <a:rPr lang="en-US" dirty="0"/>
              <a:t>Laplace (add-1) smoothing for Na</a:t>
            </a:r>
            <a:r>
              <a:rPr lang="fr-FR" dirty="0" err="1"/>
              <a:t>ï</a:t>
            </a:r>
            <a:r>
              <a:rPr lang="en-US" dirty="0" err="1"/>
              <a:t>ve</a:t>
            </a:r>
            <a:r>
              <a:rPr lang="en-US" dirty="0"/>
              <a:t> Bayes</a:t>
            </a:r>
          </a:p>
        </p:txBody>
      </p:sp>
      <p:graphicFrame>
        <p:nvGraphicFramePr>
          <p:cNvPr id="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682244"/>
              </p:ext>
            </p:extLst>
          </p:nvPr>
        </p:nvGraphicFramePr>
        <p:xfrm>
          <a:off x="1306513" y="1581150"/>
          <a:ext cx="4505325" cy="1350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9" name="Equation" r:id="rId3" imgW="1905000" imgH="571500" progId="Equation.3">
                  <p:embed/>
                </p:oleObj>
              </mc:Choice>
              <mc:Fallback>
                <p:oleObj name="Equation" r:id="rId3" imgW="19050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6513" y="1581150"/>
                        <a:ext cx="4505325" cy="13509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8567934"/>
              </p:ext>
            </p:extLst>
          </p:nvPr>
        </p:nvGraphicFramePr>
        <p:xfrm>
          <a:off x="2508250" y="3176588"/>
          <a:ext cx="3816350" cy="168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0" name="Equation" r:id="rId5" imgW="1612900" imgH="711200" progId="Equation.3">
                  <p:embed/>
                </p:oleObj>
              </mc:Choice>
              <mc:Fallback>
                <p:oleObj name="Equation" r:id="rId5" imgW="16129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0" y="3176588"/>
                        <a:ext cx="3816350" cy="16811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4791014"/>
              </p:ext>
            </p:extLst>
          </p:nvPr>
        </p:nvGraphicFramePr>
        <p:xfrm>
          <a:off x="1311720" y="1579109"/>
          <a:ext cx="4084638" cy="1350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1" name="Equation" r:id="rId7" imgW="1727200" imgH="571500" progId="Equation.3">
                  <p:embed/>
                </p:oleObj>
              </mc:Choice>
              <mc:Fallback>
                <p:oleObj name="Equation" r:id="rId7" imgW="17272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1720" y="1579109"/>
                        <a:ext cx="4084638" cy="13509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238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1ED69B3-D5B3-574F-9818-F323E76C1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unknown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73B1AD8-BC8F-A14C-8CC2-168C9A3E2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200150"/>
            <a:ext cx="8016240" cy="3823648"/>
          </a:xfrm>
        </p:spPr>
        <p:txBody>
          <a:bodyPr>
            <a:normAutofit/>
          </a:bodyPr>
          <a:lstStyle/>
          <a:p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unknown:</a:t>
            </a:r>
          </a:p>
          <a:p>
            <a:pPr lvl="1"/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huấn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vựng</a:t>
            </a:r>
            <a:endParaRPr lang="en-US" dirty="0"/>
          </a:p>
          <a:p>
            <a:r>
              <a:rPr lang="en-US" dirty="0" err="1"/>
              <a:t>Bỏ</a:t>
            </a:r>
            <a:r>
              <a:rPr lang="en-US" dirty="0"/>
              <a:t> qua (</a:t>
            </a:r>
            <a:r>
              <a:rPr lang="en-US" b="1" dirty="0"/>
              <a:t>ignore)</a:t>
            </a:r>
            <a:r>
              <a:rPr lang="en-US" dirty="0"/>
              <a:t> </a:t>
            </a:r>
            <a:r>
              <a:rPr lang="en-US" dirty="0" err="1"/>
              <a:t>chúng</a:t>
            </a:r>
            <a:endParaRPr lang="en-US" dirty="0"/>
          </a:p>
          <a:p>
            <a:pPr lvl="1"/>
            <a:r>
              <a:rPr lang="en-US" dirty="0" err="1"/>
              <a:t>Xoá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ra </a:t>
            </a:r>
            <a:r>
              <a:rPr lang="en-US" dirty="0" err="1"/>
              <a:t>khỏi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!</a:t>
            </a:r>
          </a:p>
          <a:p>
            <a:pPr lvl="1"/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vờ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!</a:t>
            </a:r>
          </a:p>
          <a:p>
            <a:pPr lvl="1"/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9947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11A0F-A7E2-5F4E-AF6A-7166F8DB2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C8EB-58F8-3245-846E-B538A7453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Some systems ignore another class of words:</a:t>
            </a:r>
          </a:p>
          <a:p>
            <a:r>
              <a:rPr lang="en-US" b="1" dirty="0"/>
              <a:t>Stop words:</a:t>
            </a:r>
            <a:r>
              <a:rPr lang="en-US" dirty="0"/>
              <a:t> very frequent words like </a:t>
            </a:r>
            <a:r>
              <a:rPr lang="en-US" i="1" dirty="0"/>
              <a:t>the </a:t>
            </a:r>
            <a:r>
              <a:rPr lang="en-US" dirty="0"/>
              <a:t>and </a:t>
            </a:r>
            <a:r>
              <a:rPr lang="en-US" i="1" dirty="0"/>
              <a:t>a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Sort the whole vocabulary by frequency in the training, call the top 10 or 50 words the </a:t>
            </a:r>
            <a:r>
              <a:rPr lang="en-US" b="1" dirty="0" err="1"/>
              <a:t>stopword</a:t>
            </a:r>
            <a:r>
              <a:rPr lang="en-US" b="1" dirty="0"/>
              <a:t> list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Now we remove all stop words from the training and test sets as if they were never there.</a:t>
            </a:r>
          </a:p>
          <a:p>
            <a:r>
              <a:rPr lang="en-US" dirty="0"/>
              <a:t>But in most text classification applications, removing stop words don't help, so it's more common to </a:t>
            </a:r>
            <a:r>
              <a:rPr lang="en-US" b="1" dirty="0"/>
              <a:t>not</a:t>
            </a:r>
            <a:r>
              <a:rPr lang="en-US" dirty="0"/>
              <a:t> use </a:t>
            </a:r>
            <a:r>
              <a:rPr lang="en-US" dirty="0" err="1"/>
              <a:t>stopword</a:t>
            </a:r>
            <a:r>
              <a:rPr lang="en-US" dirty="0"/>
              <a:t> lists and use all the words in naive Bayes.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9114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Rectangle 3"/>
          <p:cNvSpPr>
            <a:spLocks noGrp="1" noChangeArrowheads="1"/>
          </p:cNvSpPr>
          <p:nvPr>
            <p:ph type="title"/>
          </p:nvPr>
        </p:nvSpPr>
        <p:spPr>
          <a:xfrm>
            <a:off x="1219200" y="114300"/>
            <a:ext cx="7772400" cy="857250"/>
          </a:xfrm>
        </p:spPr>
        <p:txBody>
          <a:bodyPr/>
          <a:lstStyle/>
          <a:p>
            <a:r>
              <a:rPr lang="en-US" dirty="0"/>
              <a:t>Multinomial Naïve Bayes: Learning</a:t>
            </a:r>
          </a:p>
        </p:txBody>
      </p:sp>
      <p:sp>
        <p:nvSpPr>
          <p:cNvPr id="52230" name="Rectangle 4"/>
          <p:cNvSpPr>
            <a:spLocks noGrp="1" noChangeArrowheads="1"/>
          </p:cNvSpPr>
          <p:nvPr>
            <p:ph idx="1"/>
          </p:nvPr>
        </p:nvSpPr>
        <p:spPr>
          <a:xfrm>
            <a:off x="152400" y="2132543"/>
            <a:ext cx="4572000" cy="264900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200" dirty="0">
                <a:latin typeface="Calibri"/>
                <a:cs typeface="Calibri"/>
              </a:rPr>
              <a:t>Calculate </a:t>
            </a:r>
            <a:r>
              <a:rPr lang="en-US" sz="2200" i="1" dirty="0">
                <a:latin typeface="Calibri"/>
                <a:cs typeface="Calibri"/>
              </a:rPr>
              <a:t>P</a:t>
            </a:r>
            <a:r>
              <a:rPr lang="en-US" sz="2200" dirty="0">
                <a:latin typeface="Calibri"/>
                <a:cs typeface="Calibri"/>
              </a:rPr>
              <a:t>(</a:t>
            </a:r>
            <a:r>
              <a:rPr lang="en-US" sz="2200" i="1" dirty="0" err="1">
                <a:latin typeface="Calibri"/>
                <a:cs typeface="Calibri"/>
              </a:rPr>
              <a:t>c</a:t>
            </a:r>
            <a:r>
              <a:rPr lang="en-US" sz="2200" i="1" baseline="-25000" dirty="0" err="1">
                <a:latin typeface="Calibri"/>
                <a:cs typeface="Calibri"/>
              </a:rPr>
              <a:t>j</a:t>
            </a:r>
            <a:r>
              <a:rPr lang="en-US" sz="2200" dirty="0">
                <a:latin typeface="Calibri"/>
                <a:cs typeface="Calibri"/>
              </a:rPr>
              <a:t>)</a:t>
            </a:r>
            <a:r>
              <a:rPr lang="en-US" sz="2200" i="1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terms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Calibri"/>
                <a:cs typeface="Calibri"/>
              </a:rPr>
              <a:t>For each </a:t>
            </a:r>
            <a:r>
              <a:rPr lang="en-US" sz="2000" i="1" dirty="0" err="1">
                <a:latin typeface="Calibri"/>
                <a:cs typeface="Calibri"/>
              </a:rPr>
              <a:t>c</a:t>
            </a:r>
            <a:r>
              <a:rPr lang="en-US" sz="2000" i="1" baseline="-25000" dirty="0" err="1">
                <a:latin typeface="Calibri"/>
                <a:cs typeface="Calibri"/>
              </a:rPr>
              <a:t>j</a:t>
            </a:r>
            <a:r>
              <a:rPr lang="en-US" sz="2000" i="1" baseline="-250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 </a:t>
            </a:r>
            <a:r>
              <a:rPr lang="en-US" sz="2000" i="1" dirty="0">
                <a:latin typeface="Calibri"/>
                <a:cs typeface="Calibri"/>
              </a:rPr>
              <a:t>C</a:t>
            </a:r>
            <a:r>
              <a:rPr lang="en-US" sz="2000" dirty="0">
                <a:latin typeface="Calibri"/>
                <a:cs typeface="Calibri"/>
              </a:rPr>
              <a:t> do</a:t>
            </a:r>
          </a:p>
          <a:p>
            <a:pPr marL="800100" lvl="2" indent="0">
              <a:lnSpc>
                <a:spcPct val="90000"/>
              </a:lnSpc>
              <a:buNone/>
            </a:pPr>
            <a:r>
              <a:rPr lang="en-US" i="1" dirty="0">
                <a:latin typeface="Calibri"/>
                <a:cs typeface="Calibri"/>
              </a:rPr>
              <a:t> </a:t>
            </a:r>
            <a:r>
              <a:rPr lang="en-US" i="1" dirty="0" err="1">
                <a:latin typeface="Calibri"/>
                <a:cs typeface="Calibri"/>
              </a:rPr>
              <a:t>docs</a:t>
            </a:r>
            <a:r>
              <a:rPr lang="en-US" i="1" baseline="-25000" dirty="0" err="1">
                <a:latin typeface="Calibri"/>
                <a:cs typeface="Calibri"/>
              </a:rPr>
              <a:t>j</a:t>
            </a:r>
            <a:r>
              <a:rPr lang="en-US" i="1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  <a:sym typeface="Symbol" charset="2"/>
              </a:rPr>
              <a:t></a:t>
            </a:r>
            <a:r>
              <a:rPr lang="en-US" i="1" dirty="0">
                <a:latin typeface="Calibri"/>
                <a:cs typeface="Calibri"/>
                <a:sym typeface="Symbol" charset="2"/>
              </a:rPr>
              <a:t> </a:t>
            </a:r>
            <a:r>
              <a:rPr lang="en-US" dirty="0">
                <a:latin typeface="Calibri"/>
                <a:cs typeface="Calibri"/>
                <a:sym typeface="Symbol" charset="2"/>
              </a:rPr>
              <a:t>all docs with  class =</a:t>
            </a:r>
            <a:r>
              <a:rPr lang="en-US" i="1" dirty="0" err="1">
                <a:latin typeface="Calibri"/>
                <a:cs typeface="Calibri"/>
              </a:rPr>
              <a:t>c</a:t>
            </a:r>
            <a:r>
              <a:rPr lang="en-US" i="1" baseline="-25000" dirty="0" err="1">
                <a:latin typeface="Calibri"/>
                <a:cs typeface="Calibri"/>
              </a:rPr>
              <a:t>j</a:t>
            </a:r>
            <a:endParaRPr lang="en-US" i="1" baseline="-25000" dirty="0">
              <a:latin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sz="2200" dirty="0">
              <a:latin typeface="Calibri"/>
              <a:cs typeface="Calibri"/>
            </a:endParaRPr>
          </a:p>
        </p:txBody>
      </p:sp>
      <p:graphicFrame>
        <p:nvGraphicFramePr>
          <p:cNvPr id="522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2552574"/>
              </p:ext>
            </p:extLst>
          </p:nvPr>
        </p:nvGraphicFramePr>
        <p:xfrm>
          <a:off x="5233147" y="3486150"/>
          <a:ext cx="3606053" cy="785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24" name="Equation" r:id="rId3" imgW="1981200" imgH="431800" progId="Equation.3">
                  <p:embed/>
                </p:oleObj>
              </mc:Choice>
              <mc:Fallback>
                <p:oleObj name="Equation" r:id="rId3" imgW="1981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3147" y="3486150"/>
                        <a:ext cx="3606053" cy="7859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9097549"/>
              </p:ext>
            </p:extLst>
          </p:nvPr>
        </p:nvGraphicFramePr>
        <p:xfrm>
          <a:off x="1066800" y="3257550"/>
          <a:ext cx="3200400" cy="742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25" name="Equation" r:id="rId5" imgW="1752600" imgH="406400" progId="Equation.3">
                  <p:embed/>
                </p:oleObj>
              </mc:Choice>
              <mc:Fallback>
                <p:oleObj name="Equation" r:id="rId5" imgW="17526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257550"/>
                        <a:ext cx="3200400" cy="7421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4038600" y="2114550"/>
            <a:ext cx="5791200" cy="1524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200" dirty="0">
                <a:latin typeface="Calibri"/>
                <a:cs typeface="Calibri"/>
              </a:rPr>
              <a:t>Calculate </a:t>
            </a:r>
            <a:r>
              <a:rPr lang="en-US" sz="2200" i="1" dirty="0">
                <a:latin typeface="Calibri"/>
                <a:cs typeface="Calibri"/>
              </a:rPr>
              <a:t>P</a:t>
            </a:r>
            <a:r>
              <a:rPr lang="en-US" sz="2200" dirty="0">
                <a:latin typeface="Calibri"/>
                <a:cs typeface="Calibri"/>
              </a:rPr>
              <a:t>(</a:t>
            </a:r>
            <a:r>
              <a:rPr lang="en-US" sz="2200" i="1" dirty="0" err="1">
                <a:latin typeface="Calibri"/>
                <a:cs typeface="Calibri"/>
              </a:rPr>
              <a:t>w</a:t>
            </a:r>
            <a:r>
              <a:rPr lang="en-US" sz="2200" i="1" baseline="-25000" dirty="0" err="1">
                <a:latin typeface="Calibri"/>
                <a:cs typeface="Calibri"/>
              </a:rPr>
              <a:t>k</a:t>
            </a:r>
            <a:r>
              <a:rPr lang="en-US" sz="2200" i="1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|</a:t>
            </a:r>
            <a:r>
              <a:rPr lang="en-US" sz="2200" i="1" dirty="0">
                <a:latin typeface="Calibri"/>
                <a:cs typeface="Calibri"/>
              </a:rPr>
              <a:t> </a:t>
            </a:r>
            <a:r>
              <a:rPr lang="en-US" sz="2200" i="1" dirty="0" err="1">
                <a:latin typeface="Calibri"/>
                <a:cs typeface="Calibri"/>
              </a:rPr>
              <a:t>c</a:t>
            </a:r>
            <a:r>
              <a:rPr lang="en-US" sz="2200" i="1" baseline="-25000" dirty="0" err="1">
                <a:latin typeface="Calibri"/>
                <a:cs typeface="Calibri"/>
              </a:rPr>
              <a:t>j</a:t>
            </a:r>
            <a:r>
              <a:rPr lang="en-US" sz="2200" dirty="0">
                <a:latin typeface="Calibri"/>
                <a:cs typeface="Calibri"/>
              </a:rPr>
              <a:t>)</a:t>
            </a:r>
            <a:r>
              <a:rPr lang="en-US" sz="2200" i="1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terms</a:t>
            </a:r>
          </a:p>
          <a:p>
            <a:pPr lvl="1">
              <a:spcBef>
                <a:spcPts val="0"/>
              </a:spcBef>
            </a:pPr>
            <a:r>
              <a:rPr lang="en-US" i="1" dirty="0" err="1">
                <a:latin typeface="Calibri"/>
                <a:ea typeface="ＭＳ Ｐゴシック" charset="-128"/>
                <a:cs typeface="Calibri"/>
              </a:rPr>
              <a:t>Text</a:t>
            </a:r>
            <a:r>
              <a:rPr lang="en-US" i="1" baseline="-25000" dirty="0" err="1">
                <a:latin typeface="Calibri"/>
                <a:ea typeface="ＭＳ Ｐゴシック" charset="-128"/>
                <a:cs typeface="Calibri"/>
              </a:rPr>
              <a:t>j</a:t>
            </a:r>
            <a:r>
              <a:rPr lang="en-US" i="1" dirty="0">
                <a:latin typeface="Calibri"/>
                <a:ea typeface="ＭＳ Ｐゴシック" charset="-128"/>
                <a:cs typeface="Calibri"/>
              </a:rPr>
              <a:t> </a:t>
            </a:r>
            <a:r>
              <a:rPr lang="en-US" dirty="0">
                <a:latin typeface="Calibri"/>
                <a:ea typeface="ＭＳ Ｐゴシック" charset="-128"/>
                <a:cs typeface="Calibri"/>
                <a:sym typeface="Symbol" charset="2"/>
              </a:rPr>
              <a:t> single doc containing all </a:t>
            </a:r>
            <a:r>
              <a:rPr lang="en-US" i="1" dirty="0" err="1">
                <a:latin typeface="Calibri"/>
                <a:ea typeface="ＭＳ Ｐゴシック" charset="-128"/>
                <a:cs typeface="Calibri"/>
              </a:rPr>
              <a:t>docs</a:t>
            </a:r>
            <a:r>
              <a:rPr lang="en-US" i="1" baseline="-25000" dirty="0" err="1">
                <a:latin typeface="Calibri"/>
                <a:ea typeface="ＭＳ Ｐゴシック" charset="-128"/>
                <a:cs typeface="Calibri"/>
              </a:rPr>
              <a:t>j</a:t>
            </a:r>
            <a:endParaRPr lang="en-US" i="1" baseline="-25000" dirty="0">
              <a:latin typeface="Calibri"/>
              <a:ea typeface="ＭＳ Ｐゴシック" charset="-128"/>
              <a:cs typeface="Calibri"/>
            </a:endParaRPr>
          </a:p>
          <a:p>
            <a:pPr lvl="1">
              <a:spcBef>
                <a:spcPts val="0"/>
              </a:spcBef>
            </a:pPr>
            <a:r>
              <a:rPr lang="en-US" dirty="0">
                <a:latin typeface="Calibri"/>
                <a:ea typeface="ＭＳ Ｐゴシック" charset="-128"/>
                <a:cs typeface="Calibri"/>
              </a:rPr>
              <a:t>For</a:t>
            </a:r>
            <a:r>
              <a:rPr lang="en-US" i="1" baseline="-25000" dirty="0">
                <a:latin typeface="Calibri"/>
                <a:ea typeface="ＭＳ Ｐゴシック" charset="-128"/>
                <a:cs typeface="Calibri"/>
              </a:rPr>
              <a:t> </a:t>
            </a:r>
            <a:r>
              <a:rPr lang="en-US" dirty="0">
                <a:latin typeface="Calibri"/>
                <a:ea typeface="ＭＳ Ｐゴシック" charset="-128"/>
                <a:cs typeface="Calibri"/>
              </a:rPr>
              <a:t>each word </a:t>
            </a:r>
            <a:r>
              <a:rPr lang="en-US" i="1" dirty="0" err="1">
                <a:latin typeface="Calibri"/>
                <a:ea typeface="ＭＳ Ｐゴシック" charset="-128"/>
                <a:cs typeface="Calibri"/>
              </a:rPr>
              <a:t>w</a:t>
            </a:r>
            <a:r>
              <a:rPr lang="en-US" i="1" baseline="-25000" dirty="0" err="1">
                <a:latin typeface="Calibri"/>
                <a:ea typeface="ＭＳ Ｐゴシック" charset="-128"/>
                <a:cs typeface="Calibri"/>
              </a:rPr>
              <a:t>k</a:t>
            </a:r>
            <a:r>
              <a:rPr lang="en-US" i="1" dirty="0">
                <a:latin typeface="Calibri"/>
                <a:ea typeface="ＭＳ Ｐゴシック" charset="-128"/>
                <a:cs typeface="Calibri"/>
              </a:rPr>
              <a:t> </a:t>
            </a:r>
            <a:r>
              <a:rPr lang="en-US" dirty="0">
                <a:latin typeface="Calibri"/>
                <a:ea typeface="ＭＳ Ｐゴシック" charset="-128"/>
                <a:cs typeface="Calibri"/>
              </a:rPr>
              <a:t>in </a:t>
            </a:r>
            <a:r>
              <a:rPr lang="en-US" i="1" dirty="0">
                <a:latin typeface="Calibri"/>
                <a:ea typeface="ＭＳ Ｐゴシック" charset="-128"/>
                <a:cs typeface="Calibri"/>
              </a:rPr>
              <a:t>Vocabulary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en-US" i="1" dirty="0">
                <a:latin typeface="Calibri"/>
                <a:ea typeface="ＭＳ Ｐゴシック" charset="-128"/>
                <a:cs typeface="Calibri"/>
              </a:rPr>
              <a:t>    </a:t>
            </a:r>
            <a:r>
              <a:rPr lang="en-US" i="1" dirty="0" err="1">
                <a:latin typeface="Calibri"/>
                <a:ea typeface="ＭＳ Ｐゴシック" charset="-128"/>
                <a:cs typeface="Calibri"/>
              </a:rPr>
              <a:t>n</a:t>
            </a:r>
            <a:r>
              <a:rPr lang="en-US" i="1" baseline="-25000" dirty="0" err="1">
                <a:latin typeface="Calibri"/>
                <a:ea typeface="ＭＳ Ｐゴシック" charset="-128"/>
                <a:cs typeface="Calibri"/>
              </a:rPr>
              <a:t>k</a:t>
            </a:r>
            <a:r>
              <a:rPr lang="en-US" i="1" dirty="0">
                <a:latin typeface="Calibri"/>
                <a:ea typeface="ＭＳ Ｐゴシック" charset="-128"/>
                <a:cs typeface="Calibri"/>
              </a:rPr>
              <a:t> </a:t>
            </a:r>
            <a:r>
              <a:rPr lang="en-US" dirty="0">
                <a:latin typeface="Calibri"/>
                <a:ea typeface="ＭＳ Ｐゴシック" charset="-128"/>
                <a:cs typeface="Calibri"/>
                <a:sym typeface="Symbol" charset="2"/>
              </a:rPr>
              <a:t> # of occurrences of </a:t>
            </a:r>
            <a:r>
              <a:rPr lang="en-US" i="1" dirty="0" err="1">
                <a:latin typeface="Calibri"/>
                <a:ea typeface="ＭＳ Ｐゴシック" charset="-128"/>
                <a:cs typeface="Calibri"/>
                <a:sym typeface="Symbol" charset="2"/>
              </a:rPr>
              <a:t>w</a:t>
            </a:r>
            <a:r>
              <a:rPr lang="en-US" i="1" baseline="-25000" dirty="0" err="1">
                <a:latin typeface="Calibri"/>
                <a:ea typeface="ＭＳ Ｐゴシック" charset="-128"/>
                <a:cs typeface="Calibri"/>
              </a:rPr>
              <a:t>k</a:t>
            </a:r>
            <a:r>
              <a:rPr lang="en-US" i="1" dirty="0">
                <a:latin typeface="Calibri"/>
                <a:ea typeface="ＭＳ Ｐゴシック" charset="-128"/>
                <a:cs typeface="Calibri"/>
              </a:rPr>
              <a:t> </a:t>
            </a:r>
            <a:r>
              <a:rPr lang="en-US" dirty="0">
                <a:latin typeface="Calibri"/>
                <a:ea typeface="ＭＳ Ｐゴシック" charset="-128"/>
                <a:cs typeface="Calibri"/>
              </a:rPr>
              <a:t>in </a:t>
            </a:r>
            <a:r>
              <a:rPr lang="en-US" i="1" dirty="0" err="1">
                <a:latin typeface="Calibri"/>
                <a:ea typeface="ＭＳ Ｐゴシック" charset="-128"/>
                <a:cs typeface="Calibri"/>
              </a:rPr>
              <a:t>Text</a:t>
            </a:r>
            <a:r>
              <a:rPr lang="en-US" i="1" baseline="-25000" dirty="0" err="1">
                <a:latin typeface="Calibri"/>
                <a:ea typeface="ＭＳ Ｐゴシック" charset="-128"/>
                <a:cs typeface="Calibri"/>
              </a:rPr>
              <a:t>j</a:t>
            </a:r>
            <a:endParaRPr lang="en-US" i="1" baseline="-25000" dirty="0">
              <a:latin typeface="Calibri"/>
              <a:ea typeface="ＭＳ Ｐゴシック" charset="-128"/>
              <a:cs typeface="Calibri"/>
            </a:endParaRPr>
          </a:p>
        </p:txBody>
      </p:sp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152400" y="1581150"/>
            <a:ext cx="5410200" cy="3810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200" dirty="0">
                <a:latin typeface="Calibri" charset="0"/>
              </a:rPr>
              <a:t>From training corpus, extract </a:t>
            </a:r>
            <a:r>
              <a:rPr lang="en-US" sz="2200" i="1" dirty="0">
                <a:latin typeface="Times New Roman" charset="0"/>
              </a:rPr>
              <a:t>Vocabulary</a:t>
            </a:r>
            <a:endParaRPr lang="en-US" sz="2200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9399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>
                <a:latin typeface="Calibri (Headings)"/>
                <a:cs typeface="Calibri (Headings)"/>
              </a:rPr>
              <a:t>Text Classification and Na</a:t>
            </a:r>
            <a:r>
              <a:rPr lang="fr-FR" sz="3400" dirty="0">
                <a:latin typeface="Calibri (Headings)"/>
                <a:cs typeface="Calibri (Headings)"/>
              </a:rPr>
              <a:t>i</a:t>
            </a:r>
            <a:r>
              <a:rPr lang="en-US" sz="3400" dirty="0" err="1">
                <a:latin typeface="Calibri (Headings)"/>
                <a:cs typeface="Calibri (Headings)"/>
              </a:rPr>
              <a:t>ve</a:t>
            </a:r>
            <a:r>
              <a:rPr lang="en-US" sz="3400" dirty="0">
                <a:latin typeface="Calibri (Headings)"/>
                <a:cs typeface="Calibri (Headings)"/>
              </a:rPr>
              <a:t> Bayes</a:t>
            </a:r>
            <a:endParaRPr lang="en-US" sz="34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Na</a:t>
            </a:r>
            <a:r>
              <a:rPr lang="fr-FR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i</a:t>
            </a:r>
            <a:r>
              <a:rPr lang="en-US" sz="3600" dirty="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ve</a:t>
            </a: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Bayes: Learning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167A12-E07B-5D44-9669-819EA816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131343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>
                <a:latin typeface="Calibri (Headings)"/>
                <a:cs typeface="Calibri (Headings)"/>
              </a:rPr>
              <a:t>Text Classification and Na</a:t>
            </a:r>
            <a:r>
              <a:rPr lang="fr-FR" sz="3400" dirty="0">
                <a:latin typeface="Calibri (Headings)"/>
                <a:cs typeface="Calibri (Headings)"/>
              </a:rPr>
              <a:t>i</a:t>
            </a:r>
            <a:r>
              <a:rPr lang="en-US" sz="3400" dirty="0" err="1">
                <a:latin typeface="Calibri (Headings)"/>
                <a:cs typeface="Calibri (Headings)"/>
              </a:rPr>
              <a:t>ve</a:t>
            </a:r>
            <a:r>
              <a:rPr lang="en-US" sz="3400" dirty="0">
                <a:latin typeface="Calibri (Headings)"/>
                <a:cs typeface="Calibri (Headings)"/>
              </a:rPr>
              <a:t> Bayes</a:t>
            </a:r>
            <a:endParaRPr lang="en-US" sz="34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Sentiment and Binary Naive Bayes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749423-6D62-3640-A5A8-BAF631756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10910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1F366-EA60-144D-9EFD-B2540B1C9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do a worked sentiment example!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0D8E0-787B-8747-89C6-D584483AD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C48AB5-3053-DF4B-B24B-062F6E90E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86180"/>
            <a:ext cx="8362278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6986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1F366-EA60-144D-9EFD-B2540B1C9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worked sentiment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C48AB5-3053-DF4B-B24B-062F6E90E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4566"/>
            <a:ext cx="4578662" cy="18357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C2390A-3118-0040-BB7E-D87A94A6AFBE}"/>
              </a:ext>
            </a:extLst>
          </p:cNvPr>
          <p:cNvSpPr txBox="1"/>
          <p:nvPr/>
        </p:nvSpPr>
        <p:spPr>
          <a:xfrm>
            <a:off x="5029200" y="925630"/>
            <a:ext cx="3159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Prior from training: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8B5B7F-B19F-7249-9919-7423AE553852}"/>
              </a:ext>
            </a:extLst>
          </p:cNvPr>
          <p:cNvSpPr txBox="1"/>
          <p:nvPr/>
        </p:nvSpPr>
        <p:spPr>
          <a:xfrm>
            <a:off x="6311238" y="1496828"/>
            <a:ext cx="16770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P(-) = 3/5</a:t>
            </a:r>
          </a:p>
          <a:p>
            <a:r>
              <a:rPr lang="en-US" dirty="0"/>
              <a:t>P(+) = 2/5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D6E047-9277-8849-BC4B-B8F9CF75D644}"/>
              </a:ext>
            </a:extLst>
          </p:cNvPr>
          <p:cNvSpPr txBox="1"/>
          <p:nvPr/>
        </p:nvSpPr>
        <p:spPr>
          <a:xfrm>
            <a:off x="5064760" y="2234620"/>
            <a:ext cx="18870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Drop "with"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BD46C5-E353-9E40-8DFB-A6196D9ECFCF}"/>
              </a:ext>
            </a:extLst>
          </p:cNvPr>
          <p:cNvCxnSpPr>
            <a:cxnSpLocks/>
          </p:cNvCxnSpPr>
          <p:nvPr/>
        </p:nvCxnSpPr>
        <p:spPr>
          <a:xfrm>
            <a:off x="2819400" y="2647950"/>
            <a:ext cx="381000" cy="0"/>
          </a:xfrm>
          <a:prstGeom prst="line">
            <a:avLst/>
          </a:prstGeom>
          <a:ln w="349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5D49463-0ED6-6E4D-8C1B-0245872E8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240" y="3429001"/>
            <a:ext cx="4957061" cy="14579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2FFAD41-297F-A044-A4BC-999F25C8D8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5676" y="3762346"/>
            <a:ext cx="3849123" cy="10851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0C56973-9076-294B-83BE-77052447FEF0}"/>
              </a:ext>
            </a:extLst>
          </p:cNvPr>
          <p:cNvSpPr txBox="1"/>
          <p:nvPr/>
        </p:nvSpPr>
        <p:spPr>
          <a:xfrm>
            <a:off x="208814" y="2965758"/>
            <a:ext cx="40639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Likelihoods from training: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3D79F2-5F65-3B40-BDEF-191EE1665BDB}"/>
              </a:ext>
            </a:extLst>
          </p:cNvPr>
          <p:cNvSpPr txBox="1"/>
          <p:nvPr/>
        </p:nvSpPr>
        <p:spPr>
          <a:xfrm>
            <a:off x="5516950" y="3203244"/>
            <a:ext cx="3265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Scoring the test set: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6A3235-9128-6946-ADD5-B48D986785C8}"/>
              </a:ext>
            </a:extLst>
          </p:cNvPr>
          <p:cNvSpPr/>
          <p:nvPr/>
        </p:nvSpPr>
        <p:spPr>
          <a:xfrm>
            <a:off x="5410200" y="3756206"/>
            <a:ext cx="3733800" cy="548702"/>
          </a:xfrm>
          <a:prstGeom prst="rect">
            <a:avLst/>
          </a:prstGeom>
          <a:solidFill>
            <a:srgbClr val="FFFF00">
              <a:alpha val="4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366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7" grpId="0"/>
      <p:bldP spid="18" grpId="0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7111039-A531-124E-B9A2-8E5EE6BF21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350054"/>
              </p:ext>
            </p:extLst>
          </p:nvPr>
        </p:nvGraphicFramePr>
        <p:xfrm>
          <a:off x="4008814" y="1352550"/>
          <a:ext cx="4400550" cy="14870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9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567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200" dirty="0"/>
                    </a:p>
                  </a:txBody>
                  <a:tcPr marL="68580" marR="68580" marT="34279" marB="3427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</a:t>
                      </a:r>
                    </a:p>
                  </a:txBody>
                  <a:tcPr marL="68580" marR="68580" marT="34279" marB="3427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Words</a:t>
                      </a:r>
                    </a:p>
                  </a:txBody>
                  <a:tcPr marL="68580" marR="68580" marT="34279" marB="3427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 marL="68580" marR="68580" marT="34279" marB="3427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484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Training</a:t>
                      </a:r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1</a:t>
                      </a:r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Chinese</a:t>
                      </a:r>
                      <a:r>
                        <a:rPr lang="en-US" sz="1200" baseline="0" dirty="0"/>
                        <a:t> Beijing Chinese</a:t>
                      </a:r>
                      <a:endParaRPr lang="en-US" sz="1200" dirty="0"/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c</a:t>
                      </a:r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484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200" dirty="0"/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2</a:t>
                      </a:r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Chinese Chinese Shanghai</a:t>
                      </a:r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c</a:t>
                      </a:r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484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200"/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3</a:t>
                      </a:r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Chinese Macao</a:t>
                      </a:r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c</a:t>
                      </a:r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484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200"/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4</a:t>
                      </a:r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Tokyo Japan Chinese</a:t>
                      </a:r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j</a:t>
                      </a:r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59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Test</a:t>
                      </a:r>
                    </a:p>
                  </a:txBody>
                  <a:tcPr marL="68580" marR="68580" marT="34279" marB="34279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5</a:t>
                      </a:r>
                    </a:p>
                  </a:txBody>
                  <a:tcPr marL="68580" marR="68580" marT="34279" marB="34279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Chinese Chinese Chinese Tokyo</a:t>
                      </a:r>
                      <a:r>
                        <a:rPr lang="en-US" sz="1200" baseline="0" dirty="0"/>
                        <a:t> Japan</a:t>
                      </a:r>
                      <a:endParaRPr lang="en-US" sz="1200" dirty="0"/>
                    </a:p>
                  </a:txBody>
                  <a:tcPr marL="68580" marR="68580" marT="34279" marB="34279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?</a:t>
                      </a:r>
                    </a:p>
                  </a:txBody>
                  <a:tcPr marL="68580" marR="68580" marT="34279" marB="3427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5334" name="Slide Number Placeholder 3">
            <a:extLst>
              <a:ext uri="{FF2B5EF4-FFF2-40B4-BE49-F238E27FC236}">
                <a16:creationId xmlns:a16="http://schemas.microsoft.com/office/drawing/2014/main" id="{D2C096B5-FBB1-2448-8D85-738E5FC268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E89890F-9C7F-A244-86CF-AA7798BFF989}" type="slidenum">
              <a:rPr lang="en-US" altLang="en-US"/>
              <a:pPr/>
              <a:t>45</a:t>
            </a:fld>
            <a:endParaRPr lang="en-US" altLang="en-US"/>
          </a:p>
        </p:txBody>
      </p:sp>
      <p:graphicFrame>
        <p:nvGraphicFramePr>
          <p:cNvPr id="55335" name="Object 2">
            <a:extLst>
              <a:ext uri="{FF2B5EF4-FFF2-40B4-BE49-F238E27FC236}">
                <a16:creationId xmlns:a16="http://schemas.microsoft.com/office/drawing/2014/main" id="{67EA44DD-113A-8143-BD31-FB8252E44D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21088"/>
              </p:ext>
            </p:extLst>
          </p:nvPr>
        </p:nvGraphicFramePr>
        <p:xfrm>
          <a:off x="698676" y="1710516"/>
          <a:ext cx="2706131" cy="744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1" name="Equation" r:id="rId3" imgW="1524000" imgH="419100" progId="Equation.3">
                  <p:embed/>
                </p:oleObj>
              </mc:Choice>
              <mc:Fallback>
                <p:oleObj name="Equation" r:id="rId3" imgW="1524000" imgH="419100" progId="Equation.3">
                  <p:embed/>
                  <p:pic>
                    <p:nvPicPr>
                      <p:cNvPr id="55335" name="Object 2">
                        <a:extLst>
                          <a:ext uri="{FF2B5EF4-FFF2-40B4-BE49-F238E27FC236}">
                            <a16:creationId xmlns:a16="http://schemas.microsoft.com/office/drawing/2014/main" id="{67EA44DD-113A-8143-BD31-FB8252E44D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676" y="1710516"/>
                        <a:ext cx="2706131" cy="7441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36" name="Object 2">
            <a:extLst>
              <a:ext uri="{FF2B5EF4-FFF2-40B4-BE49-F238E27FC236}">
                <a16:creationId xmlns:a16="http://schemas.microsoft.com/office/drawing/2014/main" id="{D2E0EFD3-1CDA-2D46-B8C7-91C71517ED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71700" y="509588"/>
          <a:ext cx="809625" cy="483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2" name="Equation" r:id="rId5" imgW="660400" imgH="393700" progId="Equation.3">
                  <p:embed/>
                </p:oleObj>
              </mc:Choice>
              <mc:Fallback>
                <p:oleObj name="Equation" r:id="rId5" imgW="660400" imgH="393700" progId="Equation.3">
                  <p:embed/>
                  <p:pic>
                    <p:nvPicPr>
                      <p:cNvPr id="55336" name="Object 2">
                        <a:extLst>
                          <a:ext uri="{FF2B5EF4-FFF2-40B4-BE49-F238E27FC236}">
                            <a16:creationId xmlns:a16="http://schemas.microsoft.com/office/drawing/2014/main" id="{D2E0EFD3-1CDA-2D46-B8C7-91C71517ED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509588"/>
                        <a:ext cx="809625" cy="483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37" name="Date Placeholder 1">
            <a:extLst>
              <a:ext uri="{FF2B5EF4-FFF2-40B4-BE49-F238E27FC236}">
                <a16:creationId xmlns:a16="http://schemas.microsoft.com/office/drawing/2014/main" id="{F447EB66-8DE6-3441-B266-BBD7A0D9570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/>
              <a:t>UIT, VNU-HCM</a:t>
            </a:r>
          </a:p>
        </p:txBody>
      </p:sp>
      <p:sp>
        <p:nvSpPr>
          <p:cNvPr id="55338" name="Footer Placeholder 2">
            <a:extLst>
              <a:ext uri="{FF2B5EF4-FFF2-40B4-BE49-F238E27FC236}">
                <a16:creationId xmlns:a16="http://schemas.microsoft.com/office/drawing/2014/main" id="{5D753CF2-52C3-B740-BF72-C3FEFE73EB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/>
              <a:t>Social Media Mining</a:t>
            </a:r>
          </a:p>
        </p:txBody>
      </p:sp>
    </p:spTree>
    <p:extLst>
      <p:ext uri="{BB962C8B-B14F-4D97-AF65-F5344CB8AC3E}">
        <p14:creationId xmlns:p14="http://schemas.microsoft.com/office/powerpoint/2010/main" val="27230329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BB43BD4-4D24-D040-943B-6B0710FC2959}"/>
              </a:ext>
            </a:extLst>
          </p:cNvPr>
          <p:cNvSpPr txBox="1"/>
          <p:nvPr/>
        </p:nvSpPr>
        <p:spPr>
          <a:xfrm>
            <a:off x="5086350" y="2343150"/>
            <a:ext cx="3028950" cy="286232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800" b="1" dirty="0">
                <a:latin typeface="+mn-lt"/>
              </a:rPr>
              <a:t>Choosing a class:</a:t>
            </a:r>
          </a:p>
          <a:p>
            <a:pPr>
              <a:defRPr/>
            </a:pPr>
            <a:endParaRPr lang="en-US" sz="1800" dirty="0">
              <a:latin typeface="+mn-lt"/>
            </a:endParaRPr>
          </a:p>
          <a:p>
            <a:pPr>
              <a:defRPr/>
            </a:pPr>
            <a:r>
              <a:rPr lang="en-US" sz="1800" dirty="0">
                <a:latin typeface="+mn-lt"/>
              </a:rPr>
              <a:t>P(c|d5) </a:t>
            </a:r>
          </a:p>
          <a:p>
            <a:pPr>
              <a:defRPr/>
            </a:pPr>
            <a:endParaRPr lang="en-US" sz="1800" dirty="0">
              <a:latin typeface="+mn-lt"/>
            </a:endParaRPr>
          </a:p>
          <a:p>
            <a:pPr>
              <a:defRPr/>
            </a:pPr>
            <a:endParaRPr lang="en-US" sz="1800" dirty="0">
              <a:latin typeface="+mn-lt"/>
            </a:endParaRPr>
          </a:p>
          <a:p>
            <a:pPr>
              <a:defRPr/>
            </a:pPr>
            <a:r>
              <a:rPr lang="en-US" sz="1800" dirty="0">
                <a:latin typeface="+mn-lt"/>
              </a:rPr>
              <a:t>P(j|d5) </a:t>
            </a:r>
          </a:p>
          <a:p>
            <a:pPr>
              <a:defRPr/>
            </a:pPr>
            <a:endParaRPr lang="en-US" sz="1800" dirty="0">
              <a:latin typeface="+mn-lt"/>
            </a:endParaRPr>
          </a:p>
          <a:p>
            <a:pPr>
              <a:defRPr/>
            </a:pPr>
            <a:r>
              <a:rPr lang="en-US" sz="1800" dirty="0">
                <a:latin typeface="+mn-lt"/>
              </a:rPr>
              <a:t>=&gt; “</a:t>
            </a:r>
            <a:r>
              <a:rPr lang="en-US" sz="1800" dirty="0"/>
              <a:t>Chinese Chinese Chinese Tokyo Japan</a:t>
            </a:r>
            <a:r>
              <a:rPr lang="en-US" sz="1800" dirty="0">
                <a:latin typeface="+mn-lt"/>
              </a:rPr>
              <a:t>” belongs to “c”.</a:t>
            </a:r>
            <a:endParaRPr lang="en-US" sz="1800" dirty="0"/>
          </a:p>
        </p:txBody>
      </p:sp>
      <p:sp>
        <p:nvSpPr>
          <p:cNvPr id="56322" name="TextBox 39">
            <a:extLst>
              <a:ext uri="{FF2B5EF4-FFF2-40B4-BE49-F238E27FC236}">
                <a16:creationId xmlns:a16="http://schemas.microsoft.com/office/drawing/2014/main" id="{4E41BEC7-8070-2D4D-B7C1-84C9CC9DC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6214" y="3691069"/>
            <a:ext cx="22044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/>
            <a:r>
              <a:rPr lang="en-US" altLang="zh-TW" sz="1200" dirty="0">
                <a:latin typeface="Calibri" panose="020F0502020204030204" pitchFamily="34" charset="0"/>
                <a:ea typeface="PMingLiU" panose="02020500000000000000" pitchFamily="18" charset="-120"/>
              </a:rPr>
              <a:t> </a:t>
            </a:r>
            <a:r>
              <a:rPr lang="en-US" altLang="zh-TW" sz="1200" dirty="0">
                <a:latin typeface="Calibri" panose="020F050202020403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1/4 * (2/9)</a:t>
            </a:r>
            <a:r>
              <a:rPr lang="en-US" altLang="zh-TW" sz="1200" baseline="30000" dirty="0">
                <a:latin typeface="Calibri" panose="020F050202020403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3</a:t>
            </a:r>
            <a:r>
              <a:rPr lang="en-US" altLang="zh-TW" sz="1200" dirty="0">
                <a:latin typeface="Calibri" panose="020F050202020403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 * 2/9 * 2/9 </a:t>
            </a:r>
            <a:r>
              <a:rPr lang="en-US" altLang="zh-TW" sz="1200" dirty="0">
                <a:latin typeface="Calibri" panose="020F0502020204030204" pitchFamily="34" charset="0"/>
                <a:ea typeface="PMingLiU" panose="02020500000000000000" pitchFamily="18" charset="-120"/>
              </a:rPr>
              <a:t> </a:t>
            </a:r>
          </a:p>
          <a:p>
            <a:pPr lvl="1">
              <a:buFont typeface="Wingdings" pitchFamily="2" charset="2"/>
              <a:buNone/>
            </a:pPr>
            <a:r>
              <a:rPr lang="en-US" altLang="zh-TW" sz="1200" dirty="0">
                <a:latin typeface="Calibri" panose="020F0502020204030204" pitchFamily="34" charset="0"/>
                <a:ea typeface="PMingLiU" panose="02020500000000000000" pitchFamily="18" charset="-120"/>
              </a:rPr>
              <a:t>	≈ 0.0001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C3A42D6-F7C0-864E-9376-C80F37A0FCD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314700" y="742950"/>
          <a:ext cx="4400550" cy="14870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96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4567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200" dirty="0"/>
                    </a:p>
                  </a:txBody>
                  <a:tcPr marL="68580" marR="68580" marT="34279" marB="3427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</a:t>
                      </a:r>
                    </a:p>
                  </a:txBody>
                  <a:tcPr marL="68580" marR="68580" marT="34279" marB="3427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Words</a:t>
                      </a:r>
                    </a:p>
                  </a:txBody>
                  <a:tcPr marL="68580" marR="68580" marT="34279" marB="34279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 marL="68580" marR="68580" marT="34279" marB="3427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484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Training</a:t>
                      </a:r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1</a:t>
                      </a:r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Chinese</a:t>
                      </a:r>
                      <a:r>
                        <a:rPr lang="en-US" sz="1200" baseline="0" dirty="0"/>
                        <a:t> Beijing Chinese</a:t>
                      </a:r>
                      <a:endParaRPr lang="en-US" sz="1200" dirty="0"/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c</a:t>
                      </a:r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484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200" dirty="0"/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2</a:t>
                      </a:r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Chinese Chinese Shanghai</a:t>
                      </a:r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c</a:t>
                      </a:r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484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200"/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3</a:t>
                      </a:r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Chinese Macao</a:t>
                      </a:r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c</a:t>
                      </a:r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484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200"/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4</a:t>
                      </a:r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Tokyo Japan Chinese</a:t>
                      </a:r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j</a:t>
                      </a:r>
                    </a:p>
                  </a:txBody>
                  <a:tcPr marL="68580" marR="68580" marT="34279" marB="34279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59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Test</a:t>
                      </a:r>
                    </a:p>
                  </a:txBody>
                  <a:tcPr marL="68580" marR="68580" marT="34279" marB="34279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5</a:t>
                      </a:r>
                    </a:p>
                  </a:txBody>
                  <a:tcPr marL="68580" marR="68580" marT="34279" marB="34279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Chinese Chinese Chinese Tokyo</a:t>
                      </a:r>
                      <a:r>
                        <a:rPr lang="en-US" sz="1200" baseline="0" dirty="0"/>
                        <a:t> Japan</a:t>
                      </a:r>
                      <a:endParaRPr lang="en-US" sz="1200" dirty="0"/>
                    </a:p>
                  </a:txBody>
                  <a:tcPr marL="68580" marR="68580" marT="34279" marB="34279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?</a:t>
                      </a:r>
                    </a:p>
                  </a:txBody>
                  <a:tcPr marL="68580" marR="68580" marT="34279" marB="3427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6360" name="Slide Number Placeholder 3">
            <a:extLst>
              <a:ext uri="{FF2B5EF4-FFF2-40B4-BE49-F238E27FC236}">
                <a16:creationId xmlns:a16="http://schemas.microsoft.com/office/drawing/2014/main" id="{6EE48A1A-90A8-0442-A6E0-27BDE0BE56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3E0E6F2-7C01-A648-89EB-96270EC9BEC8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56361" name="TextBox 6">
            <a:extLst>
              <a:ext uri="{FF2B5EF4-FFF2-40B4-BE49-F238E27FC236}">
                <a16:creationId xmlns:a16="http://schemas.microsoft.com/office/drawing/2014/main" id="{4D74F589-3DCA-384C-9E51-55E4471F6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1" y="2913458"/>
            <a:ext cx="3280398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Probabilities: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Chinese|</a:t>
            </a:r>
            <a:r>
              <a:rPr lang="en-US" alt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Tokyo|</a:t>
            </a:r>
            <a:r>
              <a:rPr lang="en-US" alt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=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Japan|</a:t>
            </a:r>
            <a:r>
              <a:rPr lang="en-US" alt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=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Chinese|</a:t>
            </a:r>
            <a:r>
              <a:rPr lang="en-US" alt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Tokyo|</a:t>
            </a:r>
            <a:r>
              <a:rPr lang="en-US" alt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=</a:t>
            </a: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Japan|</a:t>
            </a:r>
            <a:r>
              <a:rPr lang="en-US" alt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=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D56C9C-3B0A-674F-950F-73506E75193B}"/>
              </a:ext>
            </a:extLst>
          </p:cNvPr>
          <p:cNvSpPr txBox="1"/>
          <p:nvPr/>
        </p:nvSpPr>
        <p:spPr>
          <a:xfrm>
            <a:off x="1485901" y="2019300"/>
            <a:ext cx="1108472" cy="9464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800" b="1" dirty="0">
                <a:latin typeface="+mn-lt"/>
              </a:rPr>
              <a:t>Priors:</a:t>
            </a:r>
          </a:p>
          <a:p>
            <a:pPr>
              <a:defRPr/>
            </a:pPr>
            <a:r>
              <a:rPr lang="en-US" sz="1800" i="1" dirty="0">
                <a:latin typeface="+mn-lt"/>
              </a:rPr>
              <a:t>P</a:t>
            </a:r>
            <a:r>
              <a:rPr lang="en-US" sz="1800" dirty="0">
                <a:latin typeface="+mn-lt"/>
              </a:rPr>
              <a:t>(</a:t>
            </a:r>
            <a:r>
              <a:rPr lang="en-US" sz="1800" i="1" dirty="0">
                <a:latin typeface="+mn-lt"/>
              </a:rPr>
              <a:t>c</a:t>
            </a:r>
            <a:r>
              <a:rPr lang="en-US" sz="1800" dirty="0">
                <a:latin typeface="+mn-lt"/>
              </a:rPr>
              <a:t>)= </a:t>
            </a:r>
          </a:p>
          <a:p>
            <a:pPr>
              <a:defRPr/>
            </a:pPr>
            <a:endParaRPr lang="en-US" sz="150" i="1" dirty="0">
              <a:latin typeface="+mn-lt"/>
            </a:endParaRPr>
          </a:p>
          <a:p>
            <a:pPr>
              <a:defRPr/>
            </a:pPr>
            <a:r>
              <a:rPr lang="en-US" sz="1800" i="1" dirty="0">
                <a:latin typeface="+mn-lt"/>
              </a:rPr>
              <a:t>P</a:t>
            </a:r>
            <a:r>
              <a:rPr lang="en-US" sz="1800" dirty="0">
                <a:latin typeface="+mn-lt"/>
              </a:rPr>
              <a:t>(</a:t>
            </a:r>
            <a:r>
              <a:rPr lang="en-US" sz="1800" i="1" dirty="0">
                <a:latin typeface="+mn-lt"/>
              </a:rPr>
              <a:t>j</a:t>
            </a:r>
            <a:r>
              <a:rPr lang="en-US" sz="1800" dirty="0">
                <a:latin typeface="+mn-lt"/>
              </a:rPr>
              <a:t>)=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BE5895-D209-E64F-8CAF-B80EA30F14F7}"/>
              </a:ext>
            </a:extLst>
          </p:cNvPr>
          <p:cNvSpPr txBox="1"/>
          <p:nvPr/>
        </p:nvSpPr>
        <p:spPr>
          <a:xfrm>
            <a:off x="2000250" y="2208610"/>
            <a:ext cx="248841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latin typeface="+mn-lt"/>
              </a:rPr>
              <a:t>3</a:t>
            </a:r>
          </a:p>
          <a:p>
            <a:pPr>
              <a:defRPr/>
            </a:pPr>
            <a:endParaRPr lang="en-US" sz="1200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A147D1-2269-0548-87DC-CB558DC2A3E9}"/>
              </a:ext>
            </a:extLst>
          </p:cNvPr>
          <p:cNvSpPr txBox="1"/>
          <p:nvPr/>
        </p:nvSpPr>
        <p:spPr>
          <a:xfrm>
            <a:off x="2000250" y="2377679"/>
            <a:ext cx="228600" cy="27699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latin typeface="+mn-lt"/>
              </a:rPr>
              <a:t>4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3154F1B-ECF8-FB44-9545-E72A4CF20FE0}"/>
              </a:ext>
            </a:extLst>
          </p:cNvPr>
          <p:cNvCxnSpPr/>
          <p:nvPr/>
        </p:nvCxnSpPr>
        <p:spPr bwMode="auto">
          <a:xfrm>
            <a:off x="2040731" y="2434829"/>
            <a:ext cx="133350" cy="0"/>
          </a:xfrm>
          <a:prstGeom prst="lin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ACBD102-BB96-9241-8C0D-D2B435989C7C}"/>
              </a:ext>
            </a:extLst>
          </p:cNvPr>
          <p:cNvSpPr txBox="1"/>
          <p:nvPr/>
        </p:nvSpPr>
        <p:spPr>
          <a:xfrm>
            <a:off x="2171700" y="2362200"/>
            <a:ext cx="248841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latin typeface="+mn-lt"/>
              </a:rPr>
              <a:t>1</a:t>
            </a:r>
          </a:p>
          <a:p>
            <a:pPr>
              <a:defRPr/>
            </a:pPr>
            <a:endParaRPr lang="en-US" sz="1200" dirty="0">
              <a:latin typeface="+mn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5505D6-B935-1A4A-A362-08BBF6EA4B75}"/>
              </a:ext>
            </a:extLst>
          </p:cNvPr>
          <p:cNvSpPr txBox="1"/>
          <p:nvPr/>
        </p:nvSpPr>
        <p:spPr>
          <a:xfrm>
            <a:off x="2171700" y="2530079"/>
            <a:ext cx="228600" cy="27699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latin typeface="+mn-lt"/>
              </a:rPr>
              <a:t>4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85056A2-7979-6A49-A1D6-5175D78416F3}"/>
              </a:ext>
            </a:extLst>
          </p:cNvPr>
          <p:cNvCxnSpPr/>
          <p:nvPr/>
        </p:nvCxnSpPr>
        <p:spPr bwMode="auto">
          <a:xfrm>
            <a:off x="2212181" y="2587229"/>
            <a:ext cx="133350" cy="0"/>
          </a:xfrm>
          <a:prstGeom prst="line">
            <a:avLst/>
          </a:prstGeom>
          <a:ln>
            <a:headEnd type="none" w="med" len="med"/>
            <a:tailEnd type="none" w="med" len="med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56369" name="Object 2">
            <a:extLst>
              <a:ext uri="{FF2B5EF4-FFF2-40B4-BE49-F238E27FC236}">
                <a16:creationId xmlns:a16="http://schemas.microsoft.com/office/drawing/2014/main" id="{20F13628-C39B-2F46-87AE-5DD88C6AEA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14451" y="1485900"/>
          <a:ext cx="1870472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7" name="Equation" r:id="rId3" imgW="1524000" imgH="419100" progId="Equation.3">
                  <p:embed/>
                </p:oleObj>
              </mc:Choice>
              <mc:Fallback>
                <p:oleObj name="Equation" r:id="rId3" imgW="1524000" imgH="419100" progId="Equation.3">
                  <p:embed/>
                  <p:pic>
                    <p:nvPicPr>
                      <p:cNvPr id="56369" name="Object 2">
                        <a:extLst>
                          <a:ext uri="{FF2B5EF4-FFF2-40B4-BE49-F238E27FC236}">
                            <a16:creationId xmlns:a16="http://schemas.microsoft.com/office/drawing/2014/main" id="{20F13628-C39B-2F46-87AE-5DD88C6AEA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451" y="1485900"/>
                        <a:ext cx="1870472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70" name="Object 2">
            <a:extLst>
              <a:ext uri="{FF2B5EF4-FFF2-40B4-BE49-F238E27FC236}">
                <a16:creationId xmlns:a16="http://schemas.microsoft.com/office/drawing/2014/main" id="{A8C5CDF1-A93C-D14A-BEE2-ADBCF02283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71700" y="509588"/>
          <a:ext cx="809625" cy="483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8" name="Equation" r:id="rId5" imgW="660400" imgH="393700" progId="Equation.3">
                  <p:embed/>
                </p:oleObj>
              </mc:Choice>
              <mc:Fallback>
                <p:oleObj name="Equation" r:id="rId5" imgW="660400" imgH="393700" progId="Equation.3">
                  <p:embed/>
                  <p:pic>
                    <p:nvPicPr>
                      <p:cNvPr id="56370" name="Object 2">
                        <a:extLst>
                          <a:ext uri="{FF2B5EF4-FFF2-40B4-BE49-F238E27FC236}">
                            <a16:creationId xmlns:a16="http://schemas.microsoft.com/office/drawing/2014/main" id="{A8C5CDF1-A93C-D14A-BEE2-ADBCF02283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0" y="509588"/>
                        <a:ext cx="809625" cy="483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FDC6700-922D-E245-90D0-3EEB9DC6B9B3}"/>
              </a:ext>
            </a:extLst>
          </p:cNvPr>
          <p:cNvSpPr txBox="1"/>
          <p:nvPr/>
        </p:nvSpPr>
        <p:spPr>
          <a:xfrm>
            <a:off x="2456387" y="3143251"/>
            <a:ext cx="190629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latin typeface="+mn-lt"/>
              </a:rPr>
              <a:t>(5+1) / (8+6) = 3/7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A035F6-1380-CF4B-A70C-2A37736561CB}"/>
              </a:ext>
            </a:extLst>
          </p:cNvPr>
          <p:cNvSpPr txBox="1"/>
          <p:nvPr/>
        </p:nvSpPr>
        <p:spPr>
          <a:xfrm>
            <a:off x="2441331" y="3395433"/>
            <a:ext cx="202331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latin typeface="+mn-lt"/>
              </a:rPr>
              <a:t>(0+1) / (8+6) = 1/14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F6A2D7-3D52-E444-988C-A10D40522CC8}"/>
              </a:ext>
            </a:extLst>
          </p:cNvPr>
          <p:cNvSpPr txBox="1"/>
          <p:nvPr/>
        </p:nvSpPr>
        <p:spPr>
          <a:xfrm>
            <a:off x="2456387" y="4007106"/>
            <a:ext cx="195919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800" dirty="0">
                <a:latin typeface="Calibri" charset="0"/>
              </a:rPr>
              <a:t>(1+1) / (3+6) = 2/9 </a:t>
            </a:r>
            <a:endParaRPr lang="en-US" sz="1800" dirty="0">
              <a:latin typeface="+mn-l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C7CC05-44EE-FC44-8760-8D5F986B7A2E}"/>
              </a:ext>
            </a:extLst>
          </p:cNvPr>
          <p:cNvSpPr txBox="1"/>
          <p:nvPr/>
        </p:nvSpPr>
        <p:spPr>
          <a:xfrm>
            <a:off x="2456387" y="3696909"/>
            <a:ext cx="202331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800" dirty="0">
                <a:latin typeface="+mn-lt"/>
              </a:rPr>
              <a:t>(0+1) / (8+6) = 1/14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DE1BA2-9D7E-3C44-AC58-5C2172D70E45}"/>
              </a:ext>
            </a:extLst>
          </p:cNvPr>
          <p:cNvSpPr txBox="1"/>
          <p:nvPr/>
        </p:nvSpPr>
        <p:spPr>
          <a:xfrm>
            <a:off x="2456387" y="4257045"/>
            <a:ext cx="195919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800" dirty="0">
                <a:latin typeface="Calibri" charset="0"/>
              </a:rPr>
              <a:t>(1+1) / (3+6) = 2/9 </a:t>
            </a:r>
            <a:endParaRPr lang="en-US" sz="1800" dirty="0">
              <a:latin typeface="+mn-l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6B6AB-C90F-9A48-8DB1-F238D06C696B}"/>
              </a:ext>
            </a:extLst>
          </p:cNvPr>
          <p:cNvSpPr txBox="1"/>
          <p:nvPr/>
        </p:nvSpPr>
        <p:spPr>
          <a:xfrm>
            <a:off x="2456387" y="4546762"/>
            <a:ext cx="195919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800" dirty="0">
                <a:latin typeface="Calibri" charset="0"/>
              </a:rPr>
              <a:t>(1+1) / (3+6) = 2/9 </a:t>
            </a:r>
            <a:endParaRPr lang="en-US" sz="1800" dirty="0">
              <a:latin typeface="+mn-lt"/>
            </a:endParaRPr>
          </a:p>
        </p:txBody>
      </p:sp>
      <p:sp>
        <p:nvSpPr>
          <p:cNvPr id="56377" name="TextBox 35">
            <a:extLst>
              <a:ext uri="{FF2B5EF4-FFF2-40B4-BE49-F238E27FC236}">
                <a16:creationId xmlns:a16="http://schemas.microsoft.com/office/drawing/2014/main" id="{BC1E27DC-DFD6-9C43-8BFF-B9F901DE4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7184" y="2922149"/>
            <a:ext cx="23262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lvl="1"/>
            <a:r>
              <a:rPr lang="en-US" altLang="zh-TW" sz="1200" dirty="0">
                <a:latin typeface="Calibri" panose="020F0502020204030204" pitchFamily="34" charset="0"/>
                <a:ea typeface="PMingLiU" panose="02020500000000000000" pitchFamily="18" charset="-120"/>
              </a:rPr>
              <a:t> 3/4 * (3/7)</a:t>
            </a:r>
            <a:r>
              <a:rPr lang="en-US" altLang="zh-TW" sz="1200" baseline="30000" dirty="0">
                <a:latin typeface="Calibri" panose="020F0502020204030204" pitchFamily="34" charset="0"/>
                <a:ea typeface="PMingLiU" panose="02020500000000000000" pitchFamily="18" charset="-120"/>
              </a:rPr>
              <a:t>3</a:t>
            </a:r>
            <a:r>
              <a:rPr lang="en-US" altLang="zh-TW" sz="1200" dirty="0">
                <a:latin typeface="Calibri" panose="020F0502020204030204" pitchFamily="34" charset="0"/>
                <a:ea typeface="PMingLiU" panose="02020500000000000000" pitchFamily="18" charset="-120"/>
              </a:rPr>
              <a:t> * 1/14 * 1/14 </a:t>
            </a:r>
          </a:p>
          <a:p>
            <a:pPr lvl="1">
              <a:buFont typeface="Wingdings" pitchFamily="2" charset="2"/>
              <a:buNone/>
            </a:pPr>
            <a:r>
              <a:rPr lang="en-US" altLang="zh-TW" sz="1200" dirty="0">
                <a:latin typeface="Calibri" panose="020F0502020204030204" pitchFamily="34" charset="0"/>
                <a:ea typeface="PMingLiU" panose="02020500000000000000" pitchFamily="18" charset="-120"/>
                <a:cs typeface="Arial" panose="020B0604020202020204" pitchFamily="34" charset="0"/>
              </a:rPr>
              <a:t>	≈ 0.0003</a:t>
            </a:r>
          </a:p>
        </p:txBody>
      </p:sp>
      <p:graphicFrame>
        <p:nvGraphicFramePr>
          <p:cNvPr id="56378" name="Object 2">
            <a:extLst>
              <a:ext uri="{FF2B5EF4-FFF2-40B4-BE49-F238E27FC236}">
                <a16:creationId xmlns:a16="http://schemas.microsoft.com/office/drawing/2014/main" id="{A1E2D494-D630-CA46-8018-69762168A0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5178178"/>
              </p:ext>
            </p:extLst>
          </p:nvPr>
        </p:nvGraphicFramePr>
        <p:xfrm>
          <a:off x="6080521" y="3000375"/>
          <a:ext cx="167879" cy="10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9" name="Equation" r:id="rId7" imgW="3505200" imgH="2921000" progId="Equation.3">
                  <p:embed/>
                </p:oleObj>
              </mc:Choice>
              <mc:Fallback>
                <p:oleObj name="Equation" r:id="rId7" imgW="3505200" imgH="2921000" progId="Equation.3">
                  <p:embed/>
                  <p:pic>
                    <p:nvPicPr>
                      <p:cNvPr id="56378" name="Object 2">
                        <a:extLst>
                          <a:ext uri="{FF2B5EF4-FFF2-40B4-BE49-F238E27FC236}">
                            <a16:creationId xmlns:a16="http://schemas.microsoft.com/office/drawing/2014/main" id="{A1E2D494-D630-CA46-8018-69762168A0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0521" y="3000375"/>
                        <a:ext cx="167879" cy="10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79" name="Object 2">
            <a:extLst>
              <a:ext uri="{FF2B5EF4-FFF2-40B4-BE49-F238E27FC236}">
                <a16:creationId xmlns:a16="http://schemas.microsoft.com/office/drawing/2014/main" id="{15BEBE83-AC9F-2349-BBE7-B17B4469FF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9139259"/>
              </p:ext>
            </p:extLst>
          </p:nvPr>
        </p:nvGraphicFramePr>
        <p:xfrm>
          <a:off x="6004321" y="3838575"/>
          <a:ext cx="167879" cy="10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0" name="Equation" r:id="rId9" imgW="3505200" imgH="2921000" progId="Equation.3">
                  <p:embed/>
                </p:oleObj>
              </mc:Choice>
              <mc:Fallback>
                <p:oleObj name="Equation" r:id="rId9" imgW="3505200" imgH="2921000" progId="Equation.3">
                  <p:embed/>
                  <p:pic>
                    <p:nvPicPr>
                      <p:cNvPr id="56379" name="Object 2">
                        <a:extLst>
                          <a:ext uri="{FF2B5EF4-FFF2-40B4-BE49-F238E27FC236}">
                            <a16:creationId xmlns:a16="http://schemas.microsoft.com/office/drawing/2014/main" id="{15BEBE83-AC9F-2349-BBE7-B17B4469FF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321" y="3838575"/>
                        <a:ext cx="167879" cy="10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80" name="Date Placeholder 1">
            <a:extLst>
              <a:ext uri="{FF2B5EF4-FFF2-40B4-BE49-F238E27FC236}">
                <a16:creationId xmlns:a16="http://schemas.microsoft.com/office/drawing/2014/main" id="{AEB88F2D-C3EA-9048-9323-D84F835642F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/>
              <a:t>UIT, VNU-HCM</a:t>
            </a:r>
          </a:p>
        </p:txBody>
      </p:sp>
      <p:sp>
        <p:nvSpPr>
          <p:cNvPr id="56381" name="Footer Placeholder 2">
            <a:extLst>
              <a:ext uri="{FF2B5EF4-FFF2-40B4-BE49-F238E27FC236}">
                <a16:creationId xmlns:a16="http://schemas.microsoft.com/office/drawing/2014/main" id="{73AC501D-3796-2548-AC35-6555D6469B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/>
              <a:t>Social Media Mining</a:t>
            </a:r>
          </a:p>
        </p:txBody>
      </p:sp>
    </p:spTree>
    <p:extLst>
      <p:ext uri="{BB962C8B-B14F-4D97-AF65-F5344CB8AC3E}">
        <p14:creationId xmlns:p14="http://schemas.microsoft.com/office/powerpoint/2010/main" val="4401224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F3AC567-A0BA-C447-A98A-44E2DE4CE6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776859"/>
              </p:ext>
            </p:extLst>
          </p:nvPr>
        </p:nvGraphicFramePr>
        <p:xfrm>
          <a:off x="2057400" y="1518234"/>
          <a:ext cx="5086350" cy="2026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616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200" dirty="0"/>
                    </a:p>
                  </a:txBody>
                  <a:tcPr marL="68580" marR="68580" marT="34291" marB="3429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</a:t>
                      </a:r>
                    </a:p>
                  </a:txBody>
                  <a:tcPr marL="68580" marR="68580" marT="34291" marB="3429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Sentence</a:t>
                      </a:r>
                    </a:p>
                  </a:txBody>
                  <a:tcPr marL="68580" marR="68580" marT="34291" marB="34291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70000"/>
                        </a:lnSpc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</a:t>
                      </a:r>
                    </a:p>
                  </a:txBody>
                  <a:tcPr marL="68580" marR="68580" marT="34291" marB="3429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114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Training</a:t>
                      </a:r>
                    </a:p>
                  </a:txBody>
                  <a:tcPr marL="68580" marR="68580" marT="34291" marB="3429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1</a:t>
                      </a:r>
                    </a:p>
                  </a:txBody>
                  <a:tcPr marL="68580" marR="68580" marT="34291" marB="3429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 err="1"/>
                        <a:t>sản_phẩm</a:t>
                      </a:r>
                      <a:r>
                        <a:rPr lang="en-US" sz="1200" dirty="0"/>
                        <a:t> A </a:t>
                      </a:r>
                      <a:r>
                        <a:rPr lang="en-US" sz="1200" dirty="0" err="1"/>
                        <a:t>rất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tốt</a:t>
                      </a:r>
                      <a:r>
                        <a:rPr lang="en-US" sz="1200" dirty="0"/>
                        <a:t>.</a:t>
                      </a:r>
                    </a:p>
                  </a:txBody>
                  <a:tcPr marL="68580" marR="68580" marT="34291" marB="3429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 err="1"/>
                        <a:t>pos</a:t>
                      </a:r>
                      <a:endParaRPr lang="en-US" sz="1200" dirty="0"/>
                    </a:p>
                  </a:txBody>
                  <a:tcPr marL="68580" marR="68580" marT="34291" marB="3429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114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200" dirty="0"/>
                    </a:p>
                  </a:txBody>
                  <a:tcPr marL="68580" marR="68580" marT="34291" marB="3429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2</a:t>
                      </a:r>
                    </a:p>
                  </a:txBody>
                  <a:tcPr marL="68580" marR="68580" marT="34291" marB="3429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 err="1"/>
                        <a:t>tôi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không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thích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sản_phẩm</a:t>
                      </a:r>
                      <a:r>
                        <a:rPr lang="en-US" sz="1200" dirty="0"/>
                        <a:t> A.</a:t>
                      </a:r>
                    </a:p>
                  </a:txBody>
                  <a:tcPr marL="68580" marR="68580" marT="34291" marB="3429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neg</a:t>
                      </a:r>
                    </a:p>
                  </a:txBody>
                  <a:tcPr marL="68580" marR="68580" marT="34291" marB="3429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114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200"/>
                    </a:p>
                  </a:txBody>
                  <a:tcPr marL="68580" marR="68580" marT="34291" marB="3429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3</a:t>
                      </a:r>
                    </a:p>
                  </a:txBody>
                  <a:tcPr marL="68580" marR="68580" marT="34291" marB="3429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 err="1"/>
                        <a:t>màu_sắc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của</a:t>
                      </a:r>
                      <a:r>
                        <a:rPr lang="en-US" sz="1200" dirty="0"/>
                        <a:t> A </a:t>
                      </a:r>
                      <a:r>
                        <a:rPr lang="en-US" sz="1200" dirty="0" err="1"/>
                        <a:t>thật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tốt</a:t>
                      </a:r>
                      <a:r>
                        <a:rPr lang="en-US" sz="1200" dirty="0"/>
                        <a:t>.</a:t>
                      </a:r>
                    </a:p>
                  </a:txBody>
                  <a:tcPr marL="68580" marR="68580" marT="34291" marB="3429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 err="1"/>
                        <a:t>pos</a:t>
                      </a:r>
                      <a:endParaRPr lang="en-US" sz="1200" dirty="0"/>
                    </a:p>
                  </a:txBody>
                  <a:tcPr marL="68580" marR="68580" marT="34291" marB="3429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114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200"/>
                    </a:p>
                  </a:txBody>
                  <a:tcPr marL="68580" marR="68580" marT="34291" marB="3429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4</a:t>
                      </a:r>
                    </a:p>
                  </a:txBody>
                  <a:tcPr marL="68580" marR="68580" marT="34291" marB="3429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 err="1"/>
                        <a:t>sản_phẩm</a:t>
                      </a:r>
                      <a:r>
                        <a:rPr lang="en-US" sz="1200" dirty="0"/>
                        <a:t> A </a:t>
                      </a:r>
                      <a:r>
                        <a:rPr lang="en-US" sz="1200" dirty="0" err="1"/>
                        <a:t>thật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kinh_khủng</a:t>
                      </a:r>
                      <a:r>
                        <a:rPr lang="en-US" sz="1200" dirty="0"/>
                        <a:t>.</a:t>
                      </a:r>
                    </a:p>
                  </a:txBody>
                  <a:tcPr marL="68580" marR="68580" marT="34291" marB="3429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neg</a:t>
                      </a:r>
                    </a:p>
                  </a:txBody>
                  <a:tcPr marL="68580" marR="68580" marT="34291" marB="34291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616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Test</a:t>
                      </a:r>
                    </a:p>
                  </a:txBody>
                  <a:tcPr marL="68580" marR="68580" marT="34291" marB="34291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5</a:t>
                      </a:r>
                    </a:p>
                  </a:txBody>
                  <a:tcPr marL="68580" marR="68580" marT="34291" marB="34291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 err="1"/>
                        <a:t>sản_phẩm</a:t>
                      </a:r>
                      <a:r>
                        <a:rPr lang="en-US" sz="1200" dirty="0"/>
                        <a:t> A </a:t>
                      </a:r>
                      <a:r>
                        <a:rPr lang="en-US" sz="1200" dirty="0" err="1"/>
                        <a:t>khá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tốt</a:t>
                      </a:r>
                      <a:r>
                        <a:rPr lang="en-US" sz="1200" dirty="0"/>
                        <a:t>.</a:t>
                      </a:r>
                    </a:p>
                  </a:txBody>
                  <a:tcPr marL="68580" marR="68580" marT="34291" marB="34291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?</a:t>
                      </a:r>
                    </a:p>
                  </a:txBody>
                  <a:tcPr marL="68580" marR="68580" marT="34291" marB="3429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574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200" dirty="0"/>
                    </a:p>
                  </a:txBody>
                  <a:tcPr marL="68580" marR="68580" marT="34291" marB="34291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6</a:t>
                      </a:r>
                    </a:p>
                  </a:txBody>
                  <a:tcPr marL="68580" marR="68580" marT="34291" marB="34291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 err="1"/>
                        <a:t>màu_sắc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quá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kinh_khủng</a:t>
                      </a:r>
                      <a:r>
                        <a:rPr lang="en-US" sz="1200" dirty="0"/>
                        <a:t>.</a:t>
                      </a:r>
                    </a:p>
                  </a:txBody>
                  <a:tcPr marL="68580" marR="68580" marT="34291" marB="34291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200" dirty="0"/>
                        <a:t>?</a:t>
                      </a:r>
                    </a:p>
                  </a:txBody>
                  <a:tcPr marL="68580" marR="68580" marT="34291" marB="3429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7387" name="Slide Number Placeholder 3">
            <a:extLst>
              <a:ext uri="{FF2B5EF4-FFF2-40B4-BE49-F238E27FC236}">
                <a16:creationId xmlns:a16="http://schemas.microsoft.com/office/drawing/2014/main" id="{8397F3DB-2CB1-F44D-92DD-E9BB861CB3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DCF49BF-348F-594B-8DE8-54531DDE0DF0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57388" name="Date Placeholder 1">
            <a:extLst>
              <a:ext uri="{FF2B5EF4-FFF2-40B4-BE49-F238E27FC236}">
                <a16:creationId xmlns:a16="http://schemas.microsoft.com/office/drawing/2014/main" id="{4F631B3E-74B9-B940-A725-C34B569691A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/>
              <a:t>UIT, VNU-HCM</a:t>
            </a:r>
          </a:p>
        </p:txBody>
      </p:sp>
      <p:sp>
        <p:nvSpPr>
          <p:cNvPr id="57389" name="Footer Placeholder 2">
            <a:extLst>
              <a:ext uri="{FF2B5EF4-FFF2-40B4-BE49-F238E27FC236}">
                <a16:creationId xmlns:a16="http://schemas.microsoft.com/office/drawing/2014/main" id="{132D37D3-ABEE-DC45-B699-7A7A9A9B7B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557213" indent="-214313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8572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2001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1543050" indent="-1714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/>
              <a:t>Social Media Mining</a:t>
            </a:r>
          </a:p>
        </p:txBody>
      </p:sp>
      <p:sp>
        <p:nvSpPr>
          <p:cNvPr id="57390" name="TextBox 1">
            <a:extLst>
              <a:ext uri="{FF2B5EF4-FFF2-40B4-BE49-F238E27FC236}">
                <a16:creationId xmlns:a16="http://schemas.microsoft.com/office/drawing/2014/main" id="{8BB60C1F-D2E9-AF4A-A018-A71EC741E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2" y="304710"/>
            <a:ext cx="2228850" cy="403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en-US" sz="202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</a:t>
            </a:r>
          </a:p>
        </p:txBody>
      </p:sp>
    </p:spTree>
    <p:extLst>
      <p:ext uri="{BB962C8B-B14F-4D97-AF65-F5344CB8AC3E}">
        <p14:creationId xmlns:p14="http://schemas.microsoft.com/office/powerpoint/2010/main" val="21371974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A6ACC-B7E8-FE49-9AEF-AB8E83414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for sentiment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8A2F8-FC58-914F-B966-0C9C5358B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tasks like sentiment, word </a:t>
            </a:r>
            <a:r>
              <a:rPr lang="en-US" b="1" dirty="0"/>
              <a:t>occurrence</a:t>
            </a:r>
            <a:r>
              <a:rPr lang="en-US" dirty="0"/>
              <a:t> is more important than word </a:t>
            </a:r>
            <a:r>
              <a:rPr lang="en-US" b="1" dirty="0"/>
              <a:t>frequency</a:t>
            </a:r>
            <a:r>
              <a:rPr lang="en-US" dirty="0"/>
              <a:t>.</a:t>
            </a:r>
          </a:p>
          <a:p>
            <a:pPr lvl="2"/>
            <a:r>
              <a:rPr lang="en-US" sz="2200" dirty="0"/>
              <a:t>The occurrence of the word </a:t>
            </a:r>
            <a:r>
              <a:rPr lang="en-US" sz="2200" i="1" dirty="0"/>
              <a:t>fantastic</a:t>
            </a:r>
            <a:r>
              <a:rPr lang="en-US" sz="2200" dirty="0"/>
              <a:t> tells us a lot</a:t>
            </a:r>
          </a:p>
          <a:p>
            <a:pPr lvl="2"/>
            <a:r>
              <a:rPr lang="en-US" sz="2200" dirty="0"/>
              <a:t>The fact that it occurs 5 times may not tell us much more.</a:t>
            </a:r>
          </a:p>
          <a:p>
            <a:pPr marL="0" indent="0">
              <a:buNone/>
            </a:pPr>
            <a:r>
              <a:rPr lang="en-US" b="1" dirty="0"/>
              <a:t>Binary multinominal naive bayes</a:t>
            </a:r>
            <a:r>
              <a:rPr lang="en-US" dirty="0"/>
              <a:t>, or </a:t>
            </a:r>
            <a:r>
              <a:rPr lang="en-US" b="1" dirty="0"/>
              <a:t>binary NB</a:t>
            </a:r>
          </a:p>
          <a:p>
            <a:pPr lvl="1"/>
            <a:r>
              <a:rPr lang="en-US" dirty="0"/>
              <a:t>Clip our word counts at 1</a:t>
            </a:r>
          </a:p>
          <a:p>
            <a:pPr lvl="1"/>
            <a:r>
              <a:rPr lang="en-US" b="1" u="sng" dirty="0"/>
              <a:t>Note</a:t>
            </a:r>
            <a:r>
              <a:rPr lang="en-US" dirty="0"/>
              <a:t>: this is different than Bernoulli naive bayes; see the textbook at the end of the chapter.</a:t>
            </a:r>
          </a:p>
        </p:txBody>
      </p:sp>
    </p:spTree>
    <p:extLst>
      <p:ext uri="{BB962C8B-B14F-4D97-AF65-F5344CB8AC3E}">
        <p14:creationId xmlns:p14="http://schemas.microsoft.com/office/powerpoint/2010/main" val="29958757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Rectangle 3"/>
          <p:cNvSpPr>
            <a:spLocks noGrp="1" noChangeArrowheads="1"/>
          </p:cNvSpPr>
          <p:nvPr>
            <p:ph type="title"/>
          </p:nvPr>
        </p:nvSpPr>
        <p:spPr>
          <a:xfrm>
            <a:off x="1219200" y="114300"/>
            <a:ext cx="7772400" cy="857250"/>
          </a:xfrm>
        </p:spPr>
        <p:txBody>
          <a:bodyPr>
            <a:normAutofit/>
          </a:bodyPr>
          <a:lstStyle/>
          <a:p>
            <a:r>
              <a:rPr lang="en-US" dirty="0"/>
              <a:t>Binary Multinomial Naïve Bayes: Learning</a:t>
            </a:r>
          </a:p>
        </p:txBody>
      </p:sp>
      <p:sp>
        <p:nvSpPr>
          <p:cNvPr id="52230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152400" y="1827743"/>
            <a:ext cx="4572000" cy="264900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200" dirty="0">
                <a:latin typeface="Calibri"/>
                <a:cs typeface="Calibri"/>
              </a:rPr>
              <a:t>Calculate </a:t>
            </a:r>
            <a:r>
              <a:rPr lang="en-US" sz="2200" i="1" dirty="0">
                <a:latin typeface="Calibri"/>
                <a:cs typeface="Calibri"/>
              </a:rPr>
              <a:t>P</a:t>
            </a:r>
            <a:r>
              <a:rPr lang="en-US" sz="2200" dirty="0">
                <a:latin typeface="Calibri"/>
                <a:cs typeface="Calibri"/>
              </a:rPr>
              <a:t>(</a:t>
            </a:r>
            <a:r>
              <a:rPr lang="en-US" sz="2200" i="1" dirty="0" err="1">
                <a:latin typeface="Calibri"/>
                <a:cs typeface="Calibri"/>
              </a:rPr>
              <a:t>c</a:t>
            </a:r>
            <a:r>
              <a:rPr lang="en-US" sz="2200" i="1" baseline="-25000" dirty="0" err="1">
                <a:latin typeface="Calibri"/>
                <a:cs typeface="Calibri"/>
              </a:rPr>
              <a:t>j</a:t>
            </a:r>
            <a:r>
              <a:rPr lang="en-US" sz="2200" dirty="0">
                <a:latin typeface="Calibri"/>
                <a:cs typeface="Calibri"/>
              </a:rPr>
              <a:t>)</a:t>
            </a:r>
            <a:r>
              <a:rPr lang="en-US" sz="2200" i="1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terms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Calibri"/>
                <a:cs typeface="Calibri"/>
              </a:rPr>
              <a:t>For each </a:t>
            </a:r>
            <a:r>
              <a:rPr lang="en-US" sz="2000" i="1" dirty="0" err="1">
                <a:latin typeface="Calibri"/>
                <a:cs typeface="Calibri"/>
              </a:rPr>
              <a:t>c</a:t>
            </a:r>
            <a:r>
              <a:rPr lang="en-US" sz="2000" i="1" baseline="-25000" dirty="0" err="1">
                <a:latin typeface="Calibri"/>
                <a:cs typeface="Calibri"/>
              </a:rPr>
              <a:t>j</a:t>
            </a:r>
            <a:r>
              <a:rPr lang="en-US" sz="2000" i="1" baseline="-250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 </a:t>
            </a:r>
            <a:r>
              <a:rPr lang="en-US" sz="2000" i="1" dirty="0">
                <a:latin typeface="Calibri"/>
                <a:cs typeface="Calibri"/>
              </a:rPr>
              <a:t>C</a:t>
            </a:r>
            <a:r>
              <a:rPr lang="en-US" sz="2000" dirty="0">
                <a:latin typeface="Calibri"/>
                <a:cs typeface="Calibri"/>
              </a:rPr>
              <a:t> do</a:t>
            </a:r>
          </a:p>
          <a:p>
            <a:pPr marL="800100" lvl="2" indent="0">
              <a:lnSpc>
                <a:spcPct val="90000"/>
              </a:lnSpc>
              <a:buNone/>
            </a:pPr>
            <a:r>
              <a:rPr lang="en-US" i="1" dirty="0">
                <a:latin typeface="Calibri"/>
                <a:cs typeface="Calibri"/>
              </a:rPr>
              <a:t> </a:t>
            </a:r>
            <a:r>
              <a:rPr lang="en-US" i="1" dirty="0" err="1">
                <a:latin typeface="Calibri"/>
                <a:cs typeface="Calibri"/>
              </a:rPr>
              <a:t>docs</a:t>
            </a:r>
            <a:r>
              <a:rPr lang="en-US" i="1" baseline="-25000" dirty="0" err="1">
                <a:latin typeface="Calibri"/>
                <a:cs typeface="Calibri"/>
              </a:rPr>
              <a:t>j</a:t>
            </a:r>
            <a:r>
              <a:rPr lang="en-US" i="1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  <a:sym typeface="Symbol" charset="2"/>
              </a:rPr>
              <a:t></a:t>
            </a:r>
            <a:r>
              <a:rPr lang="en-US" i="1" dirty="0">
                <a:latin typeface="Calibri"/>
                <a:cs typeface="Calibri"/>
                <a:sym typeface="Symbol" charset="2"/>
              </a:rPr>
              <a:t> </a:t>
            </a:r>
            <a:r>
              <a:rPr lang="en-US" dirty="0">
                <a:latin typeface="Calibri"/>
                <a:cs typeface="Calibri"/>
                <a:sym typeface="Symbol" charset="2"/>
              </a:rPr>
              <a:t>all docs with  class =</a:t>
            </a:r>
            <a:r>
              <a:rPr lang="en-US" i="1" dirty="0" err="1">
                <a:latin typeface="Calibri"/>
                <a:cs typeface="Calibri"/>
              </a:rPr>
              <a:t>c</a:t>
            </a:r>
            <a:r>
              <a:rPr lang="en-US" i="1" baseline="-25000" dirty="0" err="1">
                <a:latin typeface="Calibri"/>
                <a:cs typeface="Calibri"/>
              </a:rPr>
              <a:t>j</a:t>
            </a:r>
            <a:endParaRPr lang="en-US" i="1" baseline="-25000" dirty="0">
              <a:latin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sz="2200" dirty="0">
              <a:latin typeface="Calibri"/>
              <a:cs typeface="Calibri"/>
            </a:endParaRPr>
          </a:p>
        </p:txBody>
      </p:sp>
      <p:graphicFrame>
        <p:nvGraphicFramePr>
          <p:cNvPr id="52227" name="Object 3"/>
          <p:cNvGraphicFramePr>
            <a:graphicFrameLocks noChangeAspect="1"/>
          </p:cNvGraphicFramePr>
          <p:nvPr/>
        </p:nvGraphicFramePr>
        <p:xfrm>
          <a:off x="1066800" y="2952750"/>
          <a:ext cx="3200400" cy="742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83" name="Equation" r:id="rId3" imgW="1752600" imgH="406400" progId="Equation.3">
                  <p:embed/>
                </p:oleObj>
              </mc:Choice>
              <mc:Fallback>
                <p:oleObj name="Equation" r:id="rId3" imgW="1752600" imgH="406400" progId="Equation.3">
                  <p:embed/>
                  <p:pic>
                    <p:nvPicPr>
                      <p:cNvPr id="522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952750"/>
                        <a:ext cx="3200400" cy="7421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4038600" y="2190750"/>
            <a:ext cx="5791200" cy="1776535"/>
            <a:chOff x="4038600" y="2495550"/>
            <a:chExt cx="5791200" cy="1776535"/>
          </a:xfrm>
        </p:grpSpPr>
        <p:graphicFrame>
          <p:nvGraphicFramePr>
            <p:cNvPr id="52226" name="Object 2"/>
            <p:cNvGraphicFramePr>
              <a:graphicFrameLocks noChangeAspect="1"/>
            </p:cNvGraphicFramePr>
            <p:nvPr/>
          </p:nvGraphicFramePr>
          <p:xfrm>
            <a:off x="5233147" y="3486150"/>
            <a:ext cx="3606053" cy="7859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584" name="Equation" r:id="rId5" imgW="1981200" imgH="431800" progId="Equation.3">
                    <p:embed/>
                  </p:oleObj>
                </mc:Choice>
                <mc:Fallback>
                  <p:oleObj name="Equation" r:id="rId5" imgW="1981200" imgH="431800" progId="Equation.3">
                    <p:embed/>
                    <p:pic>
                      <p:nvPicPr>
                        <p:cNvPr id="52226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3147" y="3486150"/>
                          <a:ext cx="3606053" cy="78593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4"/>
            <p:cNvSpPr txBox="1">
              <a:spLocks noChangeArrowheads="1"/>
            </p:cNvSpPr>
            <p:nvPr/>
          </p:nvSpPr>
          <p:spPr bwMode="auto">
            <a:xfrm>
              <a:off x="4038600" y="2495550"/>
              <a:ext cx="5791200" cy="152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="" xmlns:ma14="http://schemas.microsoft.com/office/mac/drawingml/2011/main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pitchFamily="-65" charset="-128"/>
                  <a:cs typeface="ＭＳ Ｐゴシック" pitchFamily="-65" charset="-128"/>
                </a:defRPr>
              </a:lvl1pPr>
              <a:lvl2pPr marL="685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Times" charset="0"/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2pPr>
              <a:lvl3pPr marL="10287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charset="0"/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3pPr>
              <a:lvl4pPr marL="1371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Times" charset="0"/>
                <a:buChar char="•"/>
                <a:defRPr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4pPr>
              <a:lvl5pPr marL="17145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charset="0"/>
                <a:buChar char="•"/>
                <a:defRPr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5pPr>
              <a:lvl6pPr marL="21717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pitchFamily="-65" charset="0"/>
                <a:buChar char="•"/>
                <a:defRPr sz="14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6pPr>
              <a:lvl7pPr marL="26289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pitchFamily="-65" charset="0"/>
                <a:buChar char="•"/>
                <a:defRPr sz="14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7pPr>
              <a:lvl8pPr marL="30861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pitchFamily="-65" charset="0"/>
                <a:buChar char="•"/>
                <a:defRPr sz="14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8pPr>
              <a:lvl9pPr marL="35433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pitchFamily="-65" charset="0"/>
                <a:buChar char="•"/>
                <a:defRPr sz="14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9pPr>
            </a:lstStyle>
            <a:p>
              <a:pPr lvl="1">
                <a:spcBef>
                  <a:spcPts val="0"/>
                </a:spcBef>
              </a:pPr>
              <a:r>
                <a:rPr lang="en-US" i="1" dirty="0" err="1">
                  <a:latin typeface="Calibri"/>
                  <a:ea typeface="ＭＳ Ｐゴシック" charset="-128"/>
                  <a:cs typeface="Calibri"/>
                </a:rPr>
                <a:t>Text</a:t>
              </a:r>
              <a:r>
                <a:rPr lang="en-US" i="1" baseline="-25000" dirty="0" err="1">
                  <a:latin typeface="Calibri"/>
                  <a:ea typeface="ＭＳ Ｐゴシック" charset="-128"/>
                  <a:cs typeface="Calibri"/>
                </a:rPr>
                <a:t>j</a:t>
              </a:r>
              <a:r>
                <a:rPr lang="en-US" i="1" dirty="0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 dirty="0">
                  <a:latin typeface="Calibri"/>
                  <a:ea typeface="ＭＳ Ｐゴシック" charset="-128"/>
                  <a:cs typeface="Calibri"/>
                  <a:sym typeface="Symbol" charset="2"/>
                </a:rPr>
                <a:t> single doc containing all </a:t>
              </a:r>
              <a:r>
                <a:rPr lang="en-US" i="1" dirty="0" err="1">
                  <a:latin typeface="Calibri"/>
                  <a:ea typeface="ＭＳ Ｐゴシック" charset="-128"/>
                  <a:cs typeface="Calibri"/>
                </a:rPr>
                <a:t>docs</a:t>
              </a:r>
              <a:r>
                <a:rPr lang="en-US" i="1" baseline="-25000" dirty="0" err="1">
                  <a:latin typeface="Calibri"/>
                  <a:ea typeface="ＭＳ Ｐゴシック" charset="-128"/>
                  <a:cs typeface="Calibri"/>
                </a:rPr>
                <a:t>j</a:t>
              </a:r>
              <a:endParaRPr lang="en-US" i="1" baseline="-25000" dirty="0">
                <a:latin typeface="Calibri"/>
                <a:ea typeface="ＭＳ Ｐゴシック" charset="-128"/>
                <a:cs typeface="Calibri"/>
              </a:endParaRPr>
            </a:p>
            <a:p>
              <a:pPr lvl="1">
                <a:spcBef>
                  <a:spcPts val="0"/>
                </a:spcBef>
              </a:pPr>
              <a:r>
                <a:rPr lang="en-US" dirty="0">
                  <a:latin typeface="Calibri"/>
                  <a:ea typeface="ＭＳ Ｐゴシック" charset="-128"/>
                  <a:cs typeface="Calibri"/>
                </a:rPr>
                <a:t>For</a:t>
              </a:r>
              <a:r>
                <a:rPr lang="en-US" i="1" baseline="-25000" dirty="0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 dirty="0">
                  <a:latin typeface="Calibri"/>
                  <a:ea typeface="ＭＳ Ｐゴシック" charset="-128"/>
                  <a:cs typeface="Calibri"/>
                </a:rPr>
                <a:t>each word </a:t>
              </a:r>
              <a:r>
                <a:rPr lang="en-US" i="1" dirty="0" err="1">
                  <a:latin typeface="Calibri"/>
                  <a:ea typeface="ＭＳ Ｐゴシック" charset="-128"/>
                  <a:cs typeface="Calibri"/>
                </a:rPr>
                <a:t>w</a:t>
              </a:r>
              <a:r>
                <a:rPr lang="en-US" i="1" baseline="-25000" dirty="0" err="1">
                  <a:latin typeface="Calibri"/>
                  <a:ea typeface="ＭＳ Ｐゴシック" charset="-128"/>
                  <a:cs typeface="Calibri"/>
                </a:rPr>
                <a:t>k</a:t>
              </a:r>
              <a:r>
                <a:rPr lang="en-US" i="1" dirty="0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 dirty="0">
                  <a:latin typeface="Calibri"/>
                  <a:ea typeface="ＭＳ Ｐゴシック" charset="-128"/>
                  <a:cs typeface="Calibri"/>
                </a:rPr>
                <a:t>in </a:t>
              </a:r>
              <a:r>
                <a:rPr lang="en-US" i="1" dirty="0">
                  <a:latin typeface="Calibri"/>
                  <a:ea typeface="ＭＳ Ｐゴシック" charset="-128"/>
                  <a:cs typeface="Calibri"/>
                </a:rPr>
                <a:t>Vocabulary</a:t>
              </a:r>
            </a:p>
            <a:p>
              <a:pPr marL="800100" lvl="2" indent="0">
                <a:spcBef>
                  <a:spcPts val="0"/>
                </a:spcBef>
                <a:buNone/>
              </a:pPr>
              <a:r>
                <a:rPr lang="en-US" i="1" dirty="0">
                  <a:latin typeface="Calibri"/>
                  <a:ea typeface="ＭＳ Ｐゴシック" charset="-128"/>
                  <a:cs typeface="Calibri"/>
                </a:rPr>
                <a:t>    </a:t>
              </a:r>
              <a:r>
                <a:rPr lang="en-US" i="1" dirty="0" err="1">
                  <a:latin typeface="Calibri"/>
                  <a:ea typeface="ＭＳ Ｐゴシック" charset="-128"/>
                  <a:cs typeface="Calibri"/>
                </a:rPr>
                <a:t>n</a:t>
              </a:r>
              <a:r>
                <a:rPr lang="en-US" i="1" baseline="-25000" dirty="0" err="1">
                  <a:latin typeface="Calibri"/>
                  <a:ea typeface="ＭＳ Ｐゴシック" charset="-128"/>
                  <a:cs typeface="Calibri"/>
                </a:rPr>
                <a:t>k</a:t>
              </a:r>
              <a:r>
                <a:rPr lang="en-US" i="1" dirty="0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 dirty="0">
                  <a:latin typeface="Calibri"/>
                  <a:ea typeface="ＭＳ Ｐゴシック" charset="-128"/>
                  <a:cs typeface="Calibri"/>
                  <a:sym typeface="Symbol" charset="2"/>
                </a:rPr>
                <a:t> # of occurrences of </a:t>
              </a:r>
              <a:r>
                <a:rPr lang="en-US" i="1" dirty="0" err="1">
                  <a:latin typeface="Calibri"/>
                  <a:ea typeface="ＭＳ Ｐゴシック" charset="-128"/>
                  <a:cs typeface="Calibri"/>
                  <a:sym typeface="Symbol" charset="2"/>
                </a:rPr>
                <a:t>w</a:t>
              </a:r>
              <a:r>
                <a:rPr lang="en-US" i="1" baseline="-25000" dirty="0" err="1">
                  <a:latin typeface="Calibri"/>
                  <a:ea typeface="ＭＳ Ｐゴシック" charset="-128"/>
                  <a:cs typeface="Calibri"/>
                </a:rPr>
                <a:t>k</a:t>
              </a:r>
              <a:r>
                <a:rPr lang="en-US" i="1" dirty="0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 dirty="0">
                  <a:latin typeface="Calibri"/>
                  <a:ea typeface="ＭＳ Ｐゴシック" charset="-128"/>
                  <a:cs typeface="Calibri"/>
                </a:rPr>
                <a:t>in </a:t>
              </a:r>
              <a:r>
                <a:rPr lang="en-US" i="1" dirty="0" err="1">
                  <a:latin typeface="Calibri"/>
                  <a:ea typeface="ＭＳ Ｐゴシック" charset="-128"/>
                  <a:cs typeface="Calibri"/>
                </a:rPr>
                <a:t>Text</a:t>
              </a:r>
              <a:r>
                <a:rPr lang="en-US" i="1" baseline="-25000" dirty="0" err="1">
                  <a:latin typeface="Calibri"/>
                  <a:ea typeface="ＭＳ Ｐゴシック" charset="-128"/>
                  <a:cs typeface="Calibri"/>
                </a:rPr>
                <a:t>j</a:t>
              </a:r>
              <a:endParaRPr lang="en-US" i="1" baseline="-25000" dirty="0">
                <a:latin typeface="Calibri"/>
                <a:ea typeface="ＭＳ Ｐゴシック" charset="-128"/>
                <a:cs typeface="Calibri"/>
              </a:endParaRPr>
            </a:p>
          </p:txBody>
        </p:sp>
      </p:grpSp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152400" y="1276350"/>
            <a:ext cx="5410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200" dirty="0">
                <a:latin typeface="Calibri" charset="0"/>
              </a:rPr>
              <a:t>From training corpus, extract </a:t>
            </a:r>
            <a:r>
              <a:rPr lang="en-US" sz="2200" i="1" dirty="0">
                <a:latin typeface="Times New Roman" charset="0"/>
              </a:rPr>
              <a:t>Vocabulary</a:t>
            </a:r>
            <a:endParaRPr lang="en-US" sz="2200" dirty="0">
              <a:latin typeface="Calibri" charset="0"/>
            </a:endParaRP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 bwMode="auto">
          <a:xfrm>
            <a:off x="3962400" y="1809750"/>
            <a:ext cx="5791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200" dirty="0">
                <a:latin typeface="Calibri"/>
                <a:cs typeface="Calibri"/>
              </a:rPr>
              <a:t>Calculate </a:t>
            </a:r>
            <a:r>
              <a:rPr lang="en-US" sz="2200" i="1" dirty="0">
                <a:latin typeface="Calibri"/>
                <a:cs typeface="Calibri"/>
              </a:rPr>
              <a:t>P</a:t>
            </a:r>
            <a:r>
              <a:rPr lang="en-US" sz="2200" dirty="0">
                <a:latin typeface="Calibri"/>
                <a:cs typeface="Calibri"/>
              </a:rPr>
              <a:t>(</a:t>
            </a:r>
            <a:r>
              <a:rPr lang="en-US" sz="2200" i="1" dirty="0" err="1">
                <a:latin typeface="Calibri"/>
                <a:cs typeface="Calibri"/>
              </a:rPr>
              <a:t>w</a:t>
            </a:r>
            <a:r>
              <a:rPr lang="en-US" sz="2200" i="1" baseline="-25000" dirty="0" err="1">
                <a:latin typeface="Calibri"/>
                <a:cs typeface="Calibri"/>
              </a:rPr>
              <a:t>k</a:t>
            </a:r>
            <a:r>
              <a:rPr lang="en-US" sz="2200" i="1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|</a:t>
            </a:r>
            <a:r>
              <a:rPr lang="en-US" sz="2200" i="1" dirty="0">
                <a:latin typeface="Calibri"/>
                <a:cs typeface="Calibri"/>
              </a:rPr>
              <a:t> </a:t>
            </a:r>
            <a:r>
              <a:rPr lang="en-US" sz="2200" i="1" dirty="0" err="1">
                <a:latin typeface="Calibri"/>
                <a:cs typeface="Calibri"/>
              </a:rPr>
              <a:t>c</a:t>
            </a:r>
            <a:r>
              <a:rPr lang="en-US" sz="2200" i="1" baseline="-25000" dirty="0" err="1">
                <a:latin typeface="Calibri"/>
                <a:cs typeface="Calibri"/>
              </a:rPr>
              <a:t>j</a:t>
            </a:r>
            <a:r>
              <a:rPr lang="en-US" sz="2200" dirty="0">
                <a:latin typeface="Calibri"/>
                <a:cs typeface="Calibri"/>
              </a:rPr>
              <a:t>)</a:t>
            </a:r>
            <a:r>
              <a:rPr lang="en-US" sz="2200" i="1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terms</a:t>
            </a: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4038600" y="2190750"/>
            <a:ext cx="5791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lvl="1">
              <a:spcBef>
                <a:spcPts val="0"/>
              </a:spcBef>
            </a:pPr>
            <a:r>
              <a:rPr lang="en-US" sz="1800" dirty="0">
                <a:latin typeface="Calibri"/>
                <a:cs typeface="Calibri"/>
              </a:rPr>
              <a:t>Remove duplicates in each doc:</a:t>
            </a:r>
          </a:p>
          <a:p>
            <a:pPr lvl="2">
              <a:spcBef>
                <a:spcPts val="0"/>
              </a:spcBef>
            </a:pPr>
            <a:r>
              <a:rPr lang="en-US" sz="1800" dirty="0">
                <a:latin typeface="Calibri"/>
                <a:cs typeface="Calibri"/>
              </a:rPr>
              <a:t>For each word type w in </a:t>
            </a:r>
            <a:r>
              <a:rPr lang="en-US" sz="1800" dirty="0" err="1">
                <a:latin typeface="Calibri"/>
                <a:cs typeface="Calibri"/>
              </a:rPr>
              <a:t>doc</a:t>
            </a:r>
            <a:r>
              <a:rPr lang="en-US" sz="1800" baseline="-25000" dirty="0" err="1">
                <a:latin typeface="Calibri"/>
                <a:cs typeface="Calibri"/>
              </a:rPr>
              <a:t>j</a:t>
            </a:r>
            <a:r>
              <a:rPr lang="en-US" sz="1800" dirty="0">
                <a:latin typeface="Calibri"/>
                <a:cs typeface="Calibri"/>
              </a:rPr>
              <a:t>  </a:t>
            </a:r>
          </a:p>
          <a:p>
            <a:pPr lvl="3">
              <a:spcBef>
                <a:spcPts val="0"/>
              </a:spcBef>
            </a:pPr>
            <a:r>
              <a:rPr lang="en-US" sz="1800" dirty="0">
                <a:latin typeface="Calibri"/>
                <a:cs typeface="Calibri"/>
              </a:rPr>
              <a:t>Retain only a single instance of w</a:t>
            </a:r>
          </a:p>
        </p:txBody>
      </p:sp>
    </p:spTree>
    <p:extLst>
      <p:ext uri="{BB962C8B-B14F-4D97-AF65-F5344CB8AC3E}">
        <p14:creationId xmlns:p14="http://schemas.microsoft.com/office/powerpoint/2010/main" val="36526498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4544E-7 3.56393E-6 L -1.14544E-7 0.18313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1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19702"/>
            <a:ext cx="8168640" cy="864758"/>
          </a:xfrm>
        </p:spPr>
        <p:txBody>
          <a:bodyPr>
            <a:normAutofit fontScale="90000"/>
          </a:bodyPr>
          <a:lstStyle/>
          <a:p>
            <a:r>
              <a:rPr lang="en-US" dirty="0"/>
              <a:t>Binary Multinomial Na</a:t>
            </a:r>
            <a:r>
              <a:rPr lang="fr-FR" dirty="0"/>
              <a:t>i</a:t>
            </a:r>
            <a:r>
              <a:rPr lang="en-US" dirty="0" err="1"/>
              <a:t>ve</a:t>
            </a:r>
            <a:r>
              <a:rPr lang="en-US" dirty="0"/>
              <a:t> Bayes</a:t>
            </a:r>
            <a:br>
              <a:rPr lang="en-US" dirty="0"/>
            </a:br>
            <a:r>
              <a:rPr lang="en-US" dirty="0"/>
              <a:t> on a test document </a:t>
            </a:r>
            <a:r>
              <a:rPr lang="en-US" i="1" dirty="0"/>
              <a:t>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remove all duplicate words from </a:t>
            </a:r>
            <a:r>
              <a:rPr lang="en-US" i="1" dirty="0"/>
              <a:t>d</a:t>
            </a:r>
          </a:p>
          <a:p>
            <a:r>
              <a:rPr lang="en-US" dirty="0"/>
              <a:t>Then compute NB using the same equation: 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1676400" y="2636380"/>
          <a:ext cx="5715000" cy="1030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72" name="Equation" r:id="rId3" imgW="2171700" imgH="393700" progId="Equation.3">
                  <p:embed/>
                </p:oleObj>
              </mc:Choice>
              <mc:Fallback>
                <p:oleObj name="Equation" r:id="rId3" imgW="2171700" imgH="393700" progId="Equation.3">
                  <p:embed/>
                  <p:pic>
                    <p:nvPicPr>
                      <p:cNvPr id="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636380"/>
                        <a:ext cx="5715000" cy="10308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38225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A8443-8BBC-7F4A-8C17-A9BE32F93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multinominal naive Bayes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FBA918-C1CF-3344-AA55-F1969F868F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7300" y="1009191"/>
            <a:ext cx="6629400" cy="4036197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D05A7C-C320-154E-ADAB-352A7C7482E9}"/>
              </a:ext>
            </a:extLst>
          </p:cNvPr>
          <p:cNvSpPr/>
          <p:nvPr/>
        </p:nvSpPr>
        <p:spPr>
          <a:xfrm>
            <a:off x="1143000" y="3105150"/>
            <a:ext cx="4191000" cy="16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A736BB-201F-5F49-80A3-37F1CE6A1A42}"/>
              </a:ext>
            </a:extLst>
          </p:cNvPr>
          <p:cNvSpPr/>
          <p:nvPr/>
        </p:nvSpPr>
        <p:spPr>
          <a:xfrm>
            <a:off x="5339080" y="971550"/>
            <a:ext cx="2661920" cy="40361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2DF07C-B231-CD49-AFC5-17B2AA3DB8DF}"/>
              </a:ext>
            </a:extLst>
          </p:cNvPr>
          <p:cNvSpPr/>
          <p:nvPr/>
        </p:nvSpPr>
        <p:spPr>
          <a:xfrm>
            <a:off x="7086600" y="911860"/>
            <a:ext cx="2661920" cy="4231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0E2CEE-899C-724E-B473-04D790077E08}"/>
              </a:ext>
            </a:extLst>
          </p:cNvPr>
          <p:cNvSpPr txBox="1"/>
          <p:nvPr/>
        </p:nvSpPr>
        <p:spPr>
          <a:xfrm>
            <a:off x="533400" y="4762440"/>
            <a:ext cx="51143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Counts can still be 2! Binarization is within-doc!</a:t>
            </a:r>
          </a:p>
        </p:txBody>
      </p:sp>
    </p:spTree>
    <p:extLst>
      <p:ext uri="{BB962C8B-B14F-4D97-AF65-F5344CB8AC3E}">
        <p14:creationId xmlns:p14="http://schemas.microsoft.com/office/powerpoint/2010/main" val="3487030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>
                <a:latin typeface="Calibri (Headings)"/>
                <a:cs typeface="Calibri (Headings)"/>
              </a:rPr>
              <a:t>Text Classification and Na</a:t>
            </a:r>
            <a:r>
              <a:rPr lang="fr-FR" sz="3400" dirty="0">
                <a:latin typeface="Calibri (Headings)"/>
                <a:cs typeface="Calibri (Headings)"/>
              </a:rPr>
              <a:t>i</a:t>
            </a:r>
            <a:r>
              <a:rPr lang="en-US" sz="3400" dirty="0" err="1">
                <a:latin typeface="Calibri (Headings)"/>
                <a:cs typeface="Calibri (Headings)"/>
              </a:rPr>
              <a:t>ve</a:t>
            </a:r>
            <a:r>
              <a:rPr lang="en-US" sz="3400" dirty="0">
                <a:latin typeface="Calibri (Headings)"/>
                <a:cs typeface="Calibri (Headings)"/>
              </a:rPr>
              <a:t> Bayes</a:t>
            </a:r>
            <a:endParaRPr lang="en-US" sz="34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Sentiment and Binary Naive Bayes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749423-6D62-3640-A5A8-BAF631756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17839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>
                <a:latin typeface="Calibri (Headings)"/>
                <a:cs typeface="Calibri (Headings)"/>
              </a:rPr>
              <a:t>Text Classification and Na</a:t>
            </a:r>
            <a:r>
              <a:rPr lang="fr-FR" sz="3400" dirty="0">
                <a:latin typeface="Calibri (Headings)"/>
                <a:cs typeface="Calibri (Headings)"/>
              </a:rPr>
              <a:t>i</a:t>
            </a:r>
            <a:r>
              <a:rPr lang="en-US" sz="3400" dirty="0" err="1">
                <a:latin typeface="Calibri (Headings)"/>
                <a:cs typeface="Calibri (Headings)"/>
              </a:rPr>
              <a:t>ve</a:t>
            </a:r>
            <a:r>
              <a:rPr lang="en-US" sz="3400" dirty="0">
                <a:latin typeface="Calibri (Headings)"/>
                <a:cs typeface="Calibri (Headings)"/>
              </a:rPr>
              <a:t> Bayes</a:t>
            </a:r>
            <a:endParaRPr lang="en-US" sz="34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More on Sentiment Classification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749423-6D62-3640-A5A8-BAF631756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994922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328C2-437D-134D-89E6-8E49F0918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19702"/>
            <a:ext cx="8092440" cy="680397"/>
          </a:xfrm>
        </p:spPr>
        <p:txBody>
          <a:bodyPr>
            <a:normAutofit fontScale="90000"/>
          </a:bodyPr>
          <a:lstStyle/>
          <a:p>
            <a:r>
              <a:rPr lang="en-US" dirty="0"/>
              <a:t>Sentiment Classification: Dealing with Negation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DE6D9-B952-FE48-8D15-315014C81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1550"/>
            <a:ext cx="7543801" cy="533400"/>
          </a:xfrm>
        </p:spPr>
        <p:txBody>
          <a:bodyPr/>
          <a:lstStyle/>
          <a:p>
            <a:r>
              <a:rPr lang="en-US" dirty="0"/>
              <a:t>I really like this movie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46C19C5-FE8F-454B-9AE4-83D27CD3A57E}"/>
              </a:ext>
            </a:extLst>
          </p:cNvPr>
          <p:cNvSpPr txBox="1">
            <a:spLocks/>
          </p:cNvSpPr>
          <p:nvPr/>
        </p:nvSpPr>
        <p:spPr>
          <a:xfrm>
            <a:off x="822960" y="971550"/>
            <a:ext cx="7543801" cy="5334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7938" indent="-7938" algn="l" defTabSz="6858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tabLst/>
              <a:defRPr sz="28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4813" indent="-25400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tabLst/>
              <a:defRPr sz="2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15938" indent="-22860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tabLst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90563" indent="-265113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tabLst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1688" indent="-239713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tabLst/>
              <a:defRPr sz="1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82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2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7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dirty="0"/>
              <a:t>I really </a:t>
            </a:r>
            <a:r>
              <a:rPr lang="en-US" b="1" dirty="0">
                <a:solidFill>
                  <a:srgbClr val="FF0000"/>
                </a:solidFill>
              </a:rPr>
              <a:t>don't</a:t>
            </a:r>
            <a:r>
              <a:rPr lang="en-US" dirty="0"/>
              <a:t> like this movie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9630652-ABF8-9D49-A2E5-96F42894CB1A}"/>
              </a:ext>
            </a:extLst>
          </p:cNvPr>
          <p:cNvSpPr txBox="1">
            <a:spLocks/>
          </p:cNvSpPr>
          <p:nvPr/>
        </p:nvSpPr>
        <p:spPr>
          <a:xfrm>
            <a:off x="822960" y="1657350"/>
            <a:ext cx="8285480" cy="247903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7938" indent="-7938" algn="l" defTabSz="6858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15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tabLst/>
              <a:defRPr sz="28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4813" indent="-25400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tabLst/>
              <a:defRPr sz="2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15938" indent="-22860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tabLst/>
              <a:defRPr sz="20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90563" indent="-265113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tabLst/>
              <a:defRPr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01688" indent="-239713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tabLst/>
              <a:defRPr sz="14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82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97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12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27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Font typeface="Calibri" pitchFamily="34" charset="0"/>
              <a:buChar char="◦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dirty="0"/>
              <a:t>Negation changes the meaning of "like" to negative.</a:t>
            </a:r>
          </a:p>
          <a:p>
            <a:pPr marL="0" indent="0" fontAlgn="auto">
              <a:buNone/>
            </a:pPr>
            <a:r>
              <a:rPr lang="en-US" dirty="0"/>
              <a:t>Negation can also change negative to positive-</a:t>
            </a:r>
            <a:r>
              <a:rPr lang="en-US" dirty="0" err="1"/>
              <a:t>ish</a:t>
            </a:r>
            <a:r>
              <a:rPr lang="en-US" dirty="0"/>
              <a:t> </a:t>
            </a:r>
          </a:p>
          <a:p>
            <a:pPr marL="739775" lvl="1" indent="-342900" fontAlgn="auto"/>
            <a:r>
              <a:rPr lang="en-US" b="1" dirty="0">
                <a:solidFill>
                  <a:srgbClr val="FF0000"/>
                </a:solidFill>
              </a:rPr>
              <a:t>Don't</a:t>
            </a:r>
            <a:r>
              <a:rPr lang="en-US" dirty="0"/>
              <a:t> dismiss this film</a:t>
            </a:r>
          </a:p>
          <a:p>
            <a:pPr marL="739775" lvl="1" indent="-342900" fontAlgn="auto"/>
            <a:r>
              <a:rPr lang="en-US" b="1" dirty="0">
                <a:solidFill>
                  <a:srgbClr val="FF0000"/>
                </a:solidFill>
              </a:rPr>
              <a:t>Doesn't</a:t>
            </a:r>
            <a:r>
              <a:rPr lang="en-US" dirty="0"/>
              <a:t> let us get bored</a:t>
            </a:r>
          </a:p>
          <a:p>
            <a:pPr fontAlgn="auto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393437-70A5-4E41-8E95-5A9B26F3A66E}"/>
              </a:ext>
            </a:extLst>
          </p:cNvPr>
          <p:cNvSpPr txBox="1"/>
          <p:nvPr/>
        </p:nvSpPr>
        <p:spPr>
          <a:xfrm>
            <a:off x="4998720" y="233680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8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4" grpId="0"/>
      <p:bldP spid="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3350"/>
            <a:ext cx="8458200" cy="742950"/>
          </a:xfrm>
        </p:spPr>
        <p:txBody>
          <a:bodyPr>
            <a:normAutofit fontScale="90000"/>
          </a:bodyPr>
          <a:lstStyle/>
          <a:p>
            <a:r>
              <a:rPr lang="en-US" dirty="0"/>
              <a:t>Sentiment Classification: Dealing with Negation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038350"/>
            <a:ext cx="8610600" cy="2895600"/>
          </a:xfrm>
        </p:spPr>
        <p:txBody>
          <a:bodyPr/>
          <a:lstStyle/>
          <a:p>
            <a:pPr marL="0" indent="0">
              <a:buNone/>
            </a:pPr>
            <a:r>
              <a:rPr lang="en-US" sz="2300" dirty="0"/>
              <a:t>Simple baseline method:</a:t>
            </a:r>
          </a:p>
          <a:p>
            <a:pPr marL="0" indent="0">
              <a:buNone/>
            </a:pPr>
            <a:r>
              <a:rPr lang="en-US" sz="2300" dirty="0"/>
              <a:t>Add NOT_ to every word between negation and following punctuation:</a:t>
            </a:r>
          </a:p>
          <a:p>
            <a:endParaRPr lang="en-US" sz="1600" dirty="0"/>
          </a:p>
          <a:p>
            <a:pPr>
              <a:buNone/>
            </a:pPr>
            <a:r>
              <a:rPr lang="en-US" sz="2700" dirty="0">
                <a:solidFill>
                  <a:srgbClr val="660066"/>
                </a:solidFill>
                <a:latin typeface="Courier"/>
                <a:cs typeface="Courier"/>
              </a:rPr>
              <a:t>didn’t like this movie , but I</a:t>
            </a:r>
          </a:p>
          <a:p>
            <a:endParaRPr lang="en-US" sz="2700" dirty="0">
              <a:solidFill>
                <a:srgbClr val="660066"/>
              </a:solidFill>
            </a:endParaRPr>
          </a:p>
          <a:p>
            <a:pPr>
              <a:buNone/>
            </a:pPr>
            <a:r>
              <a:rPr lang="en-US" sz="2700" dirty="0">
                <a:solidFill>
                  <a:srgbClr val="660066"/>
                </a:solidFill>
                <a:latin typeface="Courier"/>
                <a:cs typeface="Courier"/>
              </a:rPr>
              <a:t>didn’t </a:t>
            </a:r>
            <a:r>
              <a:rPr lang="en-US" sz="2700" dirty="0" err="1">
                <a:solidFill>
                  <a:srgbClr val="660066"/>
                </a:solidFill>
                <a:latin typeface="Courier"/>
                <a:cs typeface="Courier"/>
              </a:rPr>
              <a:t>NOT_like</a:t>
            </a:r>
            <a:r>
              <a:rPr lang="en-US" sz="2700" dirty="0">
                <a:solidFill>
                  <a:srgbClr val="660066"/>
                </a:solidFill>
                <a:latin typeface="Courier"/>
                <a:cs typeface="Courier"/>
              </a:rPr>
              <a:t> </a:t>
            </a:r>
            <a:r>
              <a:rPr lang="en-US" sz="2700" dirty="0" err="1">
                <a:solidFill>
                  <a:srgbClr val="660066"/>
                </a:solidFill>
                <a:latin typeface="Courier"/>
                <a:cs typeface="Courier"/>
              </a:rPr>
              <a:t>NOT_this</a:t>
            </a:r>
            <a:r>
              <a:rPr lang="en-US" sz="2700" dirty="0">
                <a:solidFill>
                  <a:srgbClr val="660066"/>
                </a:solidFill>
                <a:latin typeface="Courier"/>
                <a:cs typeface="Courier"/>
              </a:rPr>
              <a:t> </a:t>
            </a:r>
            <a:r>
              <a:rPr lang="en-US" sz="2700" dirty="0" err="1">
                <a:solidFill>
                  <a:srgbClr val="660066"/>
                </a:solidFill>
                <a:latin typeface="Courier"/>
                <a:cs typeface="Courier"/>
              </a:rPr>
              <a:t>NOT_movie</a:t>
            </a:r>
            <a:r>
              <a:rPr lang="en-US" sz="2700" dirty="0">
                <a:solidFill>
                  <a:srgbClr val="660066"/>
                </a:solidFill>
                <a:latin typeface="Courier"/>
                <a:cs typeface="Courier"/>
              </a:rPr>
              <a:t> but I</a:t>
            </a:r>
          </a:p>
        </p:txBody>
      </p:sp>
      <p:sp>
        <p:nvSpPr>
          <p:cNvPr id="4" name="Down Arrow 3"/>
          <p:cNvSpPr/>
          <p:nvPr/>
        </p:nvSpPr>
        <p:spPr>
          <a:xfrm>
            <a:off x="3124200" y="3848100"/>
            <a:ext cx="914400" cy="400050"/>
          </a:xfrm>
          <a:prstGeom prst="down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600200" y="971550"/>
            <a:ext cx="74620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8817A"/>
                </a:solidFill>
                <a:latin typeface="+mn-lt"/>
              </a:rPr>
              <a:t>Das, </a:t>
            </a:r>
            <a:r>
              <a:rPr lang="en-US" sz="1200" dirty="0" err="1">
                <a:solidFill>
                  <a:srgbClr val="28817A"/>
                </a:solidFill>
                <a:latin typeface="+mn-lt"/>
              </a:rPr>
              <a:t>Sanjiv</a:t>
            </a:r>
            <a:r>
              <a:rPr lang="en-US" sz="1200" dirty="0">
                <a:solidFill>
                  <a:srgbClr val="28817A"/>
                </a:solidFill>
                <a:latin typeface="+mn-lt"/>
              </a:rPr>
              <a:t> and Mike Chen. 2001. Yahoo! for Amazon: Extracting market sentiment from stock message boards. In Proceedings of the Asia Pacific Finance Association Annual Conference (APFA).</a:t>
            </a:r>
          </a:p>
          <a:p>
            <a:r>
              <a:rPr lang="en-US" sz="1100" dirty="0">
                <a:solidFill>
                  <a:schemeClr val="accent5">
                    <a:lumMod val="75000"/>
                  </a:schemeClr>
                </a:solidFill>
              </a:rPr>
              <a:t>Bo Pang, Lillian Lee, and </a:t>
            </a:r>
            <a:r>
              <a:rPr lang="en-US" sz="1100" dirty="0" err="1">
                <a:solidFill>
                  <a:schemeClr val="accent5">
                    <a:lumMod val="75000"/>
                  </a:schemeClr>
                </a:solidFill>
              </a:rPr>
              <a:t>Shivakumar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100" dirty="0" err="1">
                <a:solidFill>
                  <a:schemeClr val="accent5">
                    <a:lumMod val="75000"/>
                  </a:schemeClr>
                </a:solidFill>
              </a:rPr>
              <a:t>Vaithyanathan</a:t>
            </a:r>
            <a:r>
              <a:rPr lang="en-US" sz="1100" dirty="0">
                <a:solidFill>
                  <a:schemeClr val="accent5">
                    <a:lumMod val="75000"/>
                  </a:schemeClr>
                </a:solidFill>
              </a:rPr>
              <a:t>.  2002.  Thumbs up? Sentiment Classification using Machine Learning Techniques. EMNLP-2002, 79—86.</a:t>
            </a:r>
          </a:p>
        </p:txBody>
      </p:sp>
    </p:spTree>
    <p:extLst>
      <p:ext uri="{BB962C8B-B14F-4D97-AF65-F5344CB8AC3E}">
        <p14:creationId xmlns:p14="http://schemas.microsoft.com/office/powerpoint/2010/main" val="108935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72891-A55D-B740-A896-03BF494F0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Classification: Lexicons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83573-4C00-B849-B166-9D17DC44B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we don't have enough labeled training data</a:t>
            </a:r>
          </a:p>
          <a:p>
            <a:r>
              <a:rPr lang="en-US" dirty="0"/>
              <a:t>In that case, we can make use of pre-built word lists</a:t>
            </a:r>
          </a:p>
          <a:p>
            <a:r>
              <a:rPr lang="en-US" dirty="0"/>
              <a:t>Called </a:t>
            </a:r>
            <a:r>
              <a:rPr lang="en-US" b="1" dirty="0"/>
              <a:t>lexicons</a:t>
            </a:r>
          </a:p>
          <a:p>
            <a:r>
              <a:rPr lang="en-US" dirty="0"/>
              <a:t>There are various </a:t>
            </a:r>
            <a:r>
              <a:rPr lang="en-US" dirty="0" err="1"/>
              <a:t>publically</a:t>
            </a:r>
            <a:r>
              <a:rPr lang="en-US" dirty="0"/>
              <a:t> available lexicons</a:t>
            </a:r>
          </a:p>
        </p:txBody>
      </p:sp>
    </p:spTree>
    <p:extLst>
      <p:ext uri="{BB962C8B-B14F-4D97-AF65-F5344CB8AC3E}">
        <p14:creationId xmlns:p14="http://schemas.microsoft.com/office/powerpoint/2010/main" val="18491844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467600" cy="742950"/>
          </a:xfrm>
        </p:spPr>
        <p:txBody>
          <a:bodyPr/>
          <a:lstStyle/>
          <a:p>
            <a:r>
              <a:rPr lang="en-US" dirty="0"/>
              <a:t>MPQA Subjectivity Cues Lexicon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190750"/>
            <a:ext cx="8763000" cy="292793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Home page: </a:t>
            </a:r>
            <a:r>
              <a:rPr lang="en-US" dirty="0">
                <a:hlinkClick r:id="rId2"/>
              </a:rPr>
              <a:t>http://www.cs.pitt.edu/mpqa/subj_lexicon.html</a:t>
            </a:r>
            <a:endParaRPr lang="en-US" dirty="0"/>
          </a:p>
          <a:p>
            <a:r>
              <a:rPr lang="en-US" dirty="0"/>
              <a:t>6885 words from 8221 lemmas, annotated for intensity (strong/weak)</a:t>
            </a:r>
          </a:p>
          <a:p>
            <a:pPr lvl="1"/>
            <a:r>
              <a:rPr lang="en-US" dirty="0"/>
              <a:t>2718 positive</a:t>
            </a:r>
          </a:p>
          <a:p>
            <a:pPr lvl="1"/>
            <a:r>
              <a:rPr lang="en-US" dirty="0"/>
              <a:t>4912 negative</a:t>
            </a:r>
          </a:p>
          <a:p>
            <a:r>
              <a:rPr lang="en-US" dirty="0"/>
              <a:t>+ : </a:t>
            </a:r>
            <a:r>
              <a:rPr lang="en-US" i="1" dirty="0"/>
              <a:t>admirable, beautiful, confident, dazzling, ecstatic, favor, glee, great </a:t>
            </a:r>
            <a:endParaRPr lang="en-US" dirty="0"/>
          </a:p>
          <a:p>
            <a:r>
              <a:rPr lang="en-US" dirty="0"/>
              <a:t>− : </a:t>
            </a:r>
            <a:r>
              <a:rPr lang="en-US" i="1" dirty="0"/>
              <a:t>awful, bad, bias, catastrophe, cheat, deny, envious, foul, harsh, hate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66800" y="971550"/>
            <a:ext cx="72412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200" dirty="0" err="1">
                <a:solidFill>
                  <a:srgbClr val="28817A"/>
                </a:solidFill>
              </a:rPr>
              <a:t>Theresa</a:t>
            </a:r>
            <a:r>
              <a:rPr lang="pl-PL" sz="1200" dirty="0">
                <a:solidFill>
                  <a:srgbClr val="28817A"/>
                </a:solidFill>
              </a:rPr>
              <a:t> Wilson, </a:t>
            </a:r>
            <a:r>
              <a:rPr lang="pl-PL" sz="1200" dirty="0" err="1">
                <a:solidFill>
                  <a:srgbClr val="28817A"/>
                </a:solidFill>
              </a:rPr>
              <a:t>Janyce</a:t>
            </a:r>
            <a:r>
              <a:rPr lang="pl-PL" sz="1200" dirty="0">
                <a:solidFill>
                  <a:srgbClr val="28817A"/>
                </a:solidFill>
              </a:rPr>
              <a:t> </a:t>
            </a:r>
            <a:r>
              <a:rPr lang="pl-PL" sz="1200" dirty="0" err="1">
                <a:solidFill>
                  <a:srgbClr val="28817A"/>
                </a:solidFill>
              </a:rPr>
              <a:t>Wiebe</a:t>
            </a:r>
            <a:r>
              <a:rPr lang="pl-PL" sz="1200" dirty="0">
                <a:solidFill>
                  <a:srgbClr val="28817A"/>
                </a:solidFill>
              </a:rPr>
              <a:t>, and Paul Hoffmann (2005). </a:t>
            </a:r>
            <a:r>
              <a:rPr lang="pl-PL" sz="1200" dirty="0" err="1">
                <a:solidFill>
                  <a:srgbClr val="28817A"/>
                </a:solidFill>
              </a:rPr>
              <a:t>Recognizing</a:t>
            </a:r>
            <a:r>
              <a:rPr lang="pl-PL" sz="1200" dirty="0">
                <a:solidFill>
                  <a:srgbClr val="28817A"/>
                </a:solidFill>
              </a:rPr>
              <a:t> </a:t>
            </a:r>
            <a:r>
              <a:rPr lang="pl-PL" sz="1200" dirty="0" err="1">
                <a:solidFill>
                  <a:srgbClr val="28817A"/>
                </a:solidFill>
              </a:rPr>
              <a:t>Contextual</a:t>
            </a:r>
            <a:r>
              <a:rPr lang="pl-PL" sz="1200" dirty="0">
                <a:solidFill>
                  <a:srgbClr val="28817A"/>
                </a:solidFill>
              </a:rPr>
              <a:t> </a:t>
            </a:r>
            <a:r>
              <a:rPr lang="pl-PL" sz="1200" dirty="0" err="1">
                <a:solidFill>
                  <a:srgbClr val="28817A"/>
                </a:solidFill>
              </a:rPr>
              <a:t>Polarity</a:t>
            </a:r>
            <a:r>
              <a:rPr lang="pl-PL" sz="1200" dirty="0">
                <a:solidFill>
                  <a:srgbClr val="28817A"/>
                </a:solidFill>
              </a:rPr>
              <a:t> in </a:t>
            </a:r>
          </a:p>
          <a:p>
            <a:r>
              <a:rPr lang="pl-PL" sz="1200" dirty="0" err="1">
                <a:solidFill>
                  <a:srgbClr val="28817A"/>
                </a:solidFill>
              </a:rPr>
              <a:t>Phrase</a:t>
            </a:r>
            <a:r>
              <a:rPr lang="pl-PL" sz="1200" dirty="0">
                <a:solidFill>
                  <a:srgbClr val="28817A"/>
                </a:solidFill>
              </a:rPr>
              <a:t>-Level </a:t>
            </a:r>
            <a:r>
              <a:rPr lang="pl-PL" sz="1200" dirty="0" err="1">
                <a:solidFill>
                  <a:srgbClr val="28817A"/>
                </a:solidFill>
              </a:rPr>
              <a:t>Sentiment</a:t>
            </a:r>
            <a:r>
              <a:rPr lang="pl-PL" sz="1200" dirty="0">
                <a:solidFill>
                  <a:srgbClr val="28817A"/>
                </a:solidFill>
              </a:rPr>
              <a:t> Analysis. Proc. of HLT-EMNLP-2005.</a:t>
            </a:r>
          </a:p>
          <a:p>
            <a:endParaRPr lang="pl-PL" sz="1200" dirty="0">
              <a:solidFill>
                <a:srgbClr val="28817A"/>
              </a:solidFill>
            </a:endParaRPr>
          </a:p>
          <a:p>
            <a:r>
              <a:rPr lang="en-US" sz="1200" dirty="0" err="1">
                <a:solidFill>
                  <a:srgbClr val="28817A"/>
                </a:solidFill>
              </a:rPr>
              <a:t>Riloff</a:t>
            </a:r>
            <a:r>
              <a:rPr lang="en-US" sz="1200" dirty="0">
                <a:solidFill>
                  <a:srgbClr val="28817A"/>
                </a:solidFill>
              </a:rPr>
              <a:t> and </a:t>
            </a:r>
            <a:r>
              <a:rPr lang="en-US" sz="1200" dirty="0" err="1">
                <a:solidFill>
                  <a:srgbClr val="28817A"/>
                </a:solidFill>
              </a:rPr>
              <a:t>Wiebe</a:t>
            </a:r>
            <a:r>
              <a:rPr lang="en-US" sz="1200" dirty="0">
                <a:solidFill>
                  <a:srgbClr val="28817A"/>
                </a:solidFill>
              </a:rPr>
              <a:t> (2003). Learning extraction patterns for subjective expressions. EMNLP-2003.</a:t>
            </a:r>
          </a:p>
          <a:p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639873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-171450"/>
            <a:ext cx="8229600" cy="857250"/>
          </a:xfrm>
        </p:spPr>
        <p:txBody>
          <a:bodyPr/>
          <a:lstStyle/>
          <a:p>
            <a:r>
              <a:rPr lang="en-US" dirty="0"/>
              <a:t>The General Inquirer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504950"/>
            <a:ext cx="8534400" cy="3333750"/>
          </a:xfrm>
        </p:spPr>
        <p:txBody>
          <a:bodyPr>
            <a:normAutofit fontScale="92500"/>
          </a:bodyPr>
          <a:lstStyle/>
          <a:p>
            <a:pPr marL="342900" lvl="1" indent="-342900">
              <a:buClr>
                <a:srgbClr val="CC0000"/>
              </a:buClr>
            </a:pPr>
            <a:r>
              <a:rPr lang="en-US" sz="2400" dirty="0"/>
              <a:t>Home page: </a:t>
            </a:r>
            <a:r>
              <a:rPr lang="en-US" dirty="0">
                <a:hlinkClick r:id="rId2"/>
              </a:rPr>
              <a:t>http://www.wjh.harvard.edu/~inquirer</a:t>
            </a:r>
            <a:endParaRPr lang="en-US" dirty="0"/>
          </a:p>
          <a:p>
            <a:pPr marL="342900" lvl="1" indent="-342900">
              <a:buClr>
                <a:srgbClr val="CC0000"/>
              </a:buClr>
            </a:pPr>
            <a:r>
              <a:rPr lang="en-US" sz="2400" dirty="0"/>
              <a:t>List of Categories:  </a:t>
            </a:r>
            <a:r>
              <a:rPr lang="en-US" dirty="0">
                <a:hlinkClick r:id="rId3"/>
              </a:rPr>
              <a:t>http://www.wjh.harvard.edu/~inquirer/homecat.htm</a:t>
            </a:r>
            <a:endParaRPr lang="en-US" dirty="0"/>
          </a:p>
          <a:p>
            <a:pPr marL="342900" lvl="1" indent="-342900">
              <a:buClr>
                <a:srgbClr val="CC0000"/>
              </a:buClr>
            </a:pPr>
            <a:r>
              <a:rPr lang="en-US" sz="2400" dirty="0"/>
              <a:t>Spreadsheet: </a:t>
            </a:r>
            <a:r>
              <a:rPr lang="en-US" dirty="0">
                <a:hlinkClick r:id="rId4"/>
              </a:rPr>
              <a:t>http://www.wjh.harvard.edu/~inquirer/inquirerbasic.xls</a:t>
            </a:r>
            <a:endParaRPr lang="en-US" dirty="0"/>
          </a:p>
          <a:p>
            <a:r>
              <a:rPr lang="en-US" dirty="0"/>
              <a:t>Categories:</a:t>
            </a:r>
          </a:p>
          <a:p>
            <a:pPr lvl="1"/>
            <a:r>
              <a:rPr lang="en-US" dirty="0" err="1"/>
              <a:t>Positiv</a:t>
            </a:r>
            <a:r>
              <a:rPr lang="en-US" dirty="0"/>
              <a:t> (1915 words) and </a:t>
            </a:r>
            <a:r>
              <a:rPr lang="en-US" dirty="0" err="1"/>
              <a:t>Negativ</a:t>
            </a:r>
            <a:r>
              <a:rPr lang="en-US" dirty="0"/>
              <a:t> (2291 words)</a:t>
            </a:r>
          </a:p>
          <a:p>
            <a:pPr lvl="1"/>
            <a:r>
              <a:rPr lang="en-US" dirty="0"/>
              <a:t>Strong </a:t>
            </a:r>
            <a:r>
              <a:rPr lang="en-US" dirty="0" err="1"/>
              <a:t>vs</a:t>
            </a:r>
            <a:r>
              <a:rPr lang="en-US" dirty="0"/>
              <a:t> Weak, Active </a:t>
            </a:r>
            <a:r>
              <a:rPr lang="en-US" dirty="0" err="1"/>
              <a:t>vs</a:t>
            </a:r>
            <a:r>
              <a:rPr lang="en-US" dirty="0"/>
              <a:t> Passive, Overstated versus Understated</a:t>
            </a:r>
          </a:p>
          <a:p>
            <a:pPr lvl="1"/>
            <a:r>
              <a:rPr lang="en-US" dirty="0"/>
              <a:t>Pleasure, Pain, Virtue, Vice, Motivation, Cognitive Orientation,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Free for Research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829330"/>
            <a:ext cx="701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Philip J. Stone, Dexter C 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Dunphy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, Marshall S. Smith, Daniel M. Ogilvie. 1966. The General Inquirer: A Computer Approach to Content Analysis. MIT Press</a:t>
            </a:r>
          </a:p>
        </p:txBody>
      </p:sp>
    </p:spTree>
    <p:extLst>
      <p:ext uri="{BB962C8B-B14F-4D97-AF65-F5344CB8AC3E}">
        <p14:creationId xmlns:p14="http://schemas.microsoft.com/office/powerpoint/2010/main" val="20947335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Bing Liu Opinion Lexicon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038350"/>
            <a:ext cx="8534400" cy="3333750"/>
          </a:xfrm>
        </p:spPr>
        <p:txBody>
          <a:bodyPr/>
          <a:lstStyle/>
          <a:p>
            <a:r>
              <a:rPr lang="en-US" sz="2400" dirty="0">
                <a:hlinkClick r:id="rId2"/>
              </a:rPr>
              <a:t>Bing Liu's Page on Opinion Mining</a:t>
            </a:r>
            <a:endParaRPr lang="en-US" sz="2400" dirty="0"/>
          </a:p>
          <a:p>
            <a:r>
              <a:rPr lang="en-US" sz="2400" dirty="0">
                <a:hlinkClick r:id="rId3"/>
              </a:rPr>
              <a:t>http://www.cs.uic.edu/~liub/FBS/opinion-lexicon-English.rar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6786 words</a:t>
            </a:r>
          </a:p>
          <a:p>
            <a:pPr lvl="1"/>
            <a:r>
              <a:rPr lang="en-US" sz="2000" dirty="0"/>
              <a:t>2006 positive</a:t>
            </a:r>
          </a:p>
          <a:p>
            <a:pPr lvl="1"/>
            <a:r>
              <a:rPr lang="en-US" sz="2000" dirty="0"/>
              <a:t>4783 negative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09295" y="1123950"/>
            <a:ext cx="76627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28817A"/>
                </a:solidFill>
                <a:latin typeface="+mn-lt"/>
              </a:rPr>
              <a:t>Minqing</a:t>
            </a:r>
            <a:r>
              <a:rPr lang="en-US" sz="1600" dirty="0">
                <a:solidFill>
                  <a:srgbClr val="28817A"/>
                </a:solidFill>
                <a:latin typeface="+mn-lt"/>
              </a:rPr>
              <a:t> Hu and Bing Liu. Mining and Summarizing Customer Reviews. ACM SIGKDD-2004.</a:t>
            </a:r>
          </a:p>
        </p:txBody>
      </p:sp>
    </p:spTree>
    <p:extLst>
      <p:ext uri="{BB962C8B-B14F-4D97-AF65-F5344CB8AC3E}">
        <p14:creationId xmlns:p14="http://schemas.microsoft.com/office/powerpoint/2010/main" val="7032243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2D1B-F7F0-DA44-8CEB-88F0EEE9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119702"/>
            <a:ext cx="7787640" cy="680397"/>
          </a:xfrm>
        </p:spPr>
        <p:txBody>
          <a:bodyPr>
            <a:normAutofit/>
          </a:bodyPr>
          <a:lstStyle/>
          <a:p>
            <a:r>
              <a:rPr lang="en-US" dirty="0"/>
              <a:t>Using Lexicons in Sentiment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99731-5B0E-A04E-B272-8AE19E3C0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200150"/>
            <a:ext cx="7863840" cy="3733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Add a feature that gets a count whenever a word from the lexicon occurs</a:t>
            </a:r>
          </a:p>
          <a:p>
            <a:pPr lvl="1"/>
            <a:r>
              <a:rPr lang="en-US" b="1" dirty="0"/>
              <a:t>E.g., a feature called "this word occurs in the positive lexicon" or "this word occurs in the negative lexicon"</a:t>
            </a:r>
          </a:p>
          <a:p>
            <a:pPr marL="0" indent="0">
              <a:buNone/>
            </a:pPr>
            <a:r>
              <a:rPr lang="en-US" dirty="0"/>
              <a:t>Now all positive words (</a:t>
            </a:r>
            <a:r>
              <a:rPr lang="en-US" i="1" dirty="0"/>
              <a:t>good, great, beautiful, wonderful</a:t>
            </a:r>
            <a:r>
              <a:rPr lang="en-US" dirty="0"/>
              <a:t>) or negative words count for that feature.</a:t>
            </a:r>
          </a:p>
          <a:p>
            <a:pPr marL="0" indent="0">
              <a:buNone/>
            </a:pPr>
            <a:r>
              <a:rPr lang="en-US" dirty="0"/>
              <a:t>Using 1-2 features isn't as good as using all the words.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But when training data is sparse or not representative of the test set, dense lexicon features can help</a:t>
            </a:r>
          </a:p>
        </p:txBody>
      </p:sp>
    </p:spTree>
    <p:extLst>
      <p:ext uri="{BB962C8B-B14F-4D97-AF65-F5344CB8AC3E}">
        <p14:creationId xmlns:p14="http://schemas.microsoft.com/office/powerpoint/2010/main" val="10375987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822960" y="119702"/>
            <a:ext cx="7863840" cy="680397"/>
          </a:xfrm>
        </p:spPr>
        <p:txBody>
          <a:bodyPr>
            <a:normAutofit/>
          </a:bodyPr>
          <a:lstStyle/>
          <a:p>
            <a:r>
              <a:rPr lang="en-GB" dirty="0"/>
              <a:t>Na</a:t>
            </a:r>
            <a:r>
              <a:rPr lang="fr-FR" dirty="0"/>
              <a:t>i</a:t>
            </a:r>
            <a:r>
              <a:rPr lang="en-GB" dirty="0" err="1"/>
              <a:t>ve</a:t>
            </a:r>
            <a:r>
              <a:rPr lang="en-GB" dirty="0"/>
              <a:t> Bayes in Other tasks: Spam Filtering</a:t>
            </a:r>
            <a:endParaRPr 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Calibri" charset="0"/>
              </a:rPr>
              <a:t>SpamAssassin</a:t>
            </a:r>
            <a:r>
              <a:rPr lang="en-US" dirty="0">
                <a:latin typeface="Calibri" charset="0"/>
              </a:rPr>
              <a:t> Features:</a:t>
            </a:r>
          </a:p>
          <a:p>
            <a:pPr lvl="1"/>
            <a:r>
              <a:rPr lang="en-US" dirty="0"/>
              <a:t>Mentions millions of (dollar) ((dollar) NN,NNN,NNN.NN)</a:t>
            </a:r>
          </a:p>
          <a:p>
            <a:pPr lvl="1"/>
            <a:r>
              <a:rPr lang="en-US" dirty="0"/>
              <a:t>From: starts with many numbers</a:t>
            </a:r>
          </a:p>
          <a:p>
            <a:pPr lvl="1"/>
            <a:r>
              <a:rPr lang="en-US" dirty="0"/>
              <a:t>Subject is all capitals</a:t>
            </a:r>
          </a:p>
          <a:p>
            <a:pPr lvl="1"/>
            <a:r>
              <a:rPr lang="en-US" dirty="0"/>
              <a:t>HTML has a low ratio of text to image area</a:t>
            </a:r>
          </a:p>
          <a:p>
            <a:pPr lvl="1"/>
            <a:r>
              <a:rPr lang="en-US" dirty="0"/>
              <a:t>"One hundred percent guaranteed"</a:t>
            </a:r>
          </a:p>
          <a:p>
            <a:pPr lvl="1"/>
            <a:r>
              <a:rPr lang="en-US" dirty="0"/>
              <a:t>Claims you can be removed from the list</a:t>
            </a:r>
          </a:p>
          <a:p>
            <a:pPr lvl="1"/>
            <a:r>
              <a:rPr lang="en-US" dirty="0">
                <a:hlinkClick r:id="rId2"/>
              </a:rPr>
              <a:t>http://spamassassin.apache.org/tests_3_3_x.html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571486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BA52-C719-7A42-B104-02333736E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 in Language 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D6DDC-A934-4B4E-92C9-499ADAEF0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Determining what language a piece of text is written in.</a:t>
            </a:r>
          </a:p>
          <a:p>
            <a:pPr marL="0" indent="0">
              <a:buNone/>
            </a:pPr>
            <a:r>
              <a:rPr lang="en-US" dirty="0"/>
              <a:t>Features based on character n-grams do very well</a:t>
            </a:r>
          </a:p>
          <a:p>
            <a:pPr algn="just"/>
            <a:r>
              <a:rPr lang="en-US" dirty="0"/>
              <a:t>Important to train on lots of varieties of each language (world English,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5447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09550"/>
            <a:ext cx="7467600" cy="742950"/>
          </a:xfrm>
        </p:spPr>
        <p:txBody>
          <a:bodyPr/>
          <a:lstStyle/>
          <a:p>
            <a:r>
              <a:rPr lang="en-US" dirty="0"/>
              <a:t>Summary: Naive Bayes is Not So Naive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458200" cy="3562350"/>
          </a:xfrm>
        </p:spPr>
        <p:txBody>
          <a:bodyPr>
            <a:normAutofit fontScale="92500"/>
          </a:bodyPr>
          <a:lstStyle/>
          <a:p>
            <a:pPr marL="228600" indent="-228600"/>
            <a:r>
              <a:rPr lang="en-US" dirty="0">
                <a:latin typeface="Calibri" charset="0"/>
              </a:rPr>
              <a:t>Very Fast, low storage requirements</a:t>
            </a:r>
          </a:p>
          <a:p>
            <a:pPr marL="228600" indent="-228600"/>
            <a:r>
              <a:rPr lang="en-US" dirty="0">
                <a:latin typeface="Calibri" charset="0"/>
              </a:rPr>
              <a:t>Work well with very small amounts of training data</a:t>
            </a:r>
          </a:p>
          <a:p>
            <a:pPr marL="228600" indent="-228600"/>
            <a:r>
              <a:rPr lang="en-US" dirty="0">
                <a:latin typeface="Calibri" charset="0"/>
              </a:rPr>
              <a:t>Very good in domains with many equally important features</a:t>
            </a:r>
          </a:p>
          <a:p>
            <a:pPr marL="571500" lvl="1" indent="-165100">
              <a:buFont typeface="Wingdings" charset="2"/>
              <a:buNone/>
            </a:pPr>
            <a:r>
              <a:rPr lang="en-US" dirty="0">
                <a:latin typeface="Calibri" charset="0"/>
              </a:rPr>
              <a:t>	</a:t>
            </a:r>
            <a:r>
              <a:rPr lang="en-US" sz="1800" dirty="0">
                <a:latin typeface="Calibri" charset="0"/>
              </a:rPr>
              <a:t>Decision Trees suffer from </a:t>
            </a:r>
            <a:r>
              <a:rPr lang="en-US" sz="1800" i="1" dirty="0">
                <a:latin typeface="Calibri" charset="0"/>
              </a:rPr>
              <a:t>fragmentation</a:t>
            </a:r>
            <a:r>
              <a:rPr lang="en-US" sz="1800" dirty="0">
                <a:latin typeface="Calibri" charset="0"/>
              </a:rPr>
              <a:t> in such cases – especially if little data</a:t>
            </a:r>
          </a:p>
          <a:p>
            <a:pPr marL="228600" indent="-228600"/>
            <a:r>
              <a:rPr lang="en-US" dirty="0">
                <a:latin typeface="Calibri" charset="0"/>
              </a:rPr>
              <a:t>Optimal if the independence assumptions hold: </a:t>
            </a:r>
            <a:r>
              <a:rPr lang="en-US" sz="2000" dirty="0">
                <a:latin typeface="Calibri" charset="0"/>
              </a:rPr>
              <a:t>If assumed independence is correct, then it is the Bayes Optimal Classifier for problem</a:t>
            </a:r>
            <a:endParaRPr lang="en-US" dirty="0">
              <a:latin typeface="Calibri" charset="0"/>
            </a:endParaRPr>
          </a:p>
          <a:p>
            <a:pPr marL="228600" indent="-228600"/>
            <a:r>
              <a:rPr lang="en-US" dirty="0">
                <a:latin typeface="Calibri" charset="0"/>
              </a:rPr>
              <a:t>A good dependable baseline for text classification</a:t>
            </a:r>
          </a:p>
          <a:p>
            <a:pPr marL="571500" lvl="1"/>
            <a:r>
              <a:rPr lang="en-US" sz="2400" b="1" dirty="0">
                <a:solidFill>
                  <a:srgbClr val="FF0000"/>
                </a:solidFill>
                <a:latin typeface="Calibri" charset="0"/>
              </a:rPr>
              <a:t>But we will see other classifiers that give better accuracy</a:t>
            </a:r>
          </a:p>
          <a:p>
            <a:pPr marL="228600" indent="-228600"/>
            <a:endParaRPr lang="en-US" dirty="0">
              <a:latin typeface="Calibri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C57DD6-3907-6941-BD6D-5EBA23435C74}"/>
              </a:ext>
            </a:extLst>
          </p:cNvPr>
          <p:cNvSpPr txBox="1"/>
          <p:nvPr/>
        </p:nvSpPr>
        <p:spPr>
          <a:xfrm>
            <a:off x="4800600" y="4818876"/>
            <a:ext cx="17547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Slide from Chris Manning</a:t>
            </a:r>
          </a:p>
        </p:txBody>
      </p:sp>
    </p:spTree>
    <p:extLst>
      <p:ext uri="{BB962C8B-B14F-4D97-AF65-F5344CB8AC3E}">
        <p14:creationId xmlns:p14="http://schemas.microsoft.com/office/powerpoint/2010/main" val="804126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>
                <a:latin typeface="Calibri (Headings)"/>
                <a:cs typeface="Calibri (Headings)"/>
              </a:rPr>
              <a:t>Text Classification and Na</a:t>
            </a:r>
            <a:r>
              <a:rPr lang="fr-FR" sz="3400" dirty="0">
                <a:latin typeface="Calibri (Headings)"/>
                <a:cs typeface="Calibri (Headings)"/>
              </a:rPr>
              <a:t>i</a:t>
            </a:r>
            <a:r>
              <a:rPr lang="en-US" sz="3400" dirty="0" err="1">
                <a:latin typeface="Calibri (Headings)"/>
                <a:cs typeface="Calibri (Headings)"/>
              </a:rPr>
              <a:t>ve</a:t>
            </a:r>
            <a:r>
              <a:rPr lang="en-US" sz="3400" dirty="0">
                <a:latin typeface="Calibri (Headings)"/>
                <a:cs typeface="Calibri (Headings)"/>
              </a:rPr>
              <a:t> Bayes</a:t>
            </a:r>
            <a:endParaRPr lang="en-US" sz="34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More on Sentiment Classification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749423-6D62-3640-A5A8-BAF631756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722286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>
                <a:latin typeface="Calibri (Headings)"/>
                <a:cs typeface="Calibri (Headings)"/>
              </a:rPr>
              <a:t>Text Classification and Na</a:t>
            </a:r>
            <a:r>
              <a:rPr lang="fr-FR" sz="3400" dirty="0" err="1">
                <a:latin typeface="Calibri (Headings)"/>
                <a:cs typeface="Calibri (Headings)"/>
              </a:rPr>
              <a:t>ï</a:t>
            </a:r>
            <a:r>
              <a:rPr lang="en-US" sz="3400" dirty="0" err="1">
                <a:latin typeface="Calibri (Headings)"/>
                <a:cs typeface="Calibri (Headings)"/>
              </a:rPr>
              <a:t>ve</a:t>
            </a:r>
            <a:r>
              <a:rPr lang="en-US" sz="3400" dirty="0">
                <a:latin typeface="Calibri (Headings)"/>
                <a:cs typeface="Calibri (Headings)"/>
              </a:rPr>
              <a:t> Bayes</a:t>
            </a:r>
            <a:endParaRPr lang="en-US" sz="34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Na</a:t>
            </a:r>
            <a:r>
              <a:rPr lang="fr-FR" sz="3600" dirty="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ï</a:t>
            </a:r>
            <a:r>
              <a:rPr lang="en-US" sz="3600" dirty="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ve</a:t>
            </a: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Bayes: Relationship to Language Modeling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51D095-2298-6244-891A-3AF46BF66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480180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Generative Model for Multinomial Na</a:t>
            </a:r>
            <a:r>
              <a:rPr lang="fr-FR" sz="2800" dirty="0" err="1"/>
              <a:t>ï</a:t>
            </a:r>
            <a:r>
              <a:rPr lang="en-US" sz="2800" dirty="0" err="1"/>
              <a:t>ve</a:t>
            </a:r>
            <a:r>
              <a:rPr lang="en-US" sz="2800" dirty="0"/>
              <a:t>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32" name="Oval 4"/>
          <p:cNvSpPr>
            <a:spLocks noChangeArrowheads="1"/>
          </p:cNvSpPr>
          <p:nvPr/>
        </p:nvSpPr>
        <p:spPr bwMode="auto">
          <a:xfrm>
            <a:off x="3886200" y="1905000"/>
            <a:ext cx="1143000" cy="609600"/>
          </a:xfrm>
          <a:prstGeom prst="ellipse">
            <a:avLst/>
          </a:prstGeom>
          <a:solidFill>
            <a:srgbClr val="C0504D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kern="0" dirty="0">
                <a:solidFill>
                  <a:sysClr val="windowText" lastClr="000000"/>
                </a:solidFill>
              </a:rPr>
              <a:t>c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=+</a:t>
            </a:r>
          </a:p>
        </p:txBody>
      </p:sp>
      <p:sp>
        <p:nvSpPr>
          <p:cNvPr id="33" name="Oval 6"/>
          <p:cNvSpPr>
            <a:spLocks noChangeArrowheads="1"/>
          </p:cNvSpPr>
          <p:nvPr/>
        </p:nvSpPr>
        <p:spPr bwMode="auto">
          <a:xfrm>
            <a:off x="533400" y="3790950"/>
            <a:ext cx="1600200" cy="609600"/>
          </a:xfrm>
          <a:prstGeom prst="ellipse">
            <a:avLst/>
          </a:prstGeom>
          <a:solidFill>
            <a:srgbClr val="C0504D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X</a:t>
            </a:r>
            <a:r>
              <a:rPr kumimoji="0" lang="en-US" sz="1800" b="0" i="1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=I</a:t>
            </a:r>
            <a:endParaRPr kumimoji="0" lang="en-US" sz="1800" b="0" i="0" u="none" strike="noStrike" kern="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9" name="Line 14"/>
          <p:cNvSpPr>
            <a:spLocks noChangeShapeType="1"/>
          </p:cNvSpPr>
          <p:nvPr/>
        </p:nvSpPr>
        <p:spPr bwMode="auto">
          <a:xfrm flipH="1">
            <a:off x="1524000" y="2419350"/>
            <a:ext cx="2590800" cy="1371600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0" name="Line 15"/>
          <p:cNvSpPr>
            <a:spLocks noChangeShapeType="1"/>
          </p:cNvSpPr>
          <p:nvPr/>
        </p:nvSpPr>
        <p:spPr bwMode="auto">
          <a:xfrm flipH="1">
            <a:off x="3048000" y="2514600"/>
            <a:ext cx="1295400" cy="1276350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" name="Line 16"/>
          <p:cNvSpPr>
            <a:spLocks noChangeShapeType="1"/>
          </p:cNvSpPr>
          <p:nvPr/>
        </p:nvSpPr>
        <p:spPr bwMode="auto">
          <a:xfrm flipH="1">
            <a:off x="4419600" y="2495550"/>
            <a:ext cx="76200" cy="1295400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" name="Line 18"/>
          <p:cNvSpPr>
            <a:spLocks noChangeShapeType="1"/>
          </p:cNvSpPr>
          <p:nvPr/>
        </p:nvSpPr>
        <p:spPr bwMode="auto">
          <a:xfrm>
            <a:off x="4648200" y="2495550"/>
            <a:ext cx="1447800" cy="1295400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" name="Line 19"/>
          <p:cNvSpPr>
            <a:spLocks noChangeShapeType="1"/>
          </p:cNvSpPr>
          <p:nvPr/>
        </p:nvSpPr>
        <p:spPr bwMode="auto">
          <a:xfrm>
            <a:off x="4800600" y="2438400"/>
            <a:ext cx="2667000" cy="1352550"/>
          </a:xfrm>
          <a:prstGeom prst="line">
            <a:avLst/>
          </a:prstGeom>
          <a:noFill/>
          <a:ln w="28575">
            <a:solidFill>
              <a:sysClr val="windowText" lastClr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1" name="Oval 6"/>
          <p:cNvSpPr>
            <a:spLocks noChangeArrowheads="1"/>
          </p:cNvSpPr>
          <p:nvPr/>
        </p:nvSpPr>
        <p:spPr bwMode="auto">
          <a:xfrm>
            <a:off x="2286000" y="3790950"/>
            <a:ext cx="1295400" cy="609600"/>
          </a:xfrm>
          <a:prstGeom prst="ellipse">
            <a:avLst/>
          </a:prstGeom>
          <a:solidFill>
            <a:srgbClr val="C0504D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X</a:t>
            </a:r>
            <a:r>
              <a:rPr kumimoji="0" lang="en-US" sz="1800" b="0" i="1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2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=love</a:t>
            </a:r>
            <a:endParaRPr kumimoji="0" lang="en-US" sz="1800" b="0" i="0" u="none" strike="noStrike" kern="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2" name="Oval 6"/>
          <p:cNvSpPr>
            <a:spLocks noChangeArrowheads="1"/>
          </p:cNvSpPr>
          <p:nvPr/>
        </p:nvSpPr>
        <p:spPr bwMode="auto">
          <a:xfrm>
            <a:off x="3657600" y="3790950"/>
            <a:ext cx="1676400" cy="609600"/>
          </a:xfrm>
          <a:prstGeom prst="ellipse">
            <a:avLst/>
          </a:prstGeom>
          <a:solidFill>
            <a:srgbClr val="C0504D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X</a:t>
            </a:r>
            <a:r>
              <a:rPr kumimoji="0" lang="en-US" sz="1800" b="0" i="1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3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=this</a:t>
            </a:r>
            <a:endParaRPr kumimoji="0" lang="en-US" sz="1800" b="0" i="0" u="none" strike="noStrike" kern="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3" name="Oval 6"/>
          <p:cNvSpPr>
            <a:spLocks noChangeArrowheads="1"/>
          </p:cNvSpPr>
          <p:nvPr/>
        </p:nvSpPr>
        <p:spPr bwMode="auto">
          <a:xfrm>
            <a:off x="5486400" y="3790950"/>
            <a:ext cx="1295400" cy="609600"/>
          </a:xfrm>
          <a:prstGeom prst="ellipse">
            <a:avLst/>
          </a:prstGeom>
          <a:solidFill>
            <a:srgbClr val="C0504D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X</a:t>
            </a:r>
            <a:r>
              <a:rPr kumimoji="0" lang="en-US" sz="1800" b="0" i="1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4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=fun</a:t>
            </a:r>
            <a:endParaRPr kumimoji="0" lang="en-US" sz="1800" b="0" i="0" u="none" strike="noStrike" kern="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4" name="Oval 6"/>
          <p:cNvSpPr>
            <a:spLocks noChangeArrowheads="1"/>
          </p:cNvSpPr>
          <p:nvPr/>
        </p:nvSpPr>
        <p:spPr bwMode="auto">
          <a:xfrm>
            <a:off x="6934200" y="3790950"/>
            <a:ext cx="1295400" cy="609600"/>
          </a:xfrm>
          <a:prstGeom prst="ellipse">
            <a:avLst/>
          </a:prstGeom>
          <a:solidFill>
            <a:srgbClr val="C0504D"/>
          </a:solidFill>
          <a:ln w="9525">
            <a:solidFill>
              <a:sysClr val="windowText" lastClr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X</a:t>
            </a:r>
            <a:r>
              <a:rPr kumimoji="0" lang="en-US" sz="1800" b="0" i="1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5</a:t>
            </a:r>
            <a:r>
              <a:rPr kumimoji="0" lang="en-US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=film</a:t>
            </a:r>
            <a:endParaRPr kumimoji="0" lang="en-US" sz="1800" b="0" i="0" u="none" strike="noStrike" kern="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81167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9" grpId="0" animBg="1"/>
      <p:bldP spid="40" grpId="0" animBg="1"/>
      <p:bldP spid="41" grpId="0" animBg="1"/>
      <p:bldP spid="43" grpId="0" animBg="1"/>
      <p:bldP spid="44" grpId="0" animBg="1"/>
      <p:bldP spid="71" grpId="0" animBg="1"/>
      <p:bldP spid="72" grpId="0" animBg="1"/>
      <p:bldP spid="73" grpId="0" animBg="1"/>
      <p:bldP spid="7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</a:t>
            </a:r>
            <a:r>
              <a:rPr lang="fr-FR" dirty="0" err="1"/>
              <a:t>ï</a:t>
            </a:r>
            <a:r>
              <a:rPr lang="en-US" dirty="0" err="1"/>
              <a:t>ve</a:t>
            </a:r>
            <a:r>
              <a:rPr lang="en-US" dirty="0"/>
              <a:t> Bayes and Language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800" dirty="0"/>
              <a:t>Naï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bayes</a:t>
            </a:r>
            <a:r>
              <a:rPr lang="en-US" sz="2800" dirty="0"/>
              <a:t> classifiers can use any sort of feature</a:t>
            </a:r>
          </a:p>
          <a:p>
            <a:pPr lvl="1"/>
            <a:r>
              <a:rPr lang="en-US" sz="2400" dirty="0"/>
              <a:t>URL, email address, dictionaries, network features</a:t>
            </a:r>
          </a:p>
          <a:p>
            <a:r>
              <a:rPr lang="en-US" sz="2800" dirty="0"/>
              <a:t>But if, as in the previous slides</a:t>
            </a:r>
          </a:p>
          <a:p>
            <a:pPr lvl="1"/>
            <a:r>
              <a:rPr lang="en-US" sz="2400" dirty="0"/>
              <a:t>We use </a:t>
            </a:r>
            <a:r>
              <a:rPr lang="en-US" sz="2400" b="1" dirty="0"/>
              <a:t>only</a:t>
            </a:r>
            <a:r>
              <a:rPr lang="en-US" sz="2400" dirty="0"/>
              <a:t> word features </a:t>
            </a:r>
          </a:p>
          <a:p>
            <a:pPr lvl="1"/>
            <a:r>
              <a:rPr lang="en-US" sz="2400" dirty="0"/>
              <a:t>we use </a:t>
            </a:r>
            <a:r>
              <a:rPr lang="en-US" sz="2400" b="1" dirty="0"/>
              <a:t>all</a:t>
            </a:r>
            <a:r>
              <a:rPr lang="en-US" sz="2400" dirty="0"/>
              <a:t> of the words in the text (not a subset)</a:t>
            </a:r>
          </a:p>
          <a:p>
            <a:r>
              <a:rPr lang="en-US" sz="2800" dirty="0"/>
              <a:t>Then </a:t>
            </a:r>
          </a:p>
          <a:p>
            <a:pPr lvl="1"/>
            <a:r>
              <a:rPr lang="en-US" sz="2400" dirty="0"/>
              <a:t>Na</a:t>
            </a:r>
            <a:r>
              <a:rPr lang="fr-FR" dirty="0"/>
              <a:t>i</a:t>
            </a:r>
            <a:r>
              <a:rPr lang="en-US" sz="2400" dirty="0" err="1"/>
              <a:t>ve</a:t>
            </a:r>
            <a:r>
              <a:rPr lang="en-US" sz="2400" dirty="0"/>
              <a:t> bayes has an important similarity to language 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9562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Each class = a unigram language model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14450"/>
            <a:ext cx="7772400" cy="1028700"/>
          </a:xfrm>
        </p:spPr>
        <p:txBody>
          <a:bodyPr/>
          <a:lstStyle/>
          <a:p>
            <a:pPr eaLnBrk="1" hangingPunct="1"/>
            <a:r>
              <a:rPr lang="en-US" dirty="0">
                <a:latin typeface="Calibri"/>
                <a:ea typeface="ＭＳ Ｐゴシック" charset="0"/>
                <a:cs typeface="Calibri"/>
              </a:rPr>
              <a:t>Assigning each word: P(word | c)</a:t>
            </a:r>
          </a:p>
          <a:p>
            <a:pPr eaLnBrk="1" hangingPunct="1"/>
            <a:r>
              <a:rPr lang="en-US" dirty="0">
                <a:latin typeface="Calibri"/>
                <a:ea typeface="ＭＳ Ｐゴシック" charset="0"/>
                <a:cs typeface="Calibri"/>
              </a:rPr>
              <a:t>Assigning each sentence: P(</a:t>
            </a:r>
            <a:r>
              <a:rPr lang="en-US" dirty="0" err="1">
                <a:latin typeface="Calibri"/>
                <a:ea typeface="ＭＳ Ｐゴシック" charset="0"/>
                <a:cs typeface="Calibri"/>
              </a:rPr>
              <a:t>s|c</a:t>
            </a:r>
            <a:r>
              <a:rPr lang="en-US" dirty="0">
                <a:latin typeface="Calibri"/>
                <a:ea typeface="ＭＳ Ｐゴシック" charset="0"/>
                <a:cs typeface="Calibri"/>
              </a:rPr>
              <a:t>)=</a:t>
            </a:r>
            <a:r>
              <a:rPr lang="en-US" dirty="0" err="1">
                <a:latin typeface="Symbol" charset="2"/>
                <a:ea typeface="ＭＳ Ｐゴシック" charset="0"/>
                <a:cs typeface="Symbol" charset="2"/>
              </a:rPr>
              <a:t>Π</a:t>
            </a:r>
            <a:r>
              <a:rPr lang="en-US" dirty="0">
                <a:latin typeface="Calibri"/>
                <a:ea typeface="ＭＳ Ｐゴシック" charset="0"/>
                <a:cs typeface="Calibri"/>
              </a:rPr>
              <a:t> P(</a:t>
            </a:r>
            <a:r>
              <a:rPr lang="en-US" dirty="0" err="1">
                <a:latin typeface="Calibri"/>
                <a:ea typeface="ＭＳ Ｐゴシック" charset="0"/>
                <a:cs typeface="Calibri"/>
              </a:rPr>
              <a:t>word|c</a:t>
            </a:r>
            <a:r>
              <a:rPr lang="en-US" dirty="0">
                <a:latin typeface="Calibri"/>
                <a:ea typeface="ＭＳ Ｐゴシック" charset="0"/>
                <a:cs typeface="Calibri"/>
              </a:rPr>
              <a:t>)</a:t>
            </a:r>
          </a:p>
        </p:txBody>
      </p:sp>
      <p:sp>
        <p:nvSpPr>
          <p:cNvPr id="46083" name="Text Box 4"/>
          <p:cNvSpPr txBox="1">
            <a:spLocks noChangeArrowheads="1"/>
          </p:cNvSpPr>
          <p:nvPr/>
        </p:nvSpPr>
        <p:spPr bwMode="auto">
          <a:xfrm>
            <a:off x="457200" y="2628901"/>
            <a:ext cx="2438400" cy="2708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dirty="0">
                <a:latin typeface="Calibri"/>
                <a:cs typeface="Calibri"/>
              </a:rPr>
              <a:t>0.1	I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 dirty="0">
                <a:latin typeface="Calibri"/>
                <a:cs typeface="Calibri"/>
              </a:rPr>
              <a:t>0.1	love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 dirty="0">
                <a:latin typeface="Calibri"/>
                <a:cs typeface="Calibri"/>
              </a:rPr>
              <a:t>0.01	this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 dirty="0">
                <a:latin typeface="Calibri"/>
                <a:cs typeface="Calibri"/>
              </a:rPr>
              <a:t>0.05	fun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 dirty="0">
                <a:latin typeface="Calibri"/>
                <a:cs typeface="Calibri"/>
              </a:rPr>
              <a:t>0.1	film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 dirty="0">
                <a:latin typeface="Calibri"/>
                <a:cs typeface="Calibri"/>
              </a:rPr>
              <a:t>…</a:t>
            </a:r>
          </a:p>
        </p:txBody>
      </p:sp>
      <p:sp>
        <p:nvSpPr>
          <p:cNvPr id="753669" name="Text Box 5"/>
          <p:cNvSpPr txBox="1">
            <a:spLocks noChangeArrowheads="1"/>
          </p:cNvSpPr>
          <p:nvPr/>
        </p:nvSpPr>
        <p:spPr bwMode="auto">
          <a:xfrm>
            <a:off x="3505200" y="2743200"/>
            <a:ext cx="60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latin typeface="Calibri"/>
                <a:cs typeface="Calibri"/>
              </a:rPr>
              <a:t>I</a:t>
            </a:r>
          </a:p>
        </p:txBody>
      </p:sp>
      <p:sp>
        <p:nvSpPr>
          <p:cNvPr id="753670" name="Text Box 6"/>
          <p:cNvSpPr txBox="1">
            <a:spLocks noChangeArrowheads="1"/>
          </p:cNvSpPr>
          <p:nvPr/>
        </p:nvSpPr>
        <p:spPr bwMode="auto">
          <a:xfrm>
            <a:off x="4419600" y="2743200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latin typeface="Calibri"/>
                <a:cs typeface="Calibri"/>
              </a:rPr>
              <a:t>love</a:t>
            </a:r>
          </a:p>
        </p:txBody>
      </p:sp>
      <p:sp>
        <p:nvSpPr>
          <p:cNvPr id="753671" name="Text Box 7"/>
          <p:cNvSpPr txBox="1">
            <a:spLocks noChangeArrowheads="1"/>
          </p:cNvSpPr>
          <p:nvPr/>
        </p:nvSpPr>
        <p:spPr bwMode="auto">
          <a:xfrm>
            <a:off x="5257800" y="2743200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latin typeface="Calibri"/>
                <a:cs typeface="Calibri"/>
              </a:rPr>
              <a:t>this</a:t>
            </a:r>
          </a:p>
        </p:txBody>
      </p:sp>
      <p:sp>
        <p:nvSpPr>
          <p:cNvPr id="753672" name="Text Box 8"/>
          <p:cNvSpPr txBox="1">
            <a:spLocks noChangeArrowheads="1"/>
          </p:cNvSpPr>
          <p:nvPr/>
        </p:nvSpPr>
        <p:spPr bwMode="auto">
          <a:xfrm>
            <a:off x="6324600" y="2743200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latin typeface="Calibri"/>
                <a:cs typeface="Calibri"/>
              </a:rPr>
              <a:t>fun</a:t>
            </a:r>
          </a:p>
        </p:txBody>
      </p:sp>
      <p:sp>
        <p:nvSpPr>
          <p:cNvPr id="753673" name="Text Box 9"/>
          <p:cNvSpPr txBox="1">
            <a:spLocks noChangeArrowheads="1"/>
          </p:cNvSpPr>
          <p:nvPr/>
        </p:nvSpPr>
        <p:spPr bwMode="auto">
          <a:xfrm>
            <a:off x="7086600" y="2743200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latin typeface="Calibri"/>
                <a:cs typeface="Calibri"/>
              </a:rPr>
              <a:t>film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581400" y="3143250"/>
            <a:ext cx="4191000" cy="0"/>
            <a:chOff x="2256" y="2640"/>
            <a:chExt cx="2640" cy="0"/>
          </a:xfrm>
        </p:grpSpPr>
        <p:sp>
          <p:nvSpPr>
            <p:cNvPr id="46101" name="Line 11"/>
            <p:cNvSpPr>
              <a:spLocks noChangeShapeType="1"/>
            </p:cNvSpPr>
            <p:nvPr/>
          </p:nvSpPr>
          <p:spPr bwMode="auto">
            <a:xfrm>
              <a:off x="2256" y="264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46102" name="Line 12"/>
            <p:cNvSpPr>
              <a:spLocks noChangeShapeType="1"/>
            </p:cNvSpPr>
            <p:nvPr/>
          </p:nvSpPr>
          <p:spPr bwMode="auto">
            <a:xfrm>
              <a:off x="2832" y="264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46103" name="Line 13"/>
            <p:cNvSpPr>
              <a:spLocks noChangeShapeType="1"/>
            </p:cNvSpPr>
            <p:nvPr/>
          </p:nvSpPr>
          <p:spPr bwMode="auto">
            <a:xfrm>
              <a:off x="3408" y="264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46104" name="Line 14"/>
            <p:cNvSpPr>
              <a:spLocks noChangeShapeType="1"/>
            </p:cNvSpPr>
            <p:nvPr/>
          </p:nvSpPr>
          <p:spPr bwMode="auto">
            <a:xfrm>
              <a:off x="3984" y="264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  <p:sp>
          <p:nvSpPr>
            <p:cNvPr id="46105" name="Line 15"/>
            <p:cNvSpPr>
              <a:spLocks noChangeShapeType="1"/>
            </p:cNvSpPr>
            <p:nvPr/>
          </p:nvSpPr>
          <p:spPr bwMode="auto">
            <a:xfrm>
              <a:off x="4608" y="264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Calibri"/>
                <a:cs typeface="Calibri"/>
              </a:endParaRPr>
            </a:p>
          </p:txBody>
        </p:sp>
      </p:grpSp>
      <p:sp>
        <p:nvSpPr>
          <p:cNvPr id="753680" name="Text Box 16"/>
          <p:cNvSpPr txBox="1">
            <a:spLocks noChangeArrowheads="1"/>
          </p:cNvSpPr>
          <p:nvPr/>
        </p:nvSpPr>
        <p:spPr bwMode="auto">
          <a:xfrm>
            <a:off x="3505200" y="3314700"/>
            <a:ext cx="60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latin typeface="Calibri"/>
                <a:cs typeface="Calibri"/>
              </a:rPr>
              <a:t>0.1</a:t>
            </a:r>
          </a:p>
        </p:txBody>
      </p:sp>
      <p:sp>
        <p:nvSpPr>
          <p:cNvPr id="753681" name="Text Box 17"/>
          <p:cNvSpPr txBox="1">
            <a:spLocks noChangeArrowheads="1"/>
          </p:cNvSpPr>
          <p:nvPr/>
        </p:nvSpPr>
        <p:spPr bwMode="auto">
          <a:xfrm>
            <a:off x="4419600" y="3314700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latin typeface="Calibri"/>
                <a:cs typeface="Calibri"/>
              </a:rPr>
              <a:t>0.1</a:t>
            </a:r>
          </a:p>
        </p:txBody>
      </p:sp>
      <p:sp>
        <p:nvSpPr>
          <p:cNvPr id="753682" name="Text Box 18"/>
          <p:cNvSpPr txBox="1">
            <a:spLocks noChangeArrowheads="1"/>
          </p:cNvSpPr>
          <p:nvPr/>
        </p:nvSpPr>
        <p:spPr bwMode="auto">
          <a:xfrm>
            <a:off x="5257800" y="3314700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latin typeface="Calibri"/>
                <a:cs typeface="Calibri"/>
              </a:rPr>
              <a:t>.05</a:t>
            </a:r>
          </a:p>
        </p:txBody>
      </p:sp>
      <p:sp>
        <p:nvSpPr>
          <p:cNvPr id="753683" name="Text Box 19"/>
          <p:cNvSpPr txBox="1">
            <a:spLocks noChangeArrowheads="1"/>
          </p:cNvSpPr>
          <p:nvPr/>
        </p:nvSpPr>
        <p:spPr bwMode="auto">
          <a:xfrm>
            <a:off x="6324600" y="3314700"/>
            <a:ext cx="7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latin typeface="Calibri"/>
                <a:cs typeface="Calibri"/>
              </a:rPr>
              <a:t>0.01</a:t>
            </a:r>
          </a:p>
        </p:txBody>
      </p:sp>
      <p:sp>
        <p:nvSpPr>
          <p:cNvPr id="753684" name="Text Box 20"/>
          <p:cNvSpPr txBox="1">
            <a:spLocks noChangeArrowheads="1"/>
          </p:cNvSpPr>
          <p:nvPr/>
        </p:nvSpPr>
        <p:spPr bwMode="auto">
          <a:xfrm>
            <a:off x="7086600" y="3314700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latin typeface="Calibri"/>
                <a:cs typeface="Calibri"/>
              </a:rPr>
              <a:t>0.1</a:t>
            </a:r>
          </a:p>
        </p:txBody>
      </p:sp>
      <p:sp>
        <p:nvSpPr>
          <p:cNvPr id="46096" name="Text Box 24"/>
          <p:cNvSpPr txBox="1">
            <a:spLocks noChangeArrowheads="1"/>
          </p:cNvSpPr>
          <p:nvPr/>
        </p:nvSpPr>
        <p:spPr bwMode="auto">
          <a:xfrm>
            <a:off x="609600" y="2228850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latin typeface="Calibri"/>
                <a:cs typeface="Calibri"/>
              </a:rPr>
              <a:t>Class </a:t>
            </a:r>
            <a:r>
              <a:rPr lang="en-US" i="1" dirty="0" err="1">
                <a:latin typeface="Calibri"/>
                <a:cs typeface="Calibri"/>
              </a:rPr>
              <a:t>pos</a:t>
            </a:r>
            <a:endParaRPr lang="en-US" i="1" dirty="0">
              <a:latin typeface="Calibri"/>
              <a:cs typeface="Calibri"/>
            </a:endParaRPr>
          </a:p>
        </p:txBody>
      </p:sp>
      <p:sp>
        <p:nvSpPr>
          <p:cNvPr id="753689" name="Text Box 25"/>
          <p:cNvSpPr txBox="1">
            <a:spLocks noChangeArrowheads="1"/>
          </p:cNvSpPr>
          <p:nvPr/>
        </p:nvSpPr>
        <p:spPr bwMode="auto">
          <a:xfrm>
            <a:off x="5791200" y="4457700"/>
            <a:ext cx="2971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latin typeface="Calibri"/>
                <a:cs typeface="Calibri"/>
              </a:rPr>
              <a:t>P(s | </a:t>
            </a:r>
            <a:r>
              <a:rPr lang="en-US" dirty="0" err="1">
                <a:latin typeface="Calibri"/>
                <a:cs typeface="Calibri"/>
              </a:rPr>
              <a:t>pos</a:t>
            </a:r>
            <a:r>
              <a:rPr lang="en-US" dirty="0">
                <a:latin typeface="Calibri"/>
                <a:cs typeface="Calibri"/>
              </a:rPr>
              <a:t>) = 0.0000005 </a:t>
            </a:r>
          </a:p>
        </p:txBody>
      </p:sp>
      <p:sp>
        <p:nvSpPr>
          <p:cNvPr id="46098" name="TextBox 26"/>
          <p:cNvSpPr txBox="1">
            <a:spLocks noChangeArrowheads="1"/>
          </p:cNvSpPr>
          <p:nvPr/>
        </p:nvSpPr>
        <p:spPr bwMode="auto">
          <a:xfrm>
            <a:off x="7620001" y="-67479"/>
            <a:ext cx="103916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  <a:latin typeface="Calibri"/>
                <a:cs typeface="Calibri"/>
              </a:rPr>
              <a:t>Sec.13.2.1</a:t>
            </a:r>
          </a:p>
        </p:txBody>
      </p:sp>
    </p:spTree>
    <p:extLst>
      <p:ext uri="{BB962C8B-B14F-4D97-AF65-F5344CB8AC3E}">
        <p14:creationId xmlns:p14="http://schemas.microsoft.com/office/powerpoint/2010/main" val="544615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5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" fill="hold"/>
                                        <p:tgtEl>
                                          <p:spTgt spid="753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" fill="hold"/>
                                        <p:tgtEl>
                                          <p:spTgt spid="753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3669" grpId="0" autoUpdateAnimBg="0"/>
      <p:bldP spid="753670" grpId="0" autoUpdateAnimBg="0"/>
      <p:bldP spid="753671" grpId="0" autoUpdateAnimBg="0"/>
      <p:bldP spid="753672" grpId="0" autoUpdateAnimBg="0"/>
      <p:bldP spid="753673" grpId="0" autoUpdateAnimBg="0"/>
      <p:bldP spid="753680" grpId="0" autoUpdateAnimBg="0"/>
      <p:bldP spid="753681" grpId="0" autoUpdateAnimBg="0"/>
      <p:bldP spid="753682" grpId="0" autoUpdateAnimBg="0"/>
      <p:bldP spid="753683" grpId="0" autoUpdateAnimBg="0"/>
      <p:bldP spid="753684" grpId="0" autoUpdateAnimBg="0"/>
      <p:bldP spid="753689" grpId="0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Na</a:t>
            </a:r>
            <a:r>
              <a:rPr lang="fr-FR" dirty="0" err="1">
                <a:latin typeface="Calibri" charset="0"/>
                <a:ea typeface="ＭＳ Ｐゴシック" charset="0"/>
                <a:cs typeface="ＭＳ Ｐゴシック" charset="0"/>
              </a:rPr>
              <a:t>ï</a:t>
            </a:r>
            <a:r>
              <a:rPr lang="en-US" dirty="0" err="1">
                <a:latin typeface="Calibri" charset="0"/>
                <a:ea typeface="ＭＳ Ｐゴシック" charset="0"/>
                <a:cs typeface="ＭＳ Ｐゴシック" charset="0"/>
              </a:rPr>
              <a:t>ve</a:t>
            </a:r>
            <a:r>
              <a:rPr lang="en-US" dirty="0">
                <a:latin typeface="Calibri" charset="0"/>
                <a:ea typeface="ＭＳ Ｐゴシック" charset="0"/>
                <a:cs typeface="ＭＳ Ｐゴシック" charset="0"/>
              </a:rPr>
              <a:t> Bayes as a Language Model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314451"/>
            <a:ext cx="7772400" cy="813197"/>
          </a:xfrm>
        </p:spPr>
        <p:txBody>
          <a:bodyPr/>
          <a:lstStyle/>
          <a:p>
            <a:pPr eaLnBrk="1" hangingPunct="1"/>
            <a:r>
              <a:rPr lang="en-US" dirty="0">
                <a:latin typeface="Calibri"/>
                <a:ea typeface="ＭＳ Ｐゴシック" charset="0"/>
                <a:cs typeface="Calibri"/>
              </a:rPr>
              <a:t>Which class assigns the higher probability to s?</a:t>
            </a:r>
          </a:p>
        </p:txBody>
      </p:sp>
      <p:sp>
        <p:nvSpPr>
          <p:cNvPr id="47107" name="Text Box 4"/>
          <p:cNvSpPr txBox="1">
            <a:spLocks noChangeArrowheads="1"/>
          </p:cNvSpPr>
          <p:nvPr/>
        </p:nvSpPr>
        <p:spPr bwMode="auto">
          <a:xfrm>
            <a:off x="381000" y="2628900"/>
            <a:ext cx="243840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dirty="0">
                <a:solidFill>
                  <a:srgbClr val="00AB7E"/>
                </a:solidFill>
                <a:latin typeface="Calibri"/>
                <a:cs typeface="Calibri"/>
              </a:rPr>
              <a:t>0.1	I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 dirty="0">
                <a:solidFill>
                  <a:srgbClr val="00AB7E"/>
                </a:solidFill>
                <a:latin typeface="Calibri"/>
                <a:cs typeface="Calibri"/>
              </a:rPr>
              <a:t>0.1	love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 dirty="0">
                <a:solidFill>
                  <a:srgbClr val="00AB7E"/>
                </a:solidFill>
                <a:latin typeface="Calibri"/>
                <a:cs typeface="Calibri"/>
              </a:rPr>
              <a:t>0.01	this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 dirty="0">
                <a:solidFill>
                  <a:srgbClr val="00AB7E"/>
                </a:solidFill>
                <a:latin typeface="Calibri"/>
                <a:cs typeface="Calibri"/>
              </a:rPr>
              <a:t>0.05	fun</a:t>
            </a:r>
          </a:p>
          <a:p>
            <a:pPr eaLnBrk="1" hangingPunct="1">
              <a:spcBef>
                <a:spcPct val="50000"/>
              </a:spcBef>
            </a:pPr>
            <a:r>
              <a:rPr lang="en-US" sz="2000" dirty="0">
                <a:solidFill>
                  <a:srgbClr val="00AB7E"/>
                </a:solidFill>
                <a:latin typeface="Calibri"/>
                <a:cs typeface="Calibri"/>
              </a:rPr>
              <a:t>0.1	film</a:t>
            </a:r>
          </a:p>
        </p:txBody>
      </p:sp>
      <p:sp>
        <p:nvSpPr>
          <p:cNvPr id="47108" name="Text Box 5"/>
          <p:cNvSpPr txBox="1">
            <a:spLocks noChangeArrowheads="1"/>
          </p:cNvSpPr>
          <p:nvPr/>
        </p:nvSpPr>
        <p:spPr bwMode="auto">
          <a:xfrm>
            <a:off x="533400" y="2114550"/>
            <a:ext cx="1600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00AB7E"/>
                </a:solidFill>
                <a:latin typeface="Calibri"/>
                <a:cs typeface="Calibri"/>
              </a:rPr>
              <a:t>Model </a:t>
            </a:r>
            <a:r>
              <a:rPr lang="en-US" dirty="0" err="1">
                <a:solidFill>
                  <a:srgbClr val="00AB7E"/>
                </a:solidFill>
                <a:latin typeface="Calibri"/>
                <a:cs typeface="Calibri"/>
              </a:rPr>
              <a:t>pos</a:t>
            </a:r>
            <a:endParaRPr lang="en-US" dirty="0">
              <a:solidFill>
                <a:srgbClr val="00AB7E"/>
              </a:solidFill>
              <a:latin typeface="Calibri"/>
              <a:cs typeface="Calibri"/>
            </a:endParaRPr>
          </a:p>
        </p:txBody>
      </p:sp>
      <p:sp>
        <p:nvSpPr>
          <p:cNvPr id="47109" name="Text Box 6"/>
          <p:cNvSpPr txBox="1">
            <a:spLocks noChangeArrowheads="1"/>
          </p:cNvSpPr>
          <p:nvPr/>
        </p:nvSpPr>
        <p:spPr bwMode="auto">
          <a:xfrm>
            <a:off x="2819400" y="2114550"/>
            <a:ext cx="1600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Model </a:t>
            </a:r>
            <a:r>
              <a:rPr lang="en-US" dirty="0" err="1">
                <a:solidFill>
                  <a:srgbClr val="FF0000"/>
                </a:solidFill>
                <a:latin typeface="Calibri"/>
                <a:cs typeface="Calibri"/>
              </a:rPr>
              <a:t>neg</a:t>
            </a:r>
            <a:endParaRPr lang="en-US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47110" name="Rectangle 7"/>
          <p:cNvSpPr>
            <a:spLocks noChangeArrowheads="1"/>
          </p:cNvSpPr>
          <p:nvPr/>
        </p:nvSpPr>
        <p:spPr bwMode="auto">
          <a:xfrm>
            <a:off x="228600" y="2000250"/>
            <a:ext cx="2133600" cy="2971800"/>
          </a:xfrm>
          <a:prstGeom prst="rect">
            <a:avLst/>
          </a:prstGeom>
          <a:noFill/>
          <a:ln w="9525">
            <a:solidFill>
              <a:srgbClr val="00E4A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/>
              <a:cs typeface="Calibri"/>
            </a:endParaRPr>
          </a:p>
        </p:txBody>
      </p:sp>
      <p:sp>
        <p:nvSpPr>
          <p:cNvPr id="47111" name="Rectangle 8"/>
          <p:cNvSpPr>
            <a:spLocks noChangeArrowheads="1"/>
          </p:cNvSpPr>
          <p:nvPr/>
        </p:nvSpPr>
        <p:spPr bwMode="auto">
          <a:xfrm>
            <a:off x="2438400" y="2000250"/>
            <a:ext cx="2133600" cy="2971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/>
              <a:cs typeface="Calibri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4648200" y="2743200"/>
            <a:ext cx="4953000" cy="401241"/>
            <a:chOff x="2928" y="2304"/>
            <a:chExt cx="3120" cy="337"/>
          </a:xfrm>
        </p:grpSpPr>
        <p:sp>
          <p:nvSpPr>
            <p:cNvPr id="47127" name="Text Box 10"/>
            <p:cNvSpPr txBox="1">
              <a:spLocks noChangeArrowheads="1"/>
            </p:cNvSpPr>
            <p:nvPr/>
          </p:nvSpPr>
          <p:spPr bwMode="auto">
            <a:xfrm>
              <a:off x="5184" y="2304"/>
              <a:ext cx="86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 dirty="0">
                  <a:latin typeface="Calibri"/>
                  <a:cs typeface="Calibri"/>
                </a:rPr>
                <a:t>film</a:t>
              </a:r>
            </a:p>
          </p:txBody>
        </p:sp>
        <p:sp>
          <p:nvSpPr>
            <p:cNvPr id="47128" name="Text Box 11"/>
            <p:cNvSpPr txBox="1">
              <a:spLocks noChangeArrowheads="1"/>
            </p:cNvSpPr>
            <p:nvPr/>
          </p:nvSpPr>
          <p:spPr bwMode="auto">
            <a:xfrm>
              <a:off x="3504" y="2304"/>
              <a:ext cx="62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 dirty="0">
                  <a:latin typeface="Calibri"/>
                  <a:cs typeface="Calibri"/>
                </a:rPr>
                <a:t>love</a:t>
              </a:r>
            </a:p>
          </p:txBody>
        </p:sp>
        <p:sp>
          <p:nvSpPr>
            <p:cNvPr id="47129" name="Text Box 12"/>
            <p:cNvSpPr txBox="1">
              <a:spLocks noChangeArrowheads="1"/>
            </p:cNvSpPr>
            <p:nvPr/>
          </p:nvSpPr>
          <p:spPr bwMode="auto">
            <a:xfrm>
              <a:off x="4032" y="2304"/>
              <a:ext cx="62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 dirty="0">
                  <a:latin typeface="Calibri"/>
                  <a:cs typeface="Calibri"/>
                </a:rPr>
                <a:t>this</a:t>
              </a:r>
            </a:p>
          </p:txBody>
        </p:sp>
        <p:sp>
          <p:nvSpPr>
            <p:cNvPr id="47130" name="Text Box 13"/>
            <p:cNvSpPr txBox="1">
              <a:spLocks noChangeArrowheads="1"/>
            </p:cNvSpPr>
            <p:nvPr/>
          </p:nvSpPr>
          <p:spPr bwMode="auto">
            <a:xfrm>
              <a:off x="4704" y="2304"/>
              <a:ext cx="48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 dirty="0">
                  <a:latin typeface="Calibri"/>
                  <a:cs typeface="Calibri"/>
                </a:rPr>
                <a:t>fun</a:t>
              </a:r>
            </a:p>
          </p:txBody>
        </p:sp>
        <p:grpSp>
          <p:nvGrpSpPr>
            <p:cNvPr id="47131" name="Group 14"/>
            <p:cNvGrpSpPr>
              <a:grpSpLocks/>
            </p:cNvGrpSpPr>
            <p:nvPr/>
          </p:nvGrpSpPr>
          <p:grpSpPr bwMode="auto">
            <a:xfrm>
              <a:off x="2976" y="2640"/>
              <a:ext cx="2640" cy="1"/>
              <a:chOff x="2256" y="2640"/>
              <a:chExt cx="2640" cy="0"/>
            </a:xfrm>
          </p:grpSpPr>
          <p:sp>
            <p:nvSpPr>
              <p:cNvPr id="47133" name="Line 15"/>
              <p:cNvSpPr>
                <a:spLocks noChangeShapeType="1"/>
              </p:cNvSpPr>
              <p:nvPr/>
            </p:nvSpPr>
            <p:spPr bwMode="auto">
              <a:xfrm>
                <a:off x="2256" y="264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47134" name="Line 16"/>
              <p:cNvSpPr>
                <a:spLocks noChangeShapeType="1"/>
              </p:cNvSpPr>
              <p:nvPr/>
            </p:nvSpPr>
            <p:spPr bwMode="auto">
              <a:xfrm>
                <a:off x="2832" y="264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47135" name="Line 17"/>
              <p:cNvSpPr>
                <a:spLocks noChangeShapeType="1"/>
              </p:cNvSpPr>
              <p:nvPr/>
            </p:nvSpPr>
            <p:spPr bwMode="auto">
              <a:xfrm>
                <a:off x="3408" y="264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47136" name="Line 18"/>
              <p:cNvSpPr>
                <a:spLocks noChangeShapeType="1"/>
              </p:cNvSpPr>
              <p:nvPr/>
            </p:nvSpPr>
            <p:spPr bwMode="auto">
              <a:xfrm>
                <a:off x="3984" y="264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47137" name="Line 19"/>
              <p:cNvSpPr>
                <a:spLocks noChangeShapeType="1"/>
              </p:cNvSpPr>
              <p:nvPr/>
            </p:nvSpPr>
            <p:spPr bwMode="auto">
              <a:xfrm>
                <a:off x="4608" y="264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47132" name="Text Box 20"/>
            <p:cNvSpPr txBox="1">
              <a:spLocks noChangeArrowheads="1"/>
            </p:cNvSpPr>
            <p:nvPr/>
          </p:nvSpPr>
          <p:spPr bwMode="auto">
            <a:xfrm>
              <a:off x="2928" y="2304"/>
              <a:ext cx="62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 dirty="0">
                  <a:latin typeface="Calibri"/>
                  <a:cs typeface="Calibri"/>
                </a:rPr>
                <a:t>I</a:t>
              </a: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4648200" y="3314698"/>
            <a:ext cx="4953000" cy="608409"/>
            <a:chOff x="2928" y="2784"/>
            <a:chExt cx="3120" cy="511"/>
          </a:xfrm>
        </p:grpSpPr>
        <p:sp>
          <p:nvSpPr>
            <p:cNvPr id="47117" name="Text Box 22"/>
            <p:cNvSpPr txBox="1">
              <a:spLocks noChangeArrowheads="1"/>
            </p:cNvSpPr>
            <p:nvPr/>
          </p:nvSpPr>
          <p:spPr bwMode="auto">
            <a:xfrm>
              <a:off x="5184" y="2784"/>
              <a:ext cx="86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 dirty="0">
                  <a:solidFill>
                    <a:srgbClr val="00AB7E"/>
                  </a:solidFill>
                  <a:latin typeface="Calibri"/>
                  <a:cs typeface="Calibri"/>
                </a:rPr>
                <a:t>0.1</a:t>
              </a:r>
            </a:p>
          </p:txBody>
        </p:sp>
        <p:sp>
          <p:nvSpPr>
            <p:cNvPr id="47118" name="Text Box 23"/>
            <p:cNvSpPr txBox="1">
              <a:spLocks noChangeArrowheads="1"/>
            </p:cNvSpPr>
            <p:nvPr/>
          </p:nvSpPr>
          <p:spPr bwMode="auto">
            <a:xfrm>
              <a:off x="3504" y="2784"/>
              <a:ext cx="48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 dirty="0">
                  <a:solidFill>
                    <a:srgbClr val="00AB7E"/>
                  </a:solidFill>
                  <a:latin typeface="Calibri"/>
                  <a:cs typeface="Calibri"/>
                </a:rPr>
                <a:t>0.1</a:t>
              </a:r>
            </a:p>
          </p:txBody>
        </p:sp>
        <p:sp>
          <p:nvSpPr>
            <p:cNvPr id="47119" name="Text Box 24"/>
            <p:cNvSpPr txBox="1">
              <a:spLocks noChangeArrowheads="1"/>
            </p:cNvSpPr>
            <p:nvPr/>
          </p:nvSpPr>
          <p:spPr bwMode="auto">
            <a:xfrm>
              <a:off x="4032" y="2784"/>
              <a:ext cx="57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 dirty="0">
                  <a:solidFill>
                    <a:srgbClr val="00AB7E"/>
                  </a:solidFill>
                  <a:latin typeface="Calibri"/>
                  <a:cs typeface="Calibri"/>
                </a:rPr>
                <a:t>0.01</a:t>
              </a:r>
            </a:p>
          </p:txBody>
        </p:sp>
        <p:sp>
          <p:nvSpPr>
            <p:cNvPr id="47120" name="Text Box 25"/>
            <p:cNvSpPr txBox="1">
              <a:spLocks noChangeArrowheads="1"/>
            </p:cNvSpPr>
            <p:nvPr/>
          </p:nvSpPr>
          <p:spPr bwMode="auto">
            <a:xfrm>
              <a:off x="4704" y="2784"/>
              <a:ext cx="57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 dirty="0">
                  <a:solidFill>
                    <a:srgbClr val="00AB7E"/>
                  </a:solidFill>
                  <a:latin typeface="Calibri"/>
                  <a:cs typeface="Calibri"/>
                </a:rPr>
                <a:t>0.05</a:t>
              </a:r>
            </a:p>
          </p:txBody>
        </p:sp>
        <p:sp>
          <p:nvSpPr>
            <p:cNvPr id="47121" name="Text Box 26"/>
            <p:cNvSpPr txBox="1">
              <a:spLocks noChangeArrowheads="1"/>
            </p:cNvSpPr>
            <p:nvPr/>
          </p:nvSpPr>
          <p:spPr bwMode="auto">
            <a:xfrm>
              <a:off x="2928" y="2784"/>
              <a:ext cx="48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 dirty="0">
                  <a:solidFill>
                    <a:srgbClr val="00AB7E"/>
                  </a:solidFill>
                  <a:latin typeface="Calibri"/>
                  <a:cs typeface="Calibri"/>
                </a:rPr>
                <a:t>0.1</a:t>
              </a:r>
            </a:p>
          </p:txBody>
        </p:sp>
        <p:sp>
          <p:nvSpPr>
            <p:cNvPr id="47122" name="Text Box 27"/>
            <p:cNvSpPr txBox="1">
              <a:spLocks noChangeArrowheads="1"/>
            </p:cNvSpPr>
            <p:nvPr/>
          </p:nvSpPr>
          <p:spPr bwMode="auto">
            <a:xfrm>
              <a:off x="5184" y="2985"/>
              <a:ext cx="864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 dirty="0">
                  <a:solidFill>
                    <a:srgbClr val="FF0000"/>
                  </a:solidFill>
                  <a:latin typeface="Calibri"/>
                  <a:cs typeface="Calibri"/>
                </a:rPr>
                <a:t>0.1</a:t>
              </a:r>
            </a:p>
          </p:txBody>
        </p:sp>
        <p:sp>
          <p:nvSpPr>
            <p:cNvPr id="47123" name="Text Box 28"/>
            <p:cNvSpPr txBox="1">
              <a:spLocks noChangeArrowheads="1"/>
            </p:cNvSpPr>
            <p:nvPr/>
          </p:nvSpPr>
          <p:spPr bwMode="auto">
            <a:xfrm>
              <a:off x="3504" y="2985"/>
              <a:ext cx="52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 dirty="0">
                  <a:solidFill>
                    <a:srgbClr val="FF0000"/>
                  </a:solidFill>
                  <a:latin typeface="Calibri"/>
                  <a:cs typeface="Calibri"/>
                </a:rPr>
                <a:t>0.001</a:t>
              </a:r>
            </a:p>
          </p:txBody>
        </p:sp>
        <p:sp>
          <p:nvSpPr>
            <p:cNvPr id="47124" name="Text Box 29"/>
            <p:cNvSpPr txBox="1">
              <a:spLocks noChangeArrowheads="1"/>
            </p:cNvSpPr>
            <p:nvPr/>
          </p:nvSpPr>
          <p:spPr bwMode="auto">
            <a:xfrm>
              <a:off x="4032" y="2985"/>
              <a:ext cx="57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 dirty="0">
                  <a:solidFill>
                    <a:srgbClr val="FF0000"/>
                  </a:solidFill>
                  <a:latin typeface="Calibri"/>
                  <a:cs typeface="Calibri"/>
                </a:rPr>
                <a:t>0.01</a:t>
              </a:r>
            </a:p>
          </p:txBody>
        </p:sp>
        <p:sp>
          <p:nvSpPr>
            <p:cNvPr id="47125" name="Text Box 30"/>
            <p:cNvSpPr txBox="1">
              <a:spLocks noChangeArrowheads="1"/>
            </p:cNvSpPr>
            <p:nvPr/>
          </p:nvSpPr>
          <p:spPr bwMode="auto">
            <a:xfrm>
              <a:off x="4704" y="2985"/>
              <a:ext cx="57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 dirty="0">
                  <a:solidFill>
                    <a:srgbClr val="FF0000"/>
                  </a:solidFill>
                  <a:latin typeface="Calibri"/>
                  <a:cs typeface="Calibri"/>
                </a:rPr>
                <a:t>0.005</a:t>
              </a:r>
            </a:p>
          </p:txBody>
        </p:sp>
        <p:sp>
          <p:nvSpPr>
            <p:cNvPr id="47126" name="Text Box 31"/>
            <p:cNvSpPr txBox="1">
              <a:spLocks noChangeArrowheads="1"/>
            </p:cNvSpPr>
            <p:nvPr/>
          </p:nvSpPr>
          <p:spPr bwMode="auto">
            <a:xfrm>
              <a:off x="2928" y="2985"/>
              <a:ext cx="48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Lucida Sans" charset="0"/>
                  <a:ea typeface="ＭＳ Ｐゴシック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800" dirty="0">
                  <a:solidFill>
                    <a:srgbClr val="FF0000"/>
                  </a:solidFill>
                  <a:latin typeface="Calibri"/>
                  <a:cs typeface="Calibri"/>
                </a:rPr>
                <a:t>0.2</a:t>
              </a:r>
            </a:p>
          </p:txBody>
        </p:sp>
      </p:grpSp>
      <p:sp>
        <p:nvSpPr>
          <p:cNvPr id="754720" name="Text Box 32"/>
          <p:cNvSpPr txBox="1">
            <a:spLocks noChangeArrowheads="1"/>
          </p:cNvSpPr>
          <p:nvPr/>
        </p:nvSpPr>
        <p:spPr bwMode="auto">
          <a:xfrm>
            <a:off x="5410200" y="4286250"/>
            <a:ext cx="289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latin typeface="Calibri"/>
                <a:cs typeface="Calibri"/>
              </a:rPr>
              <a:t>P(</a:t>
            </a:r>
            <a:r>
              <a:rPr lang="en-US" dirty="0" err="1">
                <a:latin typeface="Calibri"/>
                <a:cs typeface="Calibri"/>
              </a:rPr>
              <a:t>s|</a:t>
            </a:r>
            <a:r>
              <a:rPr lang="en-US" dirty="0" err="1">
                <a:solidFill>
                  <a:srgbClr val="008000"/>
                </a:solidFill>
                <a:latin typeface="Calibri"/>
                <a:cs typeface="Calibri"/>
              </a:rPr>
              <a:t>pos</a:t>
            </a:r>
            <a:r>
              <a:rPr lang="en-US" dirty="0">
                <a:latin typeface="Calibri"/>
                <a:cs typeface="Calibri"/>
              </a:rPr>
              <a:t>)  &gt;  P(</a:t>
            </a:r>
            <a:r>
              <a:rPr lang="en-US" dirty="0" err="1">
                <a:latin typeface="Calibri"/>
                <a:cs typeface="Calibri"/>
              </a:rPr>
              <a:t>s|</a:t>
            </a:r>
            <a:r>
              <a:rPr lang="en-US" dirty="0" err="1">
                <a:solidFill>
                  <a:srgbClr val="FF0000"/>
                </a:solidFill>
                <a:latin typeface="Calibri"/>
                <a:cs typeface="Calibri"/>
              </a:rPr>
              <a:t>neg</a:t>
            </a:r>
            <a:r>
              <a:rPr lang="en-US" dirty="0">
                <a:latin typeface="Calibri"/>
                <a:cs typeface="Calibri"/>
              </a:rPr>
              <a:t>)</a:t>
            </a:r>
          </a:p>
        </p:txBody>
      </p:sp>
      <p:sp>
        <p:nvSpPr>
          <p:cNvPr id="47115" name="Text Box 33"/>
          <p:cNvSpPr txBox="1">
            <a:spLocks noChangeArrowheads="1"/>
          </p:cNvSpPr>
          <p:nvPr/>
        </p:nvSpPr>
        <p:spPr bwMode="auto">
          <a:xfrm>
            <a:off x="2574925" y="2513410"/>
            <a:ext cx="1545565" cy="2375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sz="2000" dirty="0">
                <a:solidFill>
                  <a:schemeClr val="hlink"/>
                </a:solidFill>
                <a:latin typeface="Calibri"/>
                <a:cs typeface="Calibri"/>
              </a:rPr>
              <a:t>0.2	I</a:t>
            </a:r>
          </a:p>
          <a:p>
            <a:pPr eaLnBrk="1" hangingPunct="1">
              <a:lnSpc>
                <a:spcPct val="150000"/>
              </a:lnSpc>
            </a:pPr>
            <a:r>
              <a:rPr lang="en-US" sz="2000" dirty="0">
                <a:solidFill>
                  <a:schemeClr val="hlink"/>
                </a:solidFill>
                <a:latin typeface="Calibri"/>
                <a:cs typeface="Calibri"/>
              </a:rPr>
              <a:t>0.001	love</a:t>
            </a:r>
          </a:p>
          <a:p>
            <a:pPr eaLnBrk="1" hangingPunct="1">
              <a:lnSpc>
                <a:spcPct val="150000"/>
              </a:lnSpc>
            </a:pPr>
            <a:r>
              <a:rPr lang="en-US" sz="2000" dirty="0">
                <a:solidFill>
                  <a:schemeClr val="hlink"/>
                </a:solidFill>
                <a:latin typeface="Calibri"/>
                <a:cs typeface="Calibri"/>
              </a:rPr>
              <a:t>0.01	this</a:t>
            </a:r>
          </a:p>
          <a:p>
            <a:pPr eaLnBrk="1" hangingPunct="1">
              <a:lnSpc>
                <a:spcPct val="150000"/>
              </a:lnSpc>
            </a:pPr>
            <a:r>
              <a:rPr lang="en-US" sz="2000" dirty="0">
                <a:solidFill>
                  <a:schemeClr val="hlink"/>
                </a:solidFill>
                <a:latin typeface="Calibri"/>
                <a:cs typeface="Calibri"/>
              </a:rPr>
              <a:t>0.005	fun</a:t>
            </a:r>
          </a:p>
          <a:p>
            <a:pPr eaLnBrk="1" hangingPunct="1">
              <a:lnSpc>
                <a:spcPct val="150000"/>
              </a:lnSpc>
            </a:pPr>
            <a:r>
              <a:rPr lang="en-US" sz="2000" dirty="0">
                <a:solidFill>
                  <a:schemeClr val="hlink"/>
                </a:solidFill>
                <a:latin typeface="Calibri"/>
                <a:cs typeface="Calibri"/>
              </a:rPr>
              <a:t>0.1	film</a:t>
            </a:r>
          </a:p>
        </p:txBody>
      </p:sp>
      <p:sp>
        <p:nvSpPr>
          <p:cNvPr id="47116" name="TextBox 34"/>
          <p:cNvSpPr txBox="1">
            <a:spLocks noChangeArrowheads="1"/>
          </p:cNvSpPr>
          <p:nvPr/>
        </p:nvSpPr>
        <p:spPr bwMode="auto">
          <a:xfrm>
            <a:off x="7620001" y="-67479"/>
            <a:ext cx="122832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>
                <a:solidFill>
                  <a:srgbClr val="FBFCFF"/>
                </a:solidFill>
              </a:rPr>
              <a:t>Sec.13.2.1</a:t>
            </a:r>
          </a:p>
        </p:txBody>
      </p:sp>
    </p:spTree>
    <p:extLst>
      <p:ext uri="{BB962C8B-B14F-4D97-AF65-F5344CB8AC3E}">
        <p14:creationId xmlns:p14="http://schemas.microsoft.com/office/powerpoint/2010/main" val="1297297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4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4720" grpId="0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>
                <a:latin typeface="Calibri (Headings)"/>
                <a:cs typeface="Calibri (Headings)"/>
              </a:rPr>
              <a:t>Text Classification and Na</a:t>
            </a:r>
            <a:r>
              <a:rPr lang="fr-FR" sz="3400" dirty="0" err="1">
                <a:latin typeface="Calibri (Headings)"/>
                <a:cs typeface="Calibri (Headings)"/>
              </a:rPr>
              <a:t>ï</a:t>
            </a:r>
            <a:r>
              <a:rPr lang="en-US" sz="3400" dirty="0" err="1">
                <a:latin typeface="Calibri (Headings)"/>
                <a:cs typeface="Calibri (Headings)"/>
              </a:rPr>
              <a:t>ve</a:t>
            </a:r>
            <a:r>
              <a:rPr lang="en-US" sz="3400" dirty="0">
                <a:latin typeface="Calibri (Headings)"/>
                <a:cs typeface="Calibri (Headings)"/>
              </a:rPr>
              <a:t> Bayes</a:t>
            </a:r>
            <a:endParaRPr lang="en-US" sz="34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Na</a:t>
            </a:r>
            <a:r>
              <a:rPr lang="fr-FR" sz="3600" dirty="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ï</a:t>
            </a:r>
            <a:r>
              <a:rPr lang="en-US" sz="3600" dirty="0" err="1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ve</a:t>
            </a: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 Bayes: Relationship to Language Modeling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B49766-BF0A-7C44-BB6B-113E55DA08E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591748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 err="1">
                <a:latin typeface="Calibri (Headings)"/>
                <a:cs typeface="Calibri (Headings)"/>
              </a:rPr>
              <a:t>Phân</a:t>
            </a:r>
            <a:r>
              <a:rPr lang="en-US" sz="3400" dirty="0">
                <a:latin typeface="Calibri (Headings)"/>
                <a:cs typeface="Calibri (Headings)"/>
              </a:rPr>
              <a:t> </a:t>
            </a:r>
            <a:r>
              <a:rPr lang="en-US" sz="3400" dirty="0" err="1">
                <a:latin typeface="Calibri (Headings)"/>
                <a:cs typeface="Calibri (Headings)"/>
              </a:rPr>
              <a:t>loại</a:t>
            </a:r>
            <a:r>
              <a:rPr lang="en-US" sz="3400" dirty="0">
                <a:latin typeface="Calibri (Headings)"/>
                <a:cs typeface="Calibri (Headings)"/>
              </a:rPr>
              <a:t> </a:t>
            </a:r>
            <a:r>
              <a:rPr lang="en-US" sz="3400" dirty="0" err="1">
                <a:latin typeface="Calibri (Headings)"/>
                <a:cs typeface="Calibri (Headings)"/>
              </a:rPr>
              <a:t>văn</a:t>
            </a:r>
            <a:r>
              <a:rPr lang="en-US" sz="3400" dirty="0">
                <a:latin typeface="Calibri (Headings)"/>
                <a:cs typeface="Calibri (Headings)"/>
              </a:rPr>
              <a:t> </a:t>
            </a:r>
            <a:r>
              <a:rPr lang="en-US" sz="3400" dirty="0" err="1">
                <a:latin typeface="Calibri (Headings)"/>
                <a:cs typeface="Calibri (Headings)"/>
              </a:rPr>
              <a:t>bản</a:t>
            </a:r>
            <a:r>
              <a:rPr lang="en-US" sz="3400" dirty="0">
                <a:latin typeface="Calibri (Headings)"/>
                <a:cs typeface="Calibri (Headings)"/>
              </a:rPr>
              <a:t> </a:t>
            </a:r>
            <a:r>
              <a:rPr lang="en-US" sz="3400" dirty="0" err="1">
                <a:latin typeface="Calibri (Headings)"/>
                <a:cs typeface="Calibri (Headings)"/>
              </a:rPr>
              <a:t>và</a:t>
            </a:r>
            <a:r>
              <a:rPr lang="en-US" sz="3400" dirty="0">
                <a:latin typeface="Calibri (Headings)"/>
                <a:cs typeface="Calibri (Headings)"/>
              </a:rPr>
              <a:t> Na</a:t>
            </a:r>
            <a:r>
              <a:rPr lang="fr-FR" sz="3400" dirty="0" err="1">
                <a:latin typeface="Calibri (Headings)"/>
                <a:cs typeface="Calibri (Headings)"/>
              </a:rPr>
              <a:t>ï</a:t>
            </a:r>
            <a:r>
              <a:rPr lang="en-US" sz="3400" dirty="0" err="1">
                <a:latin typeface="Calibri (Headings)"/>
                <a:cs typeface="Calibri (Headings)"/>
              </a:rPr>
              <a:t>ve</a:t>
            </a:r>
            <a:r>
              <a:rPr lang="en-US" sz="3400" dirty="0">
                <a:latin typeface="Calibri (Headings)"/>
                <a:cs typeface="Calibri (Headings)"/>
              </a:rPr>
              <a:t> Bayes</a:t>
            </a:r>
            <a:endParaRPr lang="en-US" sz="3400" dirty="0"/>
          </a:p>
        </p:txBody>
      </p:sp>
      <p:sp>
        <p:nvSpPr>
          <p:cNvPr id="6" name="Subtitle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err="1">
                <a:solidFill>
                  <a:srgbClr val="A4001D"/>
                </a:solidFill>
                <a:ea typeface="ＭＳ Ｐゴシック" charset="0"/>
                <a:cs typeface="Calibri"/>
              </a:rPr>
              <a:t>Các</a:t>
            </a:r>
            <a:r>
              <a:rPr lang="en-US" sz="3200" dirty="0">
                <a:solidFill>
                  <a:srgbClr val="A4001D"/>
                </a:solidFill>
                <a:ea typeface="ＭＳ Ｐゴシック" charset="0"/>
                <a:cs typeface="Calibri"/>
              </a:rPr>
              <a:t> </a:t>
            </a:r>
            <a:r>
              <a:rPr lang="en-US" sz="3200" dirty="0" err="1">
                <a:solidFill>
                  <a:srgbClr val="A4001D"/>
                </a:solidFill>
                <a:ea typeface="ＭＳ Ｐゴシック" charset="0"/>
                <a:cs typeface="Calibri"/>
              </a:rPr>
              <a:t>độ</a:t>
            </a:r>
            <a:r>
              <a:rPr lang="en-US" sz="3200" dirty="0">
                <a:solidFill>
                  <a:srgbClr val="A4001D"/>
                </a:solidFill>
                <a:ea typeface="ＭＳ Ｐゴシック" charset="0"/>
                <a:cs typeface="Calibri"/>
              </a:rPr>
              <a:t> </a:t>
            </a:r>
            <a:r>
              <a:rPr lang="en-US" sz="3200" dirty="0" err="1">
                <a:solidFill>
                  <a:srgbClr val="A4001D"/>
                </a:solidFill>
                <a:ea typeface="ＭＳ Ｐゴシック" charset="0"/>
                <a:cs typeface="Calibri"/>
              </a:rPr>
              <a:t>đo</a:t>
            </a:r>
            <a:r>
              <a:rPr lang="en-US" sz="3200" dirty="0">
                <a:solidFill>
                  <a:srgbClr val="A4001D"/>
                </a:solidFill>
                <a:ea typeface="ＭＳ Ｐゴシック" charset="0"/>
                <a:cs typeface="Calibri"/>
              </a:rPr>
              <a:t> </a:t>
            </a:r>
            <a:r>
              <a:rPr lang="en-US" sz="3200" dirty="0" err="1">
                <a:solidFill>
                  <a:srgbClr val="A4001D"/>
                </a:solidFill>
                <a:ea typeface="ＭＳ Ｐゴシック" charset="0"/>
                <a:cs typeface="Calibri"/>
              </a:rPr>
              <a:t>đánh</a:t>
            </a:r>
            <a:r>
              <a:rPr lang="en-US" sz="3200" dirty="0">
                <a:solidFill>
                  <a:srgbClr val="A4001D"/>
                </a:solidFill>
                <a:ea typeface="ＭＳ Ｐゴシック" charset="0"/>
                <a:cs typeface="Calibri"/>
              </a:rPr>
              <a:t> </a:t>
            </a:r>
            <a:r>
              <a:rPr lang="en-US" sz="3200" dirty="0" err="1">
                <a:solidFill>
                  <a:srgbClr val="A4001D"/>
                </a:solidFill>
                <a:ea typeface="ＭＳ Ｐゴシック" charset="0"/>
                <a:cs typeface="Calibri"/>
              </a:rPr>
              <a:t>giá</a:t>
            </a:r>
            <a:r>
              <a:rPr lang="en-US" sz="3200" dirty="0">
                <a:solidFill>
                  <a:srgbClr val="A4001D"/>
                </a:solidFill>
                <a:ea typeface="ＭＳ Ｐゴシック" charset="0"/>
                <a:cs typeface="Calibri"/>
              </a:rPr>
              <a:t>: Precision, Recall, </a:t>
            </a:r>
            <a:r>
              <a:rPr lang="en-US" sz="3200" dirty="0" err="1">
                <a:solidFill>
                  <a:srgbClr val="A4001D"/>
                </a:solidFill>
                <a:ea typeface="ＭＳ Ｐゴシック" charset="0"/>
                <a:cs typeface="Calibri"/>
              </a:rPr>
              <a:t>và</a:t>
            </a:r>
            <a:r>
              <a:rPr lang="en-US" sz="3200" dirty="0">
                <a:solidFill>
                  <a:srgbClr val="A4001D"/>
                </a:solidFill>
                <a:ea typeface="ＭＳ Ｐゴシック" charset="0"/>
                <a:cs typeface="Calibri"/>
              </a:rPr>
              <a:t> F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69466B-BEAB-1A41-B01A-23D2B5008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0928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ADF2E-F168-3F4A-A9C8-6E8C3F201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(Evaluation)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B7CA-5A1F-A441-867B-C86092107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endParaRPr lang="en-US" dirty="0"/>
          </a:p>
          <a:p>
            <a:pPr algn="just"/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giám</a:t>
            </a:r>
            <a:r>
              <a:rPr lang="en-US" dirty="0"/>
              <a:t> </a:t>
            </a:r>
            <a:r>
              <a:rPr lang="en-US" dirty="0" err="1"/>
              <a:t>đốc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ty Delicious Pie Company</a:t>
            </a:r>
          </a:p>
          <a:p>
            <a:pPr algn="just"/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nói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bánh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bạn</a:t>
            </a:r>
            <a:endParaRPr lang="en-US" dirty="0"/>
          </a:p>
          <a:p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dung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"Delicious Pie" tweet detector</a:t>
            </a:r>
          </a:p>
          <a:p>
            <a:pPr lvl="1"/>
            <a:r>
              <a:rPr lang="en-US" dirty="0"/>
              <a:t>Positive class: tweets about Delicious Pie Co</a:t>
            </a:r>
          </a:p>
          <a:p>
            <a:pPr lvl="1"/>
            <a:r>
              <a:rPr lang="en-US" dirty="0"/>
              <a:t>Negative class: all other tweets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45327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Ma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trận</a:t>
            </a:r>
            <a:r>
              <a:rPr lang="en-US" dirty="0"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nhầm</a:t>
            </a:r>
            <a:r>
              <a:rPr lang="en-US" dirty="0">
                <a:ea typeface="ＭＳ Ｐゴシック" charset="0"/>
                <a:cs typeface="ＭＳ Ｐゴシック" charset="0"/>
              </a:rPr>
              <a:t>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lẫn</a:t>
            </a:r>
            <a:r>
              <a:rPr lang="en-US" dirty="0">
                <a:ea typeface="ＭＳ Ｐゴシック" charset="0"/>
                <a:cs typeface="ＭＳ Ｐゴシック" charset="0"/>
              </a:rPr>
              <a:t> 2x2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71557E-391F-434B-8FBE-DD52E0740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300" y="1211903"/>
            <a:ext cx="8867700" cy="313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79480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ADF2E-F168-3F4A-A9C8-6E8C3F201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Evaluation: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B7CA-5A1F-A441-867B-C86092107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200150"/>
            <a:ext cx="8321040" cy="382364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Why don't we use </a:t>
            </a:r>
            <a:r>
              <a:rPr lang="en-US" b="1" dirty="0"/>
              <a:t>accuracy</a:t>
            </a:r>
            <a:r>
              <a:rPr lang="en-US" dirty="0"/>
              <a:t> as our metric?</a:t>
            </a:r>
          </a:p>
          <a:p>
            <a:r>
              <a:rPr lang="en-US" dirty="0"/>
              <a:t>Imagine we saw 1 million tweets</a:t>
            </a:r>
          </a:p>
          <a:p>
            <a:pPr lvl="1"/>
            <a:r>
              <a:rPr lang="en-US" dirty="0"/>
              <a:t>100 of them talked about Delicious Pie Co.</a:t>
            </a:r>
          </a:p>
          <a:p>
            <a:pPr lvl="1"/>
            <a:r>
              <a:rPr lang="en-US" dirty="0"/>
              <a:t>999,900 talked about something else</a:t>
            </a:r>
          </a:p>
          <a:p>
            <a:r>
              <a:rPr lang="en-US" dirty="0"/>
              <a:t>We could build a dumb classifier that just labels every tweet "not about pie"</a:t>
            </a:r>
          </a:p>
          <a:p>
            <a:pPr lvl="1"/>
            <a:r>
              <a:rPr lang="en-US" dirty="0"/>
              <a:t>It would get 99.99% accuracy!!! Wow!!!!</a:t>
            </a:r>
          </a:p>
          <a:p>
            <a:pPr lvl="1"/>
            <a:r>
              <a:rPr lang="en-US" dirty="0"/>
              <a:t>But useless! Doesn't return the comments we are looking for!</a:t>
            </a:r>
          </a:p>
          <a:p>
            <a:pPr lvl="1"/>
            <a:r>
              <a:rPr lang="en-US" dirty="0"/>
              <a:t>That's why we use </a:t>
            </a:r>
            <a:r>
              <a:rPr lang="en-US" b="1" dirty="0"/>
              <a:t>precision</a:t>
            </a:r>
            <a:r>
              <a:rPr lang="en-US" dirty="0"/>
              <a:t> and </a:t>
            </a:r>
            <a:r>
              <a:rPr lang="en-US" b="1" dirty="0"/>
              <a:t>recall </a:t>
            </a:r>
            <a:r>
              <a:rPr lang="en-US" dirty="0"/>
              <a:t>instead</a:t>
            </a:r>
          </a:p>
        </p:txBody>
      </p:sp>
    </p:spTree>
    <p:extLst>
      <p:ext uri="{BB962C8B-B14F-4D97-AF65-F5344CB8AC3E}">
        <p14:creationId xmlns:p14="http://schemas.microsoft.com/office/powerpoint/2010/main" val="282465994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1A153-7376-494E-B1AE-CA0782AE3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Evaluation: </a:t>
            </a:r>
            <a:r>
              <a:rPr lang="en-US" b="1" dirty="0"/>
              <a:t>Precision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7491B-DC0F-5246-A2FE-87BF55781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% of items the system detected (i.e., items the system labeled as positive) that are in fact positive (according to the human gold labels)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A26582-00AB-1B4A-A0D7-672377A76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39902"/>
            <a:ext cx="7272564" cy="112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56078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1A153-7376-494E-B1AE-CA0782AE3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Evaluation: 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7491B-DC0F-5246-A2FE-87BF55781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% of items actually present in the input that were correctly identified by the system.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A26582-00AB-1B4A-A0D7-672377A76D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5800" y="2839902"/>
            <a:ext cx="7272564" cy="112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9773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B1A93-CDD5-DE4A-8E9F-653906B84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Precision and 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9863C-8271-914C-A6D4-CEC203B2E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200150"/>
            <a:ext cx="8321040" cy="382364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Our dumb pie-classifier</a:t>
            </a:r>
          </a:p>
          <a:p>
            <a:pPr lvl="1"/>
            <a:r>
              <a:rPr lang="en-US" dirty="0"/>
              <a:t>Just label nothing as "about pie"</a:t>
            </a:r>
          </a:p>
          <a:p>
            <a:pPr marL="0" indent="0">
              <a:buNone/>
            </a:pPr>
            <a:r>
              <a:rPr lang="en-US" dirty="0"/>
              <a:t>Accuracy=99.99%</a:t>
            </a:r>
          </a:p>
          <a:p>
            <a:pPr marL="150813" lvl="1" indent="0">
              <a:buNone/>
            </a:pPr>
            <a:r>
              <a:rPr lang="en-US" dirty="0"/>
              <a:t>	but</a:t>
            </a:r>
          </a:p>
          <a:p>
            <a:pPr marL="0" indent="0">
              <a:buNone/>
            </a:pPr>
            <a:r>
              <a:rPr lang="en-US" dirty="0"/>
              <a:t>Recall = 0</a:t>
            </a:r>
          </a:p>
          <a:p>
            <a:pPr lvl="1"/>
            <a:r>
              <a:rPr lang="en-US" dirty="0"/>
              <a:t>(it doesn't get any of the 100 Pie tweets)</a:t>
            </a:r>
          </a:p>
          <a:p>
            <a:pPr marL="0" indent="0">
              <a:buNone/>
            </a:pPr>
            <a:r>
              <a:rPr lang="en-US" dirty="0"/>
              <a:t>Precision and recall, unlike accuracy, emphasize true positives:</a:t>
            </a:r>
          </a:p>
          <a:p>
            <a:pPr lvl="1"/>
            <a:r>
              <a:rPr lang="en-US" dirty="0"/>
              <a:t> finding the things that we are supposed to be looking for.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1910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combined measure: F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 measure: a single number that combines P and 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almost always use balanced F</a:t>
            </a:r>
            <a:r>
              <a:rPr lang="en-US" baseline="-25000" dirty="0"/>
              <a:t>1</a:t>
            </a:r>
            <a:r>
              <a:rPr lang="en-US" dirty="0"/>
              <a:t> (i.e., </a:t>
            </a:r>
            <a:r>
              <a:rPr lang="en-US" dirty="0">
                <a:sym typeface="Symbol" charset="0"/>
              </a:rPr>
              <a:t></a:t>
            </a:r>
            <a:r>
              <a:rPr lang="en-US" dirty="0"/>
              <a:t> = 1)</a:t>
            </a:r>
            <a:r>
              <a:rPr lang="en-US" dirty="0">
                <a:sym typeface="Symbol" charset="0"/>
              </a:rPr>
              <a:t>		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64739E-E10E-A54C-A5BC-8C54F9339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1638300"/>
            <a:ext cx="3055505" cy="1276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2AFEC5-FF43-6247-9309-756330306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886200"/>
            <a:ext cx="16002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896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09550"/>
            <a:ext cx="8915400" cy="742950"/>
          </a:xfrm>
        </p:spPr>
        <p:txBody>
          <a:bodyPr>
            <a:noAutofit/>
          </a:bodyPr>
          <a:lstStyle/>
          <a:p>
            <a:r>
              <a:rPr lang="en-US" sz="3000" dirty="0"/>
              <a:t>Development Test Sets ("</a:t>
            </a:r>
            <a:r>
              <a:rPr lang="en-US" sz="3000" dirty="0" err="1"/>
              <a:t>Devsets</a:t>
            </a:r>
            <a:r>
              <a:rPr lang="en-US" sz="3000" dirty="0"/>
              <a:t>") and Cross-validation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352550"/>
            <a:ext cx="8686800" cy="37909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2400" i="1" dirty="0">
              <a:solidFill>
                <a:srgbClr val="FF0000"/>
              </a:solidFill>
              <a:latin typeface="Calibri" charset="0"/>
            </a:endParaRPr>
          </a:p>
          <a:p>
            <a:pPr>
              <a:lnSpc>
                <a:spcPct val="90000"/>
              </a:lnSpc>
            </a:pPr>
            <a:endParaRPr lang="en-US" i="1" dirty="0">
              <a:solidFill>
                <a:srgbClr val="FF0000"/>
              </a:solidFill>
              <a:latin typeface="Calibri" charset="0"/>
            </a:endParaRPr>
          </a:p>
          <a:p>
            <a:pPr>
              <a:lnSpc>
                <a:spcPct val="90000"/>
              </a:lnSpc>
            </a:pPr>
            <a:r>
              <a:rPr lang="en-US" b="1" dirty="0">
                <a:latin typeface="Calibri" charset="0"/>
              </a:rPr>
              <a:t>Train</a:t>
            </a:r>
            <a:r>
              <a:rPr lang="en-US" dirty="0">
                <a:latin typeface="Calibri" charset="0"/>
              </a:rPr>
              <a:t> on training set, </a:t>
            </a:r>
            <a:r>
              <a:rPr lang="en-US" b="1" dirty="0">
                <a:latin typeface="Calibri" charset="0"/>
              </a:rPr>
              <a:t>tune</a:t>
            </a:r>
            <a:r>
              <a:rPr lang="en-US" dirty="0">
                <a:latin typeface="Calibri" charset="0"/>
              </a:rPr>
              <a:t> on </a:t>
            </a:r>
            <a:r>
              <a:rPr lang="en-US" dirty="0" err="1">
                <a:latin typeface="Calibri" charset="0"/>
              </a:rPr>
              <a:t>devset</a:t>
            </a:r>
            <a:r>
              <a:rPr lang="en-US" dirty="0">
                <a:latin typeface="Calibri" charset="0"/>
              </a:rPr>
              <a:t>, </a:t>
            </a:r>
            <a:r>
              <a:rPr lang="en-US" b="1" dirty="0">
                <a:latin typeface="Calibri" charset="0"/>
              </a:rPr>
              <a:t>report</a:t>
            </a:r>
            <a:r>
              <a:rPr lang="en-US" dirty="0">
                <a:latin typeface="Calibri" charset="0"/>
              </a:rPr>
              <a:t> on </a:t>
            </a:r>
            <a:r>
              <a:rPr lang="en-US" dirty="0" err="1">
                <a:latin typeface="Calibri" charset="0"/>
              </a:rPr>
              <a:t>testset</a:t>
            </a:r>
            <a:endParaRPr lang="en-US" dirty="0">
              <a:latin typeface="Calibri" charset="0"/>
            </a:endParaRPr>
          </a:p>
          <a:p>
            <a:pPr lvl="1">
              <a:lnSpc>
                <a:spcPct val="90000"/>
              </a:lnSpc>
            </a:pPr>
            <a:r>
              <a:rPr lang="en-US" dirty="0">
                <a:latin typeface="Calibri" charset="0"/>
              </a:rPr>
              <a:t>This avoids overfitting (‘tuning to the test set’)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Calibri" charset="0"/>
              </a:rPr>
              <a:t>More conservative estimate of performance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Calibri" charset="0"/>
              </a:rPr>
              <a:t>But paradox: want as much data as possible for training, and ad much for dev; how to split?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457200" y="1428750"/>
            <a:ext cx="2057400" cy="609600"/>
          </a:xfrm>
          <a:prstGeom prst="rect">
            <a:avLst/>
          </a:prstGeom>
          <a:solidFill>
            <a:srgbClr val="FFCC66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cs typeface="Calibri"/>
              </a:rPr>
              <a:t>Training set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048000" y="1428750"/>
            <a:ext cx="28194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cs typeface="Calibri"/>
              </a:rPr>
              <a:t>Development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cs typeface="Calibri"/>
              </a:rPr>
              <a:t>Test</a:t>
            </a:r>
            <a:r>
              <a:rPr kumimoji="0" lang="en-US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cs typeface="Calibri"/>
              </a:rPr>
              <a:t> Set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6248400" y="1428750"/>
            <a:ext cx="1219200" cy="6096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cs typeface="Calibri"/>
              </a:rPr>
              <a:t>Test Set</a:t>
            </a:r>
          </a:p>
        </p:txBody>
      </p:sp>
    </p:spTree>
    <p:extLst>
      <p:ext uri="{BB962C8B-B14F-4D97-AF65-F5344CB8AC3E}">
        <p14:creationId xmlns:p14="http://schemas.microsoft.com/office/powerpoint/2010/main" val="34226828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09550"/>
            <a:ext cx="8915400" cy="742950"/>
          </a:xfrm>
        </p:spPr>
        <p:txBody>
          <a:bodyPr>
            <a:normAutofit/>
          </a:bodyPr>
          <a:lstStyle/>
          <a:p>
            <a:r>
              <a:rPr lang="en-US" b="1" dirty="0"/>
              <a:t>Cross-validation: </a:t>
            </a:r>
            <a:r>
              <a:rPr lang="en-US" dirty="0"/>
              <a:t>multiple splits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47750"/>
            <a:ext cx="8534400" cy="1809750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charset="0"/>
              </a:rPr>
              <a:t>Pool results over splits, Compute pooled dev performance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2F0341-B4B4-0E4E-8F0B-2BC8697CD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586230"/>
            <a:ext cx="7064581" cy="338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32114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>
                <a:latin typeface="Calibri (Headings)"/>
                <a:cs typeface="Calibri (Headings)"/>
              </a:rPr>
              <a:t>Text Classification and Na</a:t>
            </a:r>
            <a:r>
              <a:rPr lang="fr-FR" sz="3400" dirty="0">
                <a:latin typeface="Calibri (Headings)"/>
                <a:cs typeface="Calibri (Headings)"/>
              </a:rPr>
              <a:t>i</a:t>
            </a:r>
            <a:r>
              <a:rPr lang="en-US" sz="3400" dirty="0" err="1">
                <a:latin typeface="Calibri (Headings)"/>
                <a:cs typeface="Calibri (Headings)"/>
              </a:rPr>
              <a:t>ve</a:t>
            </a:r>
            <a:r>
              <a:rPr lang="en-US" sz="3400" dirty="0">
                <a:latin typeface="Calibri (Headings)"/>
                <a:cs typeface="Calibri (Headings)"/>
              </a:rPr>
              <a:t> Bayes</a:t>
            </a:r>
            <a:endParaRPr lang="en-US" sz="3400" dirty="0"/>
          </a:p>
        </p:txBody>
      </p:sp>
      <p:sp>
        <p:nvSpPr>
          <p:cNvPr id="6" name="Subtitle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A4001D"/>
                </a:solidFill>
                <a:ea typeface="ＭＳ Ｐゴシック" charset="0"/>
                <a:cs typeface="Calibri"/>
              </a:rPr>
              <a:t>Precision, Recall, and F measure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C10DCF-BAEE-9A46-8B08-99567CFFC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5421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>
                <a:latin typeface="Calibri (Headings)"/>
                <a:cs typeface="Calibri (Headings)"/>
              </a:rPr>
              <a:t>Text Classification and Na</a:t>
            </a:r>
            <a:r>
              <a:rPr lang="fr-FR" sz="3400" dirty="0">
                <a:latin typeface="Calibri (Headings)"/>
                <a:cs typeface="Calibri (Headings)"/>
              </a:rPr>
              <a:t>i</a:t>
            </a:r>
            <a:r>
              <a:rPr lang="en-US" sz="3400" dirty="0" err="1">
                <a:latin typeface="Calibri (Headings)"/>
                <a:cs typeface="Calibri (Headings)"/>
              </a:rPr>
              <a:t>ve</a:t>
            </a:r>
            <a:r>
              <a:rPr lang="en-US" sz="3400" dirty="0">
                <a:latin typeface="Calibri (Headings)"/>
                <a:cs typeface="Calibri (Headings)"/>
              </a:rPr>
              <a:t> Bayes</a:t>
            </a:r>
            <a:endParaRPr lang="en-US" sz="34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Evaluation with more than two classes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073BBB-E010-434D-AC55-D408AD4A7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153014"/>
      </p:ext>
    </p:extLst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F71A512-5CA2-1144-A7BA-A55C947FD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 for 3-class classification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7DC1DB5-C6B7-CD43-AB70-4D7D6D8749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5228" y="1123950"/>
            <a:ext cx="7933544" cy="3708400"/>
          </a:xfrm>
        </p:spPr>
      </p:pic>
    </p:spTree>
    <p:extLst>
      <p:ext uri="{BB962C8B-B14F-4D97-AF65-F5344CB8AC3E}">
        <p14:creationId xmlns:p14="http://schemas.microsoft.com/office/powerpoint/2010/main" val="6328679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5BF71-F8F6-7243-8DBA-B6DBCA1F3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19702"/>
            <a:ext cx="8991600" cy="680397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combine P/R from 3 classes to get one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3E76A-761F-DB43-8FEA-8C2985D47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Macroaveraging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compute the performance for each class, and then average over classes</a:t>
            </a:r>
          </a:p>
          <a:p>
            <a:r>
              <a:rPr lang="en-US" dirty="0" err="1"/>
              <a:t>Microaveraging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collect decisions for all classes into one confusion matrix</a:t>
            </a:r>
          </a:p>
          <a:p>
            <a:pPr lvl="1"/>
            <a:r>
              <a:rPr lang="en-US" dirty="0"/>
              <a:t>compute precision and recall from that table.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7762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45FAC-9E23-3F4A-8661-8C8B4E553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Macroaveraging</a:t>
            </a:r>
            <a:r>
              <a:rPr lang="en-US" dirty="0"/>
              <a:t> and </a:t>
            </a:r>
            <a:r>
              <a:rPr lang="en-US" dirty="0" err="1"/>
              <a:t>Microaveraging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92F70E-FA48-C143-9148-CD1907FFBE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352550"/>
            <a:ext cx="8847281" cy="3009900"/>
          </a:xfrm>
        </p:spPr>
      </p:pic>
    </p:spTree>
    <p:extLst>
      <p:ext uri="{BB962C8B-B14F-4D97-AF65-F5344CB8AC3E}">
        <p14:creationId xmlns:p14="http://schemas.microsoft.com/office/powerpoint/2010/main" val="322570310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16435</TotalTime>
  <Words>3868</Words>
  <Application>Microsoft Office PowerPoint</Application>
  <PresentationFormat>On-screen Show (16:9)</PresentationFormat>
  <Paragraphs>621</Paragraphs>
  <Slides>85</Slides>
  <Notes>23</Notes>
  <HiddenSlides>1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100" baseType="lpstr">
      <vt:lpstr>Arial</vt:lpstr>
      <vt:lpstr>Calibri</vt:lpstr>
      <vt:lpstr>Calibri (Headings)</vt:lpstr>
      <vt:lpstr>Calibri Light</vt:lpstr>
      <vt:lpstr>Courier</vt:lpstr>
      <vt:lpstr>Lucida Grande</vt:lpstr>
      <vt:lpstr>Lucida Sans</vt:lpstr>
      <vt:lpstr>Symbol</vt:lpstr>
      <vt:lpstr>Tahoma</vt:lpstr>
      <vt:lpstr>Times</vt:lpstr>
      <vt:lpstr>Times New Roman</vt:lpstr>
      <vt:lpstr>Verdana</vt:lpstr>
      <vt:lpstr>Wingdings</vt:lpstr>
      <vt:lpstr>Retrospect</vt:lpstr>
      <vt:lpstr>Equation</vt:lpstr>
      <vt:lpstr>Naive Bayes and Phân loại cảm xúc</vt:lpstr>
      <vt:lpstr>Email có là spam không?</vt:lpstr>
      <vt:lpstr>Ai đã viết những bài báo Federalist?</vt:lpstr>
      <vt:lpstr>Chủ đề của bài báo y học này là gì?</vt:lpstr>
      <vt:lpstr>Bình luận về phim là tích cực (pos) hay tiêu cực (neg)?</vt:lpstr>
      <vt:lpstr>Bình luận về phim là tích cực (pos) hay tiêu cực (neg)?</vt:lpstr>
      <vt:lpstr>Tại sao nghiên cứu và phát triển sentiment analysis?</vt:lpstr>
      <vt:lpstr>Bài toán phân loại liên quan đến trạng thái tình cảm (affective states)</vt:lpstr>
      <vt:lpstr>Bài toán phân loại liên quan đến trạng thái tình cảm (affective states)</vt:lpstr>
      <vt:lpstr>Phân loại cảm xúc cơ bản</vt:lpstr>
      <vt:lpstr>Tóm lại: Phân loại văn bản</vt:lpstr>
      <vt:lpstr>Phân loại văn bản: Định nghĩa</vt:lpstr>
      <vt:lpstr>Các phương pháp phân loại:  Dựa trên luật (Hand-coded rules)</vt:lpstr>
      <vt:lpstr>Các phương pháp phân loại: Máy học giám sát</vt:lpstr>
      <vt:lpstr>Các phương pháp phân loại: Máy học giám sát</vt:lpstr>
      <vt:lpstr>Phân loại văn bản và Naive Bayes</vt:lpstr>
      <vt:lpstr>Phân loại văn bản và Naive Bayes</vt:lpstr>
      <vt:lpstr>Trực quan về Naive Bayes</vt:lpstr>
      <vt:lpstr>Biểu diễn Bag of Words</vt:lpstr>
      <vt:lpstr>Biểu diễn bag of words</vt:lpstr>
      <vt:lpstr>Phân loại văn bản and Naïve Bayes</vt:lpstr>
      <vt:lpstr>Phân loại văn bản and Naïve Bayes</vt:lpstr>
      <vt:lpstr>Qui tắc Bayes được áp dụng vào các văn bản và các lớp</vt:lpstr>
      <vt:lpstr>Bộ phân lớp Naive Bayes (I)</vt:lpstr>
      <vt:lpstr>Bộ phân lớp Naive Bayes (II)</vt:lpstr>
      <vt:lpstr>Bộ phân lớp Naïve Bayes (IV)</vt:lpstr>
      <vt:lpstr>Multinomial Naive Bayes Independence Assumptions</vt:lpstr>
      <vt:lpstr>Multinomial Naive Bayes Classifier</vt:lpstr>
      <vt:lpstr>Áp dụng Multinomial Naive Bayes Classifiers vào phân loại văn bản</vt:lpstr>
      <vt:lpstr>Problems with multiplying lots of probs</vt:lpstr>
      <vt:lpstr>We actually do everything in log space</vt:lpstr>
      <vt:lpstr>Text Classification and Naïve Bayes</vt:lpstr>
      <vt:lpstr>Text Classification and Naïve Bayes</vt:lpstr>
      <vt:lpstr>Learning the Multinomial Naive Bayes Model</vt:lpstr>
      <vt:lpstr>Parameter estimation</vt:lpstr>
      <vt:lpstr>Problem with Maximum Likelihood</vt:lpstr>
      <vt:lpstr>Laplace (add-1) smoothing for Naïve Bayes</vt:lpstr>
      <vt:lpstr>Những từ unknown</vt:lpstr>
      <vt:lpstr>Stop words</vt:lpstr>
      <vt:lpstr>Multinomial Naïve Bayes: Learning</vt:lpstr>
      <vt:lpstr>Text Classification and Naive Bayes</vt:lpstr>
      <vt:lpstr>Text Classification and Naive Bayes</vt:lpstr>
      <vt:lpstr>Let's do a worked sentiment example!</vt:lpstr>
      <vt:lpstr>A worked sentiment example</vt:lpstr>
      <vt:lpstr>PowerPoint Presentation</vt:lpstr>
      <vt:lpstr>PowerPoint Presentation</vt:lpstr>
      <vt:lpstr>PowerPoint Presentation</vt:lpstr>
      <vt:lpstr>Optimizing for sentiment analysis</vt:lpstr>
      <vt:lpstr>Binary Multinomial Naïve Bayes: Learning</vt:lpstr>
      <vt:lpstr>Binary Multinomial Naive Bayes  on a test document d</vt:lpstr>
      <vt:lpstr>Binary multinominal naive Bayes</vt:lpstr>
      <vt:lpstr>Text Classification and Naive Bayes</vt:lpstr>
      <vt:lpstr>Text Classification and Naive Bayes</vt:lpstr>
      <vt:lpstr>Sentiment Classification: Dealing with Negation</vt:lpstr>
      <vt:lpstr>Sentiment Classification: Dealing with Negation</vt:lpstr>
      <vt:lpstr>Sentiment Classification: Lexicons</vt:lpstr>
      <vt:lpstr>MPQA Subjectivity Cues Lexicon</vt:lpstr>
      <vt:lpstr>The General Inquirer</vt:lpstr>
      <vt:lpstr>Bing Liu Opinion Lexicon</vt:lpstr>
      <vt:lpstr>Using Lexicons in Sentiment Classification</vt:lpstr>
      <vt:lpstr>Naive Bayes in Other tasks: Spam Filtering</vt:lpstr>
      <vt:lpstr>Naïve Bayes in Language ID</vt:lpstr>
      <vt:lpstr>Summary: Naive Bayes is Not So Naive</vt:lpstr>
      <vt:lpstr>Text Classification and Naive Bayes</vt:lpstr>
      <vt:lpstr>Text Classification and Naïve Bayes</vt:lpstr>
      <vt:lpstr>Generative Model for Multinomial Naïve Bayes</vt:lpstr>
      <vt:lpstr>Naïve Bayes and Language Modeling</vt:lpstr>
      <vt:lpstr>Each class = a unigram language model</vt:lpstr>
      <vt:lpstr>Naïve Bayes as a Language Model</vt:lpstr>
      <vt:lpstr>Text Classification and Naïve Bayes</vt:lpstr>
      <vt:lpstr>Phân loại văn bản và Naïve Bayes</vt:lpstr>
      <vt:lpstr>Đánh giá (Evaluation)</vt:lpstr>
      <vt:lpstr>Ma trận nhầm lẫn 2x2</vt:lpstr>
      <vt:lpstr>Evaluation: Accuracy</vt:lpstr>
      <vt:lpstr>Evaluation: Precision</vt:lpstr>
      <vt:lpstr>Evaluation: Recall</vt:lpstr>
      <vt:lpstr>Why Precision and recall</vt:lpstr>
      <vt:lpstr>A combined measure: F</vt:lpstr>
      <vt:lpstr>Development Test Sets ("Devsets") and Cross-validation</vt:lpstr>
      <vt:lpstr>Cross-validation: multiple splits</vt:lpstr>
      <vt:lpstr>Text Classification and Naive Bayes</vt:lpstr>
      <vt:lpstr>Text Classification and Naive Bayes</vt:lpstr>
      <vt:lpstr>Confusion Matrix for 3-class classification</vt:lpstr>
      <vt:lpstr>How to combine P/R from 3 classes to get one metric</vt:lpstr>
      <vt:lpstr>Macroaveraging and Microaveraging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Extraction</dc:title>
  <dc:creator>Christopher Manning</dc:creator>
  <cp:lastModifiedBy>Hoàng Quý</cp:lastModifiedBy>
  <cp:revision>286</cp:revision>
  <cp:lastPrinted>2012-03-27T19:39:52Z</cp:lastPrinted>
  <dcterms:created xsi:type="dcterms:W3CDTF">2010-04-19T15:31:24Z</dcterms:created>
  <dcterms:modified xsi:type="dcterms:W3CDTF">2026-05-20T02:47:33Z</dcterms:modified>
</cp:coreProperties>
</file>