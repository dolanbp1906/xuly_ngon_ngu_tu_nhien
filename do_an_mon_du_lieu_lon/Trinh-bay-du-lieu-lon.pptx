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và nêu tên đề tài. Nhấn mạnh bài làm một pipeline trên một triệu hồ sơ, kèm năm câu hỏi mô tả và một phép so sánh hiệu năng.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mục tiêu tương ứng bốn phần chấm: dữ liệu, phân tích, hiệu năng, và khả năng chạy lại.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rõ giấy phép và tính chất dữ liệu tổng hợp ngay từ đầu, để người nghe không hiểu nhầm là số liệu Tổng cục Thống kê công bố.</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ý chính về dữ liệu lớn của bài: chiếu cột trên Parquet, giảm khối lượng phải mang vào bước phân tích.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 từ trái sang phải. Nhấn mạnh bước 2 là chỗ tiết kiệm bộ nhớ. Pandas chỉ xuất hiện ở slide hiệu năng, như mốc so sánh.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năm câu hỏi. Các slide sau trả lời lần lượt, mỗi slide một ý và một hình.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Nữ nhỉnh hơn nam khoảng ba điểm phần trăm. Nông thôn gần gấp rưỡi đô thị. Tuổi tập trung ở 25 đến 54, nhóm 18–24 là nhóm nhỏ nhất.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Thứ tự vùng gần với quy mô dân số tương đối: hai đồng bằng và Đông Nam Bộ ở trên, Tây Nguyên ở dưới. Nhắc lại đây vẫn là phân bố của tập personas.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Đừng đọc hết tám nghề. Chỉ nói nghỉ hưu và tiểu thương là mẫu chung, rồi chuyển sang slide nghề đặc trưng.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Chè, cà phê, lúa, ngư dân là dấu hiệu vùng. Lập trình viên chỉ lọt top 15 ở Đông Nam Bộ và Đồng bằng sông Hồng. 14,2% là 116.451 nghỉ hưu cộng 25.666 nghỉ hưu làm thêm.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Ô đậm ở góc trái là trung học phổ thông của nhóm trẻ. Sang các nhóm già, tiểu học và không có học vấn đậm dần. Sau đại học luôn là hàng mỏng, cao nhất ở 25–34 với 3,3%.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biểu đồ cột chồng. Phần lớn tuổi trung niên đã kết hôn, trên 85%. Điểm cần nói là khoảng cách góa giữa nam và nữ ở nhóm 65 trở lên.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kỹ năng đầu áp đảo. Nhắc hạn chế đếm chuỗi: nếu gộp biến thể, nhóm giao tiếp còn lớn hơn. Đừng đọc hết mười lăm dòng trên hình.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số 0,043 và 0,249, và việc cả hai ra 860 nhóm. Giải thích ngắn vì sao là DuckDB: máy không có Java, file đã nhỏ sau bước rút cột, DuckDB đọc Parquet trực tiếp.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chặn các câu hỏi kiểu “số này có phải dân số thật không”. Trả lời: không. Nó mô tả bộ personas và cách pipeline xử lý bộ đó.</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Khép bằng bốn ý. Nếu còn giờ, mời câu hỏi về dữ liệu tổng hợp hoặc về cách rút cột.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058400" cy="365760"/>
          </a:xfrm>
          <a:prstGeom prst="rect">
            <a:avLst/>
          </a:prstGeom>
          <a:noFill/>
        </p:spPr>
        <p:txBody>
          <a:bodyPr wrap="square" lIns="0" rIns="0" tIns="0" bIns="0" anchor="t"/>
          <a:lstStyle/>
          <a:p>
            <a:pPr algn="l"/>
            <a:r>
              <a:rPr sz="1600" b="1" i="0">
                <a:solidFill>
                  <a:srgbClr val="C44900"/>
                </a:solidFill>
                <a:latin typeface="Calibri"/>
                <a:ea typeface="Calibri"/>
                <a:cs typeface="Calibri"/>
              </a:rPr>
              <a:t>MÔN DỮ LIỆU LỚN</a:t>
            </a:r>
          </a:p>
        </p:txBody>
      </p:sp>
      <p:sp>
        <p:nvSpPr>
          <p:cNvPr id="5" name="TextBox 4"/>
          <p:cNvSpPr txBox="1"/>
          <p:nvPr/>
        </p:nvSpPr>
        <p:spPr>
          <a:xfrm>
            <a:off x="640080" y="1737360"/>
            <a:ext cx="10515600" cy="1645920"/>
          </a:xfrm>
          <a:prstGeom prst="rect">
            <a:avLst/>
          </a:prstGeom>
          <a:noFill/>
        </p:spPr>
        <p:txBody>
          <a:bodyPr wrap="square" lIns="0" rIns="0" tIns="0" bIns="0" anchor="t"/>
          <a:lstStyle/>
          <a:p>
            <a:pPr algn="l"/>
            <a:r>
              <a:rPr sz="3600" b="1" i="0">
                <a:solidFill>
                  <a:srgbClr val="1F6F8B"/>
                </a:solidFill>
                <a:latin typeface="Calibri"/>
                <a:ea typeface="Calibri"/>
                <a:cs typeface="Calibri"/>
              </a:rPr>
              <a:t>Pipeline phân tích một triệu
hồ sơ nhân khẩu Việt Nam</a:t>
            </a:r>
          </a:p>
        </p:txBody>
      </p:sp>
      <p:sp>
        <p:nvSpPr>
          <p:cNvPr id="6" name="TextBox 5"/>
          <p:cNvSpPr txBox="1"/>
          <p:nvPr/>
        </p:nvSpPr>
        <p:spPr>
          <a:xfrm>
            <a:off x="640080" y="3703320"/>
            <a:ext cx="10058400" cy="365760"/>
          </a:xfrm>
          <a:prstGeom prst="rect">
            <a:avLst/>
          </a:prstGeom>
          <a:noFill/>
        </p:spPr>
        <p:txBody>
          <a:bodyPr wrap="square" lIns="0" rIns="0" tIns="0" bIns="0" anchor="t"/>
          <a:lstStyle/>
          <a:p>
            <a:pPr algn="l"/>
            <a:r>
              <a:rPr sz="1600" b="0" i="0">
                <a:solidFill>
                  <a:srgbClr val="5C6B73"/>
                </a:solidFill>
                <a:latin typeface="Calibri"/>
                <a:ea typeface="Calibri"/>
                <a:cs typeface="Calibri"/>
              </a:rPr>
              <a:t>NVIDIA Nemotron-Personas-Vietnam   ·   CC BY 4.0   ·   1.000.000 hồ sơ</a:t>
            </a:r>
          </a:p>
        </p:txBody>
      </p:sp>
      <p:sp>
        <p:nvSpPr>
          <p:cNvPr id="7" name="TextBox 6"/>
          <p:cNvSpPr txBox="1"/>
          <p:nvPr/>
        </p:nvSpPr>
        <p:spPr>
          <a:xfrm>
            <a:off x="640080" y="4846320"/>
            <a:ext cx="7315200" cy="822960"/>
          </a:xfrm>
          <a:prstGeom prst="rect">
            <a:avLst/>
          </a:prstGeom>
          <a:noFill/>
        </p:spPr>
        <p:txBody>
          <a:bodyPr wrap="square" lIns="0" rIns="0" tIns="0" bIns="0" anchor="t"/>
          <a:lstStyle/>
          <a:p>
            <a:pPr algn="l"/>
            <a:r>
              <a:rPr sz="1600" b="0" i="0">
                <a:solidFill>
                  <a:srgbClr val="1C1C1C"/>
                </a:solidFill>
                <a:latin typeface="Calibri"/>
                <a:ea typeface="Calibri"/>
                <a:cs typeface="Calibri"/>
              </a:rPr>
              <a:t>Học viên: ____________________
Ngày trình bày: 21/10/2026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Mục tiêu</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2  /  16</a:t>
            </a:r>
          </a:p>
        </p:txBody>
      </p:sp>
      <p:sp>
        <p:nvSpPr>
          <p:cNvPr id="7" name="TextBox 6"/>
          <p:cNvSpPr txBox="1"/>
          <p:nvPr/>
        </p:nvSpPr>
        <p:spPr>
          <a:xfrm>
            <a:off x="502920" y="1280160"/>
            <a:ext cx="10972800" cy="4114800"/>
          </a:xfrm>
          <a:prstGeom prst="rect">
            <a:avLst/>
          </a:prstGeom>
          <a:noFill/>
        </p:spPr>
        <p:txBody>
          <a:bodyPr wrap="square">
            <a:spAutoFit/>
          </a:bodyPr>
          <a:lstStyle/>
          <a:p>
            <a:pPr algn="l">
              <a:spcAft>
                <a:spcPts val="1000"/>
              </a:spcAft>
            </a:pPr>
            <a:r>
              <a:rPr sz="2200" b="0" i="0">
                <a:solidFill>
                  <a:srgbClr val="1C1C1C"/>
                </a:solidFill>
                <a:latin typeface="Calibri"/>
                <a:ea typeface="Calibri"/>
                <a:cs typeface="Calibri"/>
              </a:rPr>
              <a:t>Rút 1.000.000 hồ sơ thô, khoảng 2,1 GB, thành một bảng phân tích 39 MB.</a:t>
            </a:r>
          </a:p>
          <a:p>
            <a:pPr algn="l">
              <a:spcAft>
                <a:spcPts val="1000"/>
              </a:spcAft>
            </a:pPr>
            <a:r>
              <a:rPr sz="2200" b="0" i="0">
                <a:solidFill>
                  <a:srgbClr val="1C1C1C"/>
                </a:solidFill>
                <a:latin typeface="Calibri"/>
                <a:ea typeface="Calibri"/>
                <a:cs typeface="Calibri"/>
              </a:rPr>
              <a:t>Mô tả giới tính, tuổi, vùng, nghề, học vấn, hôn nhân và kỹ năng.</a:t>
            </a:r>
          </a:p>
          <a:p>
            <a:pPr algn="l">
              <a:spcAft>
                <a:spcPts val="1000"/>
              </a:spcAft>
            </a:pPr>
            <a:r>
              <a:rPr sz="2200" b="0" i="0">
                <a:solidFill>
                  <a:srgbClr val="1C1C1C"/>
                </a:solidFill>
                <a:latin typeface="Calibri"/>
                <a:ea typeface="Calibri"/>
                <a:cs typeface="Calibri"/>
              </a:rPr>
              <a:t>So sánh thời gian của cùng một phép nhóm trên DuckDB và Pandas.</a:t>
            </a:r>
          </a:p>
          <a:p>
            <a:pPr algn="l">
              <a:spcAft>
                <a:spcPts val="1000"/>
              </a:spcAft>
            </a:pPr>
            <a:r>
              <a:rPr sz="2200" b="0" i="0">
                <a:solidFill>
                  <a:srgbClr val="1C1C1C"/>
                </a:solidFill>
                <a:latin typeface="Calibri"/>
                <a:ea typeface="Calibri"/>
                <a:cs typeface="Calibri"/>
              </a:rPr>
              <a:t>Để lại mã, bảng và biểu đồ chạy lại được trên một laptop.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Nguồn dữ liệu</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3  /  16</a:t>
            </a:r>
          </a:p>
        </p:txBody>
      </p:sp>
      <p:sp>
        <p:nvSpPr>
          <p:cNvPr id="7" name="Rectangle 6"/>
          <p:cNvSpPr/>
          <p:nvPr/>
        </p:nvSpPr>
        <p:spPr>
          <a:xfrm>
            <a:off x="411480" y="1463040"/>
            <a:ext cx="2743200" cy="2286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45920"/>
            <a:ext cx="2468880" cy="822960"/>
          </a:xfrm>
          <a:prstGeom prst="rect">
            <a:avLst/>
          </a:prstGeom>
          <a:noFill/>
        </p:spPr>
        <p:txBody>
          <a:bodyPr wrap="square" lIns="0" rIns="0" tIns="0" bIns="0" anchor="t"/>
          <a:lstStyle/>
          <a:p>
            <a:pPr algn="l"/>
            <a:r>
              <a:rPr sz="2200" b="1" i="0">
                <a:solidFill>
                  <a:srgbClr val="1F6F8B"/>
                </a:solidFill>
                <a:latin typeface="Calibri"/>
                <a:ea typeface="Calibri"/>
                <a:cs typeface="Calibri"/>
              </a:rPr>
              <a:t>1.000.000</a:t>
            </a:r>
          </a:p>
        </p:txBody>
      </p:sp>
      <p:sp>
        <p:nvSpPr>
          <p:cNvPr id="9" name="TextBox 8"/>
          <p:cNvSpPr txBox="1"/>
          <p:nvPr/>
        </p:nvSpPr>
        <p:spPr>
          <a:xfrm>
            <a:off x="548640" y="2560320"/>
            <a:ext cx="2468880" cy="914400"/>
          </a:xfrm>
          <a:prstGeom prst="rect">
            <a:avLst/>
          </a:prstGeom>
          <a:noFill/>
        </p:spPr>
        <p:txBody>
          <a:bodyPr wrap="square" lIns="0" rIns="0" tIns="0" bIns="0" anchor="t"/>
          <a:lstStyle/>
          <a:p>
            <a:pPr algn="l"/>
            <a:r>
              <a:rPr sz="1600" b="0" i="0">
                <a:solidFill>
                  <a:srgbClr val="1C1C1C"/>
                </a:solidFill>
                <a:latin typeface="Calibri"/>
                <a:ea typeface="Calibri"/>
                <a:cs typeface="Calibri"/>
              </a:rPr>
              <a:t>hồ sơ personas
tiếng Việt</a:t>
            </a:r>
          </a:p>
        </p:txBody>
      </p:sp>
      <p:sp>
        <p:nvSpPr>
          <p:cNvPr id="10" name="Rectangle 9"/>
          <p:cNvSpPr/>
          <p:nvPr/>
        </p:nvSpPr>
        <p:spPr>
          <a:xfrm>
            <a:off x="3337560" y="1463040"/>
            <a:ext cx="2743200" cy="2286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1645920"/>
            <a:ext cx="2468880" cy="822960"/>
          </a:xfrm>
          <a:prstGeom prst="rect">
            <a:avLst/>
          </a:prstGeom>
          <a:noFill/>
        </p:spPr>
        <p:txBody>
          <a:bodyPr wrap="square" lIns="0" rIns="0" tIns="0" bIns="0" anchor="t"/>
          <a:lstStyle/>
          <a:p>
            <a:pPr algn="l"/>
            <a:r>
              <a:rPr sz="2200" b="1" i="0">
                <a:solidFill>
                  <a:srgbClr val="1F6F8B"/>
                </a:solidFill>
                <a:latin typeface="Calibri"/>
                <a:ea typeface="Calibri"/>
                <a:cs typeface="Calibri"/>
              </a:rPr>
              <a:t>CC BY 4.0</a:t>
            </a:r>
          </a:p>
        </p:txBody>
      </p:sp>
      <p:sp>
        <p:nvSpPr>
          <p:cNvPr id="12" name="TextBox 11"/>
          <p:cNvSpPr txBox="1"/>
          <p:nvPr/>
        </p:nvSpPr>
        <p:spPr>
          <a:xfrm>
            <a:off x="3474720" y="2560320"/>
            <a:ext cx="2468880" cy="914400"/>
          </a:xfrm>
          <a:prstGeom prst="rect">
            <a:avLst/>
          </a:prstGeom>
          <a:noFill/>
        </p:spPr>
        <p:txBody>
          <a:bodyPr wrap="square" lIns="0" rIns="0" tIns="0" bIns="0" anchor="t"/>
          <a:lstStyle/>
          <a:p>
            <a:pPr algn="l"/>
            <a:r>
              <a:rPr sz="1600" b="0" i="0">
                <a:solidFill>
                  <a:srgbClr val="1C1C1C"/>
                </a:solidFill>
                <a:latin typeface="Calibri"/>
                <a:ea typeface="Calibri"/>
                <a:cs typeface="Calibri"/>
              </a:rPr>
              <a:t>dùng cho bài học,
ghi rõ nguồn</a:t>
            </a:r>
          </a:p>
        </p:txBody>
      </p:sp>
      <p:sp>
        <p:nvSpPr>
          <p:cNvPr id="13" name="Rectangle 12"/>
          <p:cNvSpPr/>
          <p:nvPr/>
        </p:nvSpPr>
        <p:spPr>
          <a:xfrm>
            <a:off x="6263640" y="1463040"/>
            <a:ext cx="2743200" cy="2286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645920"/>
            <a:ext cx="2468880" cy="822960"/>
          </a:xfrm>
          <a:prstGeom prst="rect">
            <a:avLst/>
          </a:prstGeom>
          <a:noFill/>
        </p:spPr>
        <p:txBody>
          <a:bodyPr wrap="square" lIns="0" rIns="0" tIns="0" bIns="0" anchor="t"/>
          <a:lstStyle/>
          <a:p>
            <a:pPr algn="l"/>
            <a:r>
              <a:rPr sz="2200" b="1" i="0">
                <a:solidFill>
                  <a:srgbClr val="1F6F8B"/>
                </a:solidFill>
                <a:latin typeface="Calibri"/>
                <a:ea typeface="Calibri"/>
                <a:cs typeface="Calibri"/>
              </a:rPr>
              <a:t>Tuổi 18–90</a:t>
            </a:r>
          </a:p>
        </p:txBody>
      </p:sp>
      <p:sp>
        <p:nvSpPr>
          <p:cNvPr id="15" name="TextBox 14"/>
          <p:cNvSpPr txBox="1"/>
          <p:nvPr/>
        </p:nvSpPr>
        <p:spPr>
          <a:xfrm>
            <a:off x="6400800" y="2560320"/>
            <a:ext cx="2468880" cy="914400"/>
          </a:xfrm>
          <a:prstGeom prst="rect">
            <a:avLst/>
          </a:prstGeom>
          <a:noFill/>
        </p:spPr>
        <p:txBody>
          <a:bodyPr wrap="square" lIns="0" rIns="0" tIns="0" bIns="0" anchor="t"/>
          <a:lstStyle/>
          <a:p>
            <a:pPr algn="l"/>
            <a:r>
              <a:rPr sz="1600" b="0" i="0">
                <a:solidFill>
                  <a:srgbClr val="1C1C1C"/>
                </a:solidFill>
                <a:latin typeface="Calibri"/>
                <a:ea typeface="Calibri"/>
                <a:cs typeface="Calibri"/>
              </a:rPr>
              <a:t>sáu vùng,
đô thị và nông thôn</a:t>
            </a:r>
          </a:p>
        </p:txBody>
      </p:sp>
      <p:sp>
        <p:nvSpPr>
          <p:cNvPr id="16" name="Rectangle 15"/>
          <p:cNvSpPr/>
          <p:nvPr/>
        </p:nvSpPr>
        <p:spPr>
          <a:xfrm>
            <a:off x="9189720" y="1463040"/>
            <a:ext cx="2743200" cy="2286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0" y="1645920"/>
            <a:ext cx="2468880" cy="822960"/>
          </a:xfrm>
          <a:prstGeom prst="rect">
            <a:avLst/>
          </a:prstGeom>
          <a:noFill/>
        </p:spPr>
        <p:txBody>
          <a:bodyPr wrap="square" lIns="0" rIns="0" tIns="0" bIns="0" anchor="t"/>
          <a:lstStyle/>
          <a:p>
            <a:pPr algn="l"/>
            <a:r>
              <a:rPr sz="2200" b="1" i="0">
                <a:solidFill>
                  <a:srgbClr val="1F6F8B"/>
                </a:solidFill>
                <a:latin typeface="Calibri"/>
                <a:ea typeface="Calibri"/>
                <a:cs typeface="Calibri"/>
              </a:rPr>
              <a:t>Sinh tổng hợp</a:t>
            </a:r>
          </a:p>
        </p:txBody>
      </p:sp>
      <p:sp>
        <p:nvSpPr>
          <p:cNvPr id="18" name="TextBox 17"/>
          <p:cNvSpPr txBox="1"/>
          <p:nvPr/>
        </p:nvSpPr>
        <p:spPr>
          <a:xfrm>
            <a:off x="9326880" y="2560320"/>
            <a:ext cx="2468880" cy="914400"/>
          </a:xfrm>
          <a:prstGeom prst="rect">
            <a:avLst/>
          </a:prstGeom>
          <a:noFill/>
        </p:spPr>
        <p:txBody>
          <a:bodyPr wrap="square" lIns="0" rIns="0" tIns="0" bIns="0" anchor="t"/>
          <a:lstStyle/>
          <a:p>
            <a:pPr algn="l"/>
            <a:r>
              <a:rPr sz="1600" b="0" i="0">
                <a:solidFill>
                  <a:srgbClr val="1C1C1C"/>
                </a:solidFill>
                <a:latin typeface="Calibri"/>
                <a:ea typeface="Calibri"/>
                <a:cs typeface="Calibri"/>
              </a:rPr>
              <a:t>neo theo Niên giám
thống kê 2024</a:t>
            </a:r>
          </a:p>
        </p:txBody>
      </p:sp>
      <p:sp>
        <p:nvSpPr>
          <p:cNvPr id="19" name="TextBox 18"/>
          <p:cNvSpPr txBox="1"/>
          <p:nvPr/>
        </p:nvSpPr>
        <p:spPr>
          <a:xfrm>
            <a:off x="457200" y="4114800"/>
            <a:ext cx="11155680" cy="1097280"/>
          </a:xfrm>
          <a:prstGeom prst="rect">
            <a:avLst/>
          </a:prstGeom>
          <a:noFill/>
        </p:spPr>
        <p:txBody>
          <a:bodyPr wrap="square" lIns="0" rIns="0" tIns="0" bIns="0" anchor="t"/>
          <a:lstStyle/>
          <a:p>
            <a:pPr algn="l"/>
            <a:r>
              <a:rPr sz="1800" b="0" i="0">
                <a:solidFill>
                  <a:srgbClr val="1C1C1C"/>
                </a:solidFill>
                <a:latin typeface="Calibri"/>
                <a:ea typeface="Calibri"/>
                <a:cs typeface="Calibri"/>
              </a:rPr>
              <a:t>Hồ sơ do NeMo Data Designer sinh ra. Các tỷ lệ trong bài mô tả tập này, chưa phải kết quả điều tra dân số.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Vì sao chỉ giữ tám cột</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4  /  16</a:t>
            </a:r>
          </a:p>
        </p:txBody>
      </p:sp>
      <p:sp>
        <p:nvSpPr>
          <p:cNvPr id="7" name="TextBox 6"/>
          <p:cNvSpPr txBox="1"/>
          <p:nvPr/>
        </p:nvSpPr>
        <p:spPr>
          <a:xfrm>
            <a:off x="502920" y="1234440"/>
            <a:ext cx="11155680" cy="4754880"/>
          </a:xfrm>
          <a:prstGeom prst="rect">
            <a:avLst/>
          </a:prstGeom>
          <a:noFill/>
        </p:spPr>
        <p:txBody>
          <a:bodyPr wrap="square">
            <a:spAutoFit/>
          </a:bodyPr>
          <a:lstStyle/>
          <a:p>
            <a:pPr algn="l">
              <a:spcAft>
                <a:spcPts val="1000"/>
              </a:spcAft>
            </a:pPr>
            <a:r>
              <a:rPr sz="2200" b="0" i="0">
                <a:solidFill>
                  <a:srgbClr val="1C1C1C"/>
                </a:solidFill>
                <a:latin typeface="Calibri"/>
                <a:ea typeface="Calibri"/>
                <a:cs typeface="Calibri"/>
              </a:rPr>
              <a:t>Bản gốc có nhiều đoạn văn persona. Các câu hỏi của bài không cần những đoạn đó.</a:t>
            </a:r>
          </a:p>
          <a:p>
            <a:pPr algn="l">
              <a:spcAft>
                <a:spcPts val="1000"/>
              </a:spcAft>
            </a:pPr>
            <a:r>
              <a:rPr sz="2200" b="0" i="0">
                <a:solidFill>
                  <a:srgbClr val="1C1C1C"/>
                </a:solidFill>
                <a:latin typeface="Calibri"/>
                <a:ea typeface="Calibri"/>
                <a:cs typeface="Calibri"/>
              </a:rPr>
              <a:t>Tám cột giữ lại: giới, tuổi, hôn nhân, học vấn, nghề, khu vực, vùng và danh sách kỹ năng.</a:t>
            </a:r>
          </a:p>
          <a:p>
            <a:pPr algn="l">
              <a:spcAft>
                <a:spcPts val="1000"/>
              </a:spcAft>
            </a:pPr>
            <a:r>
              <a:rPr sz="2200" b="0" i="0">
                <a:solidFill>
                  <a:srgbClr val="1C1C1C"/>
                </a:solidFill>
                <a:latin typeface="Calibri"/>
                <a:ea typeface="Calibri"/>
                <a:cs typeface="Calibri"/>
              </a:rPr>
              <a:t>Mười một file nguồn khoảng 2,1 GB. File sau khi rút cột còn 39 MB.</a:t>
            </a:r>
          </a:p>
          <a:p>
            <a:pPr algn="l">
              <a:spcAft>
                <a:spcPts val="1000"/>
              </a:spcAft>
            </a:pPr>
            <a:r>
              <a:rPr sz="2200" b="0" i="0">
                <a:solidFill>
                  <a:srgbClr val="1C1C1C"/>
                </a:solidFill>
                <a:latin typeface="Calibri"/>
                <a:ea typeface="Calibri"/>
                <a:cs typeface="Calibri"/>
              </a:rPr>
              <a:t>PyArrow chỉ đọc đúng các cột này, nên không dựng toàn bộ văn bản trong bộ nhớ.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Luồng xử lý</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5  /  16</a:t>
            </a:r>
          </a:p>
        </p:txBody>
      </p:sp>
      <p:sp>
        <p:nvSpPr>
          <p:cNvPr id="7" name="Rectangle 6"/>
          <p:cNvSpPr/>
          <p:nvPr/>
        </p:nvSpPr>
        <p:spPr>
          <a:xfrm>
            <a:off x="365760" y="1691640"/>
            <a:ext cx="2148840" cy="196596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783080"/>
            <a:ext cx="1920240" cy="365760"/>
          </a:xfrm>
          <a:prstGeom prst="rect">
            <a:avLst/>
          </a:prstGeom>
          <a:noFill/>
        </p:spPr>
        <p:txBody>
          <a:bodyPr wrap="square" lIns="0" rIns="0" tIns="0" bIns="0" anchor="t"/>
          <a:lstStyle/>
          <a:p>
            <a:pPr algn="l"/>
            <a:r>
              <a:rPr sz="1400" b="1" i="0">
                <a:solidFill>
                  <a:srgbClr val="FFFFFF"/>
                </a:solidFill>
                <a:latin typeface="Calibri"/>
                <a:ea typeface="Calibri"/>
                <a:cs typeface="Calibri"/>
              </a:rPr>
              <a:t>1</a:t>
            </a:r>
          </a:p>
        </p:txBody>
      </p:sp>
      <p:sp>
        <p:nvSpPr>
          <p:cNvPr id="9" name="TextBox 8"/>
          <p:cNvSpPr txBox="1"/>
          <p:nvPr/>
        </p:nvSpPr>
        <p:spPr>
          <a:xfrm>
            <a:off x="475488" y="2148840"/>
            <a:ext cx="1920240" cy="640080"/>
          </a:xfrm>
          <a:prstGeom prst="rect">
            <a:avLst/>
          </a:prstGeom>
          <a:noFill/>
        </p:spPr>
        <p:txBody>
          <a:bodyPr wrap="square" lIns="0" rIns="0" tIns="0" bIns="0" anchor="t"/>
          <a:lstStyle/>
          <a:p>
            <a:pPr algn="l"/>
            <a:r>
              <a:rPr sz="1800" b="1" i="0">
                <a:solidFill>
                  <a:srgbClr val="FFFFFF"/>
                </a:solidFill>
                <a:latin typeface="Calibri"/>
                <a:ea typeface="Calibri"/>
                <a:cs typeface="Calibri"/>
              </a:rPr>
              <a:t>Hugging Face</a:t>
            </a:r>
          </a:p>
        </p:txBody>
      </p:sp>
      <p:sp>
        <p:nvSpPr>
          <p:cNvPr id="10" name="TextBox 9"/>
          <p:cNvSpPr txBox="1"/>
          <p:nvPr/>
        </p:nvSpPr>
        <p:spPr>
          <a:xfrm>
            <a:off x="475488" y="2880360"/>
            <a:ext cx="1920240" cy="502920"/>
          </a:xfrm>
          <a:prstGeom prst="rect">
            <a:avLst/>
          </a:prstGeom>
          <a:noFill/>
        </p:spPr>
        <p:txBody>
          <a:bodyPr wrap="square" lIns="0" rIns="0" tIns="0" bIns="0" anchor="t"/>
          <a:lstStyle/>
          <a:p>
            <a:pPr algn="l"/>
            <a:r>
              <a:rPr sz="1400" b="0" i="0">
                <a:solidFill>
                  <a:srgbClr val="FFFFFF"/>
                </a:solidFill>
                <a:latin typeface="Calibri"/>
                <a:ea typeface="Calibri"/>
                <a:cs typeface="Calibri"/>
              </a:rPr>
              <a:t>11 file Parquet</a:t>
            </a:r>
          </a:p>
        </p:txBody>
      </p:sp>
      <p:sp>
        <p:nvSpPr>
          <p:cNvPr id="11" name="Rectangle 10"/>
          <p:cNvSpPr/>
          <p:nvPr/>
        </p:nvSpPr>
        <p:spPr>
          <a:xfrm>
            <a:off x="2724912" y="1691640"/>
            <a:ext cx="2148840" cy="1965960"/>
          </a:xfrm>
          <a:prstGeom prst="rect">
            <a:avLst/>
          </a:prstGeom>
          <a:solidFill>
            <a:srgbClr val="C44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40" y="1783080"/>
            <a:ext cx="1920240" cy="365760"/>
          </a:xfrm>
          <a:prstGeom prst="rect">
            <a:avLst/>
          </a:prstGeom>
          <a:noFill/>
        </p:spPr>
        <p:txBody>
          <a:bodyPr wrap="square" lIns="0" rIns="0" tIns="0" bIns="0" anchor="t"/>
          <a:lstStyle/>
          <a:p>
            <a:pPr algn="l"/>
            <a:r>
              <a:rPr sz="1400" b="1" i="0">
                <a:solidFill>
                  <a:srgbClr val="FFFFFF"/>
                </a:solidFill>
                <a:latin typeface="Calibri"/>
                <a:ea typeface="Calibri"/>
                <a:cs typeface="Calibri"/>
              </a:rPr>
              <a:t>2</a:t>
            </a:r>
          </a:p>
        </p:txBody>
      </p:sp>
      <p:sp>
        <p:nvSpPr>
          <p:cNvPr id="13" name="TextBox 12"/>
          <p:cNvSpPr txBox="1"/>
          <p:nvPr/>
        </p:nvSpPr>
        <p:spPr>
          <a:xfrm>
            <a:off x="2834640" y="2148840"/>
            <a:ext cx="1920240" cy="640080"/>
          </a:xfrm>
          <a:prstGeom prst="rect">
            <a:avLst/>
          </a:prstGeom>
          <a:noFill/>
        </p:spPr>
        <p:txBody>
          <a:bodyPr wrap="square" lIns="0" rIns="0" tIns="0" bIns="0" anchor="t"/>
          <a:lstStyle/>
          <a:p>
            <a:pPr algn="l"/>
            <a:r>
              <a:rPr sz="1800" b="1" i="0">
                <a:solidFill>
                  <a:srgbClr val="FFFFFF"/>
                </a:solidFill>
                <a:latin typeface="Calibri"/>
                <a:ea typeface="Calibri"/>
                <a:cs typeface="Calibri"/>
              </a:rPr>
              <a:t>PyArrow</a:t>
            </a:r>
          </a:p>
        </p:txBody>
      </p:sp>
      <p:sp>
        <p:nvSpPr>
          <p:cNvPr id="14" name="TextBox 13"/>
          <p:cNvSpPr txBox="1"/>
          <p:nvPr/>
        </p:nvSpPr>
        <p:spPr>
          <a:xfrm>
            <a:off x="2834640" y="2880360"/>
            <a:ext cx="1920240" cy="502920"/>
          </a:xfrm>
          <a:prstGeom prst="rect">
            <a:avLst/>
          </a:prstGeom>
          <a:noFill/>
        </p:spPr>
        <p:txBody>
          <a:bodyPr wrap="square" lIns="0" rIns="0" tIns="0" bIns="0" anchor="t"/>
          <a:lstStyle/>
          <a:p>
            <a:pPr algn="l"/>
            <a:r>
              <a:rPr sz="1400" b="0" i="0">
                <a:solidFill>
                  <a:srgbClr val="FFFFFF"/>
                </a:solidFill>
                <a:latin typeface="Calibri"/>
                <a:ea typeface="Calibri"/>
                <a:cs typeface="Calibri"/>
              </a:rPr>
              <a:t>Chọn 8 cột</a:t>
            </a:r>
          </a:p>
        </p:txBody>
      </p:sp>
      <p:sp>
        <p:nvSpPr>
          <p:cNvPr id="15" name="Rectangle 14"/>
          <p:cNvSpPr/>
          <p:nvPr/>
        </p:nvSpPr>
        <p:spPr>
          <a:xfrm>
            <a:off x="5084064" y="1691640"/>
            <a:ext cx="2148840" cy="196596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93792" y="1783080"/>
            <a:ext cx="1920240" cy="365760"/>
          </a:xfrm>
          <a:prstGeom prst="rect">
            <a:avLst/>
          </a:prstGeom>
          <a:noFill/>
        </p:spPr>
        <p:txBody>
          <a:bodyPr wrap="square" lIns="0" rIns="0" tIns="0" bIns="0" anchor="t"/>
          <a:lstStyle/>
          <a:p>
            <a:pPr algn="l"/>
            <a:r>
              <a:rPr sz="1400" b="1" i="0">
                <a:solidFill>
                  <a:srgbClr val="FFFFFF"/>
                </a:solidFill>
                <a:latin typeface="Calibri"/>
                <a:ea typeface="Calibri"/>
                <a:cs typeface="Calibri"/>
              </a:rPr>
              <a:t>3</a:t>
            </a:r>
          </a:p>
        </p:txBody>
      </p:sp>
      <p:sp>
        <p:nvSpPr>
          <p:cNvPr id="17" name="TextBox 16"/>
          <p:cNvSpPr txBox="1"/>
          <p:nvPr/>
        </p:nvSpPr>
        <p:spPr>
          <a:xfrm>
            <a:off x="5193792" y="2148840"/>
            <a:ext cx="1920240" cy="640080"/>
          </a:xfrm>
          <a:prstGeom prst="rect">
            <a:avLst/>
          </a:prstGeom>
          <a:noFill/>
        </p:spPr>
        <p:txBody>
          <a:bodyPr wrap="square" lIns="0" rIns="0" tIns="0" bIns="0" anchor="t"/>
          <a:lstStyle/>
          <a:p>
            <a:pPr algn="l"/>
            <a:r>
              <a:rPr sz="1800" b="1" i="0">
                <a:solidFill>
                  <a:srgbClr val="FFFFFF"/>
                </a:solidFill>
                <a:latin typeface="Calibri"/>
                <a:ea typeface="Calibri"/>
                <a:cs typeface="Calibri"/>
              </a:rPr>
              <a:t>Parquet 39 MB</a:t>
            </a:r>
          </a:p>
        </p:txBody>
      </p:sp>
      <p:sp>
        <p:nvSpPr>
          <p:cNvPr id="18" name="TextBox 17"/>
          <p:cNvSpPr txBox="1"/>
          <p:nvPr/>
        </p:nvSpPr>
        <p:spPr>
          <a:xfrm>
            <a:off x="5193792" y="2880360"/>
            <a:ext cx="1920240" cy="502920"/>
          </a:xfrm>
          <a:prstGeom prst="rect">
            <a:avLst/>
          </a:prstGeom>
          <a:noFill/>
        </p:spPr>
        <p:txBody>
          <a:bodyPr wrap="square" lIns="0" rIns="0" tIns="0" bIns="0" anchor="t"/>
          <a:lstStyle/>
          <a:p>
            <a:pPr algn="l"/>
            <a:r>
              <a:rPr sz="1400" b="0" i="0">
                <a:solidFill>
                  <a:srgbClr val="FFFFFF"/>
                </a:solidFill>
                <a:latin typeface="Calibri"/>
                <a:ea typeface="Calibri"/>
                <a:cs typeface="Calibri"/>
              </a:rPr>
              <a:t>Nén zstd</a:t>
            </a:r>
          </a:p>
        </p:txBody>
      </p:sp>
      <p:sp>
        <p:nvSpPr>
          <p:cNvPr id="19" name="Rectangle 18"/>
          <p:cNvSpPr/>
          <p:nvPr/>
        </p:nvSpPr>
        <p:spPr>
          <a:xfrm>
            <a:off x="7443216" y="1691640"/>
            <a:ext cx="2148840" cy="1965960"/>
          </a:xfrm>
          <a:prstGeom prst="rect">
            <a:avLst/>
          </a:prstGeom>
          <a:solidFill>
            <a:srgbClr val="C44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2944" y="1783080"/>
            <a:ext cx="1920240" cy="365760"/>
          </a:xfrm>
          <a:prstGeom prst="rect">
            <a:avLst/>
          </a:prstGeom>
          <a:noFill/>
        </p:spPr>
        <p:txBody>
          <a:bodyPr wrap="square" lIns="0" rIns="0" tIns="0" bIns="0" anchor="t"/>
          <a:lstStyle/>
          <a:p>
            <a:pPr algn="l"/>
            <a:r>
              <a:rPr sz="1400" b="1" i="0">
                <a:solidFill>
                  <a:srgbClr val="FFFFFF"/>
                </a:solidFill>
                <a:latin typeface="Calibri"/>
                <a:ea typeface="Calibri"/>
                <a:cs typeface="Calibri"/>
              </a:rPr>
              <a:t>4</a:t>
            </a:r>
          </a:p>
        </p:txBody>
      </p:sp>
      <p:sp>
        <p:nvSpPr>
          <p:cNvPr id="21" name="TextBox 20"/>
          <p:cNvSpPr txBox="1"/>
          <p:nvPr/>
        </p:nvSpPr>
        <p:spPr>
          <a:xfrm>
            <a:off x="7552944" y="2148840"/>
            <a:ext cx="1920240" cy="640080"/>
          </a:xfrm>
          <a:prstGeom prst="rect">
            <a:avLst/>
          </a:prstGeom>
          <a:noFill/>
        </p:spPr>
        <p:txBody>
          <a:bodyPr wrap="square" lIns="0" rIns="0" tIns="0" bIns="0" anchor="t"/>
          <a:lstStyle/>
          <a:p>
            <a:pPr algn="l"/>
            <a:r>
              <a:rPr sz="1800" b="1" i="0">
                <a:solidFill>
                  <a:srgbClr val="FFFFFF"/>
                </a:solidFill>
                <a:latin typeface="Calibri"/>
                <a:ea typeface="Calibri"/>
                <a:cs typeface="Calibri"/>
              </a:rPr>
              <a:t>DuckDB</a:t>
            </a:r>
          </a:p>
        </p:txBody>
      </p:sp>
      <p:sp>
        <p:nvSpPr>
          <p:cNvPr id="22" name="TextBox 21"/>
          <p:cNvSpPr txBox="1"/>
          <p:nvPr/>
        </p:nvSpPr>
        <p:spPr>
          <a:xfrm>
            <a:off x="7552944" y="2880360"/>
            <a:ext cx="1920240" cy="502920"/>
          </a:xfrm>
          <a:prstGeom prst="rect">
            <a:avLst/>
          </a:prstGeom>
          <a:noFill/>
        </p:spPr>
        <p:txBody>
          <a:bodyPr wrap="square" lIns="0" rIns="0" tIns="0" bIns="0" anchor="t"/>
          <a:lstStyle/>
          <a:p>
            <a:pPr algn="l"/>
            <a:r>
              <a:rPr sz="1400" b="0" i="0">
                <a:solidFill>
                  <a:srgbClr val="FFFFFF"/>
                </a:solidFill>
                <a:latin typeface="Calibri"/>
                <a:ea typeface="Calibri"/>
                <a:cs typeface="Calibri"/>
              </a:rPr>
              <a:t>SQL nhóm</a:t>
            </a:r>
          </a:p>
        </p:txBody>
      </p:sp>
      <p:sp>
        <p:nvSpPr>
          <p:cNvPr id="23" name="Rectangle 22"/>
          <p:cNvSpPr/>
          <p:nvPr/>
        </p:nvSpPr>
        <p:spPr>
          <a:xfrm>
            <a:off x="9802368" y="1691640"/>
            <a:ext cx="2148840" cy="196596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12096" y="1783080"/>
            <a:ext cx="1920240" cy="365760"/>
          </a:xfrm>
          <a:prstGeom prst="rect">
            <a:avLst/>
          </a:prstGeom>
          <a:noFill/>
        </p:spPr>
        <p:txBody>
          <a:bodyPr wrap="square" lIns="0" rIns="0" tIns="0" bIns="0" anchor="t"/>
          <a:lstStyle/>
          <a:p>
            <a:pPr algn="l"/>
            <a:r>
              <a:rPr sz="1400" b="1" i="0">
                <a:solidFill>
                  <a:srgbClr val="FFFFFF"/>
                </a:solidFill>
                <a:latin typeface="Calibri"/>
                <a:ea typeface="Calibri"/>
                <a:cs typeface="Calibri"/>
              </a:rPr>
              <a:t>5</a:t>
            </a:r>
          </a:p>
        </p:txBody>
      </p:sp>
      <p:sp>
        <p:nvSpPr>
          <p:cNvPr id="25" name="TextBox 24"/>
          <p:cNvSpPr txBox="1"/>
          <p:nvPr/>
        </p:nvSpPr>
        <p:spPr>
          <a:xfrm>
            <a:off x="9912096" y="2148840"/>
            <a:ext cx="1920240" cy="640080"/>
          </a:xfrm>
          <a:prstGeom prst="rect">
            <a:avLst/>
          </a:prstGeom>
          <a:noFill/>
        </p:spPr>
        <p:txBody>
          <a:bodyPr wrap="square" lIns="0" rIns="0" tIns="0" bIns="0" anchor="t"/>
          <a:lstStyle/>
          <a:p>
            <a:pPr algn="l"/>
            <a:r>
              <a:rPr sz="1800" b="1" i="0">
                <a:solidFill>
                  <a:srgbClr val="FFFFFF"/>
                </a:solidFill>
                <a:latin typeface="Calibri"/>
                <a:ea typeface="Calibri"/>
                <a:cs typeface="Calibri"/>
              </a:rPr>
              <a:t>CSV và biểu đồ</a:t>
            </a:r>
          </a:p>
        </p:txBody>
      </p:sp>
      <p:sp>
        <p:nvSpPr>
          <p:cNvPr id="26" name="TextBox 25"/>
          <p:cNvSpPr txBox="1"/>
          <p:nvPr/>
        </p:nvSpPr>
        <p:spPr>
          <a:xfrm>
            <a:off x="9912096" y="2880360"/>
            <a:ext cx="1920240" cy="502920"/>
          </a:xfrm>
          <a:prstGeom prst="rect">
            <a:avLst/>
          </a:prstGeom>
          <a:noFill/>
        </p:spPr>
        <p:txBody>
          <a:bodyPr wrap="square" lIns="0" rIns="0" tIns="0" bIns="0" anchor="t"/>
          <a:lstStyle/>
          <a:p>
            <a:pPr algn="l"/>
            <a:r>
              <a:rPr sz="1400" b="0" i="0">
                <a:solidFill>
                  <a:srgbClr val="FFFFFF"/>
                </a:solidFill>
                <a:latin typeface="Calibri"/>
                <a:ea typeface="Calibri"/>
                <a:cs typeface="Calibri"/>
              </a:rPr>
              <a:t>Sáu hình</a:t>
            </a:r>
          </a:p>
        </p:txBody>
      </p:sp>
      <p:sp>
        <p:nvSpPr>
          <p:cNvPr id="27" name="TextBox 26"/>
          <p:cNvSpPr txBox="1"/>
          <p:nvPr/>
        </p:nvSpPr>
        <p:spPr>
          <a:xfrm>
            <a:off x="457200" y="4114800"/>
            <a:ext cx="11155680" cy="1188720"/>
          </a:xfrm>
          <a:prstGeom prst="rect">
            <a:avLst/>
          </a:prstGeom>
          <a:noFill/>
        </p:spPr>
        <p:txBody>
          <a:bodyPr wrap="square" lIns="0" rIns="0" tIns="0" bIns="0" anchor="t"/>
          <a:lstStyle/>
          <a:p>
            <a:pPr algn="l"/>
            <a:r>
              <a:rPr sz="2000" b="0" i="0">
                <a:solidFill>
                  <a:srgbClr val="1C1C1C"/>
                </a:solidFill>
                <a:latin typeface="Calibri"/>
                <a:ea typeface="Calibri"/>
                <a:cs typeface="Calibri"/>
              </a:rPr>
              <a:t>Tải nguồn khoảng 3,5 phút. Rút một triệu dòng xong trong vài giây. Thống kê chạy bằng lệnh python run.py.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Năm câu hỏi</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6  /  16</a:t>
            </a:r>
          </a:p>
        </p:txBody>
      </p:sp>
      <p:sp>
        <p:nvSpPr>
          <p:cNvPr id="7" name="TextBox 6"/>
          <p:cNvSpPr txBox="1"/>
          <p:nvPr/>
        </p:nvSpPr>
        <p:spPr>
          <a:xfrm>
            <a:off x="548640" y="1325880"/>
            <a:ext cx="10972800" cy="4572000"/>
          </a:xfrm>
          <a:prstGeom prst="rect">
            <a:avLst/>
          </a:prstGeom>
          <a:noFill/>
        </p:spPr>
        <p:txBody>
          <a:bodyPr wrap="square">
            <a:spAutoFit/>
          </a:bodyPr>
          <a:lstStyle/>
          <a:p>
            <a:pPr algn="l">
              <a:spcAft>
                <a:spcPts val="1000"/>
              </a:spcAft>
            </a:pPr>
            <a:r>
              <a:rPr sz="2400" b="0" i="0">
                <a:solidFill>
                  <a:srgbClr val="1C1C1C"/>
                </a:solidFill>
                <a:latin typeface="Calibri"/>
                <a:ea typeface="Calibri"/>
                <a:cs typeface="Calibri"/>
              </a:rPr>
              <a:t>1    Phân bố giới, tuổi, vùng và khu vực đô thị hay nông thôn.</a:t>
            </a:r>
          </a:p>
          <a:p>
            <a:pPr algn="l">
              <a:spcAft>
                <a:spcPts val="1000"/>
              </a:spcAft>
            </a:pPr>
            <a:r>
              <a:rPr sz="2400" b="0" i="0">
                <a:solidFill>
                  <a:srgbClr val="1C1C1C"/>
                </a:solidFill>
                <a:latin typeface="Calibri"/>
                <a:ea typeface="Calibri"/>
                <a:cs typeface="Calibri"/>
              </a:rPr>
              <a:t>2    Nghề nào đứng đầu trong từng vùng.</a:t>
            </a:r>
          </a:p>
          <a:p>
            <a:pPr algn="l">
              <a:spcAft>
                <a:spcPts val="1000"/>
              </a:spcAft>
            </a:pPr>
            <a:r>
              <a:rPr sz="2400" b="0" i="0">
                <a:solidFill>
                  <a:srgbClr val="1C1C1C"/>
                </a:solidFill>
                <a:latin typeface="Calibri"/>
                <a:ea typeface="Calibri"/>
                <a:cs typeface="Calibri"/>
              </a:rPr>
              <a:t>3    Học vấn thay đổi thế nào theo nhóm tuổi.</a:t>
            </a:r>
          </a:p>
          <a:p>
            <a:pPr algn="l">
              <a:spcAft>
                <a:spcPts val="1000"/>
              </a:spcAft>
            </a:pPr>
            <a:r>
              <a:rPr sz="2400" b="0" i="0">
                <a:solidFill>
                  <a:srgbClr val="1C1C1C"/>
                </a:solidFill>
                <a:latin typeface="Calibri"/>
                <a:ea typeface="Calibri"/>
                <a:cs typeface="Calibri"/>
              </a:rPr>
              <a:t>4    Hôn nhân khác ra sao theo tuổi và giới.</a:t>
            </a:r>
          </a:p>
          <a:p>
            <a:pPr algn="l">
              <a:spcAft>
                <a:spcPts val="1000"/>
              </a:spcAft>
            </a:pPr>
            <a:r>
              <a:rPr sz="2400" b="0" i="0">
                <a:solidFill>
                  <a:srgbClr val="1C1C1C"/>
                </a:solidFill>
                <a:latin typeface="Calibri"/>
                <a:ea typeface="Calibri"/>
                <a:cs typeface="Calibri"/>
              </a:rPr>
              <a:t>5    Kỹ năng nào xuất hiện nhiều nhất.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Giới tính, khu vực và tuổi</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7  /  16</a:t>
            </a:r>
          </a:p>
        </p:txBody>
      </p:sp>
      <p:sp>
        <p:nvSpPr>
          <p:cNvPr id="7" name="TextBox 6"/>
          <p:cNvSpPr txBox="1"/>
          <p:nvPr/>
        </p:nvSpPr>
        <p:spPr>
          <a:xfrm>
            <a:off x="457200" y="914400"/>
            <a:ext cx="11155680" cy="365760"/>
          </a:xfrm>
          <a:prstGeom prst="rect">
            <a:avLst/>
          </a:prstGeom>
          <a:noFill/>
        </p:spPr>
        <p:txBody>
          <a:bodyPr wrap="square" lIns="0" rIns="0" tIns="0" bIns="0" anchor="t"/>
          <a:lstStyle/>
          <a:p>
            <a:pPr algn="l"/>
            <a:r>
              <a:rPr sz="1600" b="0" i="0">
                <a:solidFill>
                  <a:srgbClr val="C44900"/>
                </a:solidFill>
                <a:latin typeface="Calibri"/>
                <a:ea typeface="Calibri"/>
                <a:cs typeface="Calibri"/>
              </a:rPr>
              <a:t>Nữ 51,44%   ·   Nông thôn 61,35%   ·   Nhóm đông nhất: 35–44 (21,58%)</a:t>
            </a:r>
          </a:p>
        </p:txBody>
      </p:sp>
      <p:pic>
        <p:nvPicPr>
          <p:cNvPr id="8" name="Picture 7" descr="01_phan_bo.png"/>
          <p:cNvPicPr>
            <a:picLocks noChangeAspect="1"/>
          </p:cNvPicPr>
          <p:nvPr/>
        </p:nvPicPr>
        <p:blipFill>
          <a:blip r:embed="rId2"/>
          <a:stretch>
            <a:fillRect/>
          </a:stretch>
        </p:blipFill>
        <p:spPr>
          <a:xfrm>
            <a:off x="457200" y="1371600"/>
            <a:ext cx="11155680" cy="382480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Sáu vùng</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8  /  16</a:t>
            </a:r>
          </a:p>
        </p:txBody>
      </p:sp>
      <p:sp>
        <p:nvSpPr>
          <p:cNvPr id="7" name="TextBox 6"/>
          <p:cNvSpPr txBox="1"/>
          <p:nvPr/>
        </p:nvSpPr>
        <p:spPr>
          <a:xfrm>
            <a:off x="457200" y="914400"/>
            <a:ext cx="11155680" cy="365760"/>
          </a:xfrm>
          <a:prstGeom prst="rect">
            <a:avLst/>
          </a:prstGeom>
          <a:noFill/>
        </p:spPr>
        <p:txBody>
          <a:bodyPr wrap="square" lIns="0" rIns="0" tIns="0" bIns="0" anchor="t"/>
          <a:lstStyle/>
          <a:p>
            <a:pPr algn="l"/>
            <a:r>
              <a:rPr sz="1600" b="0" i="0">
                <a:solidFill>
                  <a:srgbClr val="C44900"/>
                </a:solidFill>
                <a:latin typeface="Calibri"/>
                <a:ea typeface="Calibri"/>
                <a:cs typeface="Calibri"/>
              </a:rPr>
              <a:t>Đồng bằng sông Hồng 24,49%   ·   Tây Nguyên 9,18%</a:t>
            </a:r>
          </a:p>
        </p:txBody>
      </p:sp>
      <p:pic>
        <p:nvPicPr>
          <p:cNvPr id="8" name="Picture 7" descr="02_vung.png"/>
          <p:cNvPicPr>
            <a:picLocks noChangeAspect="1"/>
          </p:cNvPicPr>
          <p:nvPr/>
        </p:nvPicPr>
        <p:blipFill>
          <a:blip r:embed="rId2"/>
          <a:stretch>
            <a:fillRect/>
          </a:stretch>
        </p:blipFill>
        <p:spPr>
          <a:xfrm>
            <a:off x="1142847" y="1371600"/>
            <a:ext cx="9906000" cy="47548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Nghề đông nhất trong mỗi vùng</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9  /  16</a:t>
            </a:r>
          </a:p>
        </p:txBody>
      </p:sp>
      <p:sp>
        <p:nvSpPr>
          <p:cNvPr id="7" name="TextBox 6"/>
          <p:cNvSpPr txBox="1"/>
          <p:nvPr/>
        </p:nvSpPr>
        <p:spPr>
          <a:xfrm>
            <a:off x="411480" y="868680"/>
            <a:ext cx="11338560" cy="320040"/>
          </a:xfrm>
          <a:prstGeom prst="rect">
            <a:avLst/>
          </a:prstGeom>
          <a:noFill/>
        </p:spPr>
        <p:txBody>
          <a:bodyPr wrap="square" lIns="0" rIns="0" tIns="0" bIns="0" anchor="t"/>
          <a:lstStyle/>
          <a:p>
            <a:pPr algn="l"/>
            <a:r>
              <a:rPr sz="1500" b="0" i="0">
                <a:solidFill>
                  <a:srgbClr val="C44900"/>
                </a:solidFill>
                <a:latin typeface="Calibri"/>
                <a:ea typeface="Calibri"/>
                <a:cs typeface="Calibri"/>
              </a:rPr>
              <a:t>“Nghỉ hưu” hạng nhất cả sáu vùng. “Tiểu thương chợ” hạng hai ở cả sáu vùng.</a:t>
            </a:r>
          </a:p>
        </p:txBody>
      </p:sp>
      <p:pic>
        <p:nvPicPr>
          <p:cNvPr id="8" name="Picture 7" descr="03_nghe_theo_vung.png"/>
          <p:cNvPicPr>
            <a:picLocks noChangeAspect="1"/>
          </p:cNvPicPr>
          <p:nvPr/>
        </p:nvPicPr>
        <p:blipFill>
          <a:blip r:embed="rId2"/>
          <a:stretch>
            <a:fillRect/>
          </a:stretch>
        </p:blipFill>
        <p:spPr>
          <a:xfrm>
            <a:off x="2148687" y="1234440"/>
            <a:ext cx="7894320" cy="5074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Nghề mang tính vùng</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10  /  16</a:t>
            </a:r>
          </a:p>
        </p:txBody>
      </p:sp>
      <p:graphicFrame>
        <p:nvGraphicFramePr>
          <p:cNvPr id="7" name="Table 6"/>
          <p:cNvGraphicFramePr>
            <a:graphicFrameLocks noGrp="1"/>
          </p:cNvGraphicFramePr>
          <p:nvPr/>
        </p:nvGraphicFramePr>
        <p:xfrm>
          <a:off x="502920" y="1234440"/>
          <a:ext cx="11155680" cy="3931920"/>
        </p:xfrm>
        <a:graphic>
          <a:graphicData uri="http://schemas.openxmlformats.org/drawingml/2006/table">
            <a:tbl>
              <a:tblPr firstRow="1" bandRow="1">
                <a:tableStyleId>{5C22544A-7EE6-4342-B048-85BDC9FD1C3A}</a:tableStyleId>
              </a:tblPr>
              <a:tblGrid>
                <a:gridCol w="5120640"/>
                <a:gridCol w="3840480"/>
                <a:gridCol w="2194560"/>
              </a:tblGrid>
              <a:tr h="561702">
                <a:tc>
                  <a:txBody>
                    <a:bodyPr/>
                    <a:lstStyle/>
                    <a:p>
                      <a:pPr algn="l"/>
                      <a:r>
                        <a:rPr sz="1400" b="1" i="0">
                          <a:solidFill>
                            <a:srgbClr val="FFFFFF"/>
                          </a:solidFill>
                          <a:latin typeface="Calibri"/>
                          <a:ea typeface="Calibri"/>
                          <a:cs typeface="Calibri"/>
                        </a:rPr>
                        <a:t>Vùng</a:t>
                      </a:r>
                    </a:p>
                  </a:txBody>
                  <a:tcPr>
                    <a:solidFill>
                      <a:srgbClr val="1F6F8B"/>
                    </a:solidFill>
                  </a:tcPr>
                </a:tc>
                <a:tc>
                  <a:txBody>
                    <a:bodyPr/>
                    <a:lstStyle/>
                    <a:p>
                      <a:pPr algn="ctr"/>
                      <a:r>
                        <a:rPr sz="1400" b="1" i="0">
                          <a:solidFill>
                            <a:srgbClr val="FFFFFF"/>
                          </a:solidFill>
                          <a:latin typeface="Calibri"/>
                          <a:ea typeface="Calibri"/>
                          <a:cs typeface="Calibri"/>
                        </a:rPr>
                        <a:t>Nghề trong top 15</a:t>
                      </a:r>
                    </a:p>
                  </a:txBody>
                  <a:tcPr>
                    <a:solidFill>
                      <a:srgbClr val="1F6F8B"/>
                    </a:solidFill>
                  </a:tcPr>
                </a:tc>
                <a:tc>
                  <a:txBody>
                    <a:bodyPr/>
                    <a:lstStyle/>
                    <a:p>
                      <a:pPr algn="ctr"/>
                      <a:r>
                        <a:rPr sz="1400" b="1" i="0">
                          <a:solidFill>
                            <a:srgbClr val="FFFFFF"/>
                          </a:solidFill>
                          <a:latin typeface="Calibri"/>
                          <a:ea typeface="Calibri"/>
                          <a:cs typeface="Calibri"/>
                        </a:rPr>
                        <a:t>Số hồ sơ</a:t>
                      </a:r>
                    </a:p>
                  </a:txBody>
                  <a:tcPr>
                    <a:solidFill>
                      <a:srgbClr val="1F6F8B"/>
                    </a:solidFill>
                  </a:tcPr>
                </a:tc>
              </a:tr>
              <a:tr h="561702">
                <a:tc>
                  <a:txBody>
                    <a:bodyPr/>
                    <a:lstStyle/>
                    <a:p>
                      <a:pPr algn="l"/>
                      <a:r>
                        <a:rPr sz="1400" b="0" i="0">
                          <a:solidFill>
                            <a:srgbClr val="1C1C1C"/>
                          </a:solidFill>
                          <a:latin typeface="Calibri"/>
                          <a:ea typeface="Calibri"/>
                          <a:cs typeface="Calibri"/>
                        </a:rPr>
                        <a:t>Trung du và miền núi phía Bắc</a:t>
                      </a:r>
                    </a:p>
                  </a:txBody>
                  <a:tcPr>
                    <a:solidFill>
                      <a:srgbClr val="FFFFFF"/>
                    </a:solidFill>
                  </a:tcPr>
                </a:tc>
                <a:tc>
                  <a:txBody>
                    <a:bodyPr/>
                    <a:lstStyle/>
                    <a:p>
                      <a:pPr algn="ctr"/>
                      <a:r>
                        <a:rPr sz="1400" b="0" i="0">
                          <a:solidFill>
                            <a:srgbClr val="1C1C1C"/>
                          </a:solidFill>
                          <a:latin typeface="Calibri"/>
                          <a:ea typeface="Calibri"/>
                          <a:cs typeface="Calibri"/>
                        </a:rPr>
                        <a:t>Trồng chè</a:t>
                      </a:r>
                    </a:p>
                  </a:txBody>
                  <a:tcPr>
                    <a:solidFill>
                      <a:srgbClr val="FFFFFF"/>
                    </a:solidFill>
                  </a:tcPr>
                </a:tc>
                <a:tc>
                  <a:txBody>
                    <a:bodyPr/>
                    <a:lstStyle/>
                    <a:p>
                      <a:pPr algn="ctr"/>
                      <a:r>
                        <a:rPr sz="1400" b="0" i="0">
                          <a:solidFill>
                            <a:srgbClr val="1C1C1C"/>
                          </a:solidFill>
                          <a:latin typeface="Calibri"/>
                          <a:ea typeface="Calibri"/>
                          <a:cs typeface="Calibri"/>
                        </a:rPr>
                        <a:t>4.866</a:t>
                      </a:r>
                    </a:p>
                  </a:txBody>
                  <a:tcPr>
                    <a:solidFill>
                      <a:srgbClr val="FFFFFF"/>
                    </a:solidFill>
                  </a:tcPr>
                </a:tc>
              </a:tr>
              <a:tr h="561702">
                <a:tc>
                  <a:txBody>
                    <a:bodyPr/>
                    <a:lstStyle/>
                    <a:p>
                      <a:pPr algn="l"/>
                      <a:r>
                        <a:rPr sz="1400" b="0" i="0">
                          <a:solidFill>
                            <a:srgbClr val="1C1C1C"/>
                          </a:solidFill>
                          <a:latin typeface="Calibri"/>
                          <a:ea typeface="Calibri"/>
                          <a:cs typeface="Calibri"/>
                        </a:rPr>
                        <a:t>Tây Nguyên</a:t>
                      </a:r>
                    </a:p>
                  </a:txBody>
                  <a:tcPr>
                    <a:solidFill>
                      <a:srgbClr val="F4F7F8"/>
                    </a:solidFill>
                  </a:tcPr>
                </a:tc>
                <a:tc>
                  <a:txBody>
                    <a:bodyPr/>
                    <a:lstStyle/>
                    <a:p>
                      <a:pPr algn="ctr"/>
                      <a:r>
                        <a:rPr sz="1400" b="0" i="0">
                          <a:solidFill>
                            <a:srgbClr val="1C1C1C"/>
                          </a:solidFill>
                          <a:latin typeface="Calibri"/>
                          <a:ea typeface="Calibri"/>
                          <a:cs typeface="Calibri"/>
                        </a:rPr>
                        <a:t>Trồng cà phê</a:t>
                      </a:r>
                    </a:p>
                  </a:txBody>
                  <a:tcPr>
                    <a:solidFill>
                      <a:srgbClr val="F4F7F8"/>
                    </a:solidFill>
                  </a:tcPr>
                </a:tc>
                <a:tc>
                  <a:txBody>
                    <a:bodyPr/>
                    <a:lstStyle/>
                    <a:p>
                      <a:pPr algn="ctr"/>
                      <a:r>
                        <a:rPr sz="1400" b="0" i="0">
                          <a:solidFill>
                            <a:srgbClr val="1C1C1C"/>
                          </a:solidFill>
                          <a:latin typeface="Calibri"/>
                          <a:ea typeface="Calibri"/>
                          <a:cs typeface="Calibri"/>
                        </a:rPr>
                        <a:t>6.010</a:t>
                      </a:r>
                    </a:p>
                  </a:txBody>
                  <a:tcPr>
                    <a:solidFill>
                      <a:srgbClr val="F4F7F8"/>
                    </a:solidFill>
                  </a:tcPr>
                </a:tc>
              </a:tr>
              <a:tr h="561702">
                <a:tc>
                  <a:txBody>
                    <a:bodyPr/>
                    <a:lstStyle/>
                    <a:p>
                      <a:pPr algn="l"/>
                      <a:r>
                        <a:rPr sz="1400" b="0" i="0">
                          <a:solidFill>
                            <a:srgbClr val="1C1C1C"/>
                          </a:solidFill>
                          <a:latin typeface="Calibri"/>
                          <a:ea typeface="Calibri"/>
                          <a:cs typeface="Calibri"/>
                        </a:rPr>
                        <a:t>Đồng bằng sông Cửu Long</a:t>
                      </a:r>
                    </a:p>
                  </a:txBody>
                  <a:tcPr>
                    <a:solidFill>
                      <a:srgbClr val="FFFFFF"/>
                    </a:solidFill>
                  </a:tcPr>
                </a:tc>
                <a:tc>
                  <a:txBody>
                    <a:bodyPr/>
                    <a:lstStyle/>
                    <a:p>
                      <a:pPr algn="ctr"/>
                      <a:r>
                        <a:rPr sz="1400" b="0" i="0">
                          <a:solidFill>
                            <a:srgbClr val="1C1C1C"/>
                          </a:solidFill>
                          <a:latin typeface="Calibri"/>
                          <a:ea typeface="Calibri"/>
                          <a:cs typeface="Calibri"/>
                        </a:rPr>
                        <a:t>Nông dân trồng lúa</a:t>
                      </a:r>
                    </a:p>
                  </a:txBody>
                  <a:tcPr>
                    <a:solidFill>
                      <a:srgbClr val="FFFFFF"/>
                    </a:solidFill>
                  </a:tcPr>
                </a:tc>
                <a:tc>
                  <a:txBody>
                    <a:bodyPr/>
                    <a:lstStyle/>
                    <a:p>
                      <a:pPr algn="ctr"/>
                      <a:r>
                        <a:rPr sz="1400" b="0" i="0">
                          <a:solidFill>
                            <a:srgbClr val="1C1C1C"/>
                          </a:solidFill>
                          <a:latin typeface="Calibri"/>
                          <a:ea typeface="Calibri"/>
                          <a:cs typeface="Calibri"/>
                        </a:rPr>
                        <a:t>3.694</a:t>
                      </a:r>
                    </a:p>
                  </a:txBody>
                  <a:tcPr>
                    <a:solidFill>
                      <a:srgbClr val="FFFFFF"/>
                    </a:solidFill>
                  </a:tcPr>
                </a:tc>
              </a:tr>
              <a:tr h="561702">
                <a:tc>
                  <a:txBody>
                    <a:bodyPr/>
                    <a:lstStyle/>
                    <a:p>
                      <a:pPr algn="l"/>
                      <a:r>
                        <a:rPr sz="1400" b="0" i="0">
                          <a:solidFill>
                            <a:srgbClr val="1C1C1C"/>
                          </a:solidFill>
                          <a:latin typeface="Calibri"/>
                          <a:ea typeface="Calibri"/>
                          <a:cs typeface="Calibri"/>
                        </a:rPr>
                        <a:t>Bắc Trung Bộ và Duyên hải miền Trung</a:t>
                      </a:r>
                    </a:p>
                  </a:txBody>
                  <a:tcPr>
                    <a:solidFill>
                      <a:srgbClr val="F4F7F8"/>
                    </a:solidFill>
                  </a:tcPr>
                </a:tc>
                <a:tc>
                  <a:txBody>
                    <a:bodyPr/>
                    <a:lstStyle/>
                    <a:p>
                      <a:pPr algn="ctr"/>
                      <a:r>
                        <a:rPr sz="1400" b="0" i="0">
                          <a:solidFill>
                            <a:srgbClr val="1C1C1C"/>
                          </a:solidFill>
                          <a:latin typeface="Calibri"/>
                          <a:ea typeface="Calibri"/>
                          <a:cs typeface="Calibri"/>
                        </a:rPr>
                        <a:t>Ngư dân</a:t>
                      </a:r>
                    </a:p>
                  </a:txBody>
                  <a:tcPr>
                    <a:solidFill>
                      <a:srgbClr val="F4F7F8"/>
                    </a:solidFill>
                  </a:tcPr>
                </a:tc>
                <a:tc>
                  <a:txBody>
                    <a:bodyPr/>
                    <a:lstStyle/>
                    <a:p>
                      <a:pPr algn="ctr"/>
                      <a:r>
                        <a:rPr sz="1400" b="0" i="0">
                          <a:solidFill>
                            <a:srgbClr val="1C1C1C"/>
                          </a:solidFill>
                          <a:latin typeface="Calibri"/>
                          <a:ea typeface="Calibri"/>
                          <a:cs typeface="Calibri"/>
                        </a:rPr>
                        <a:t>3.587</a:t>
                      </a:r>
                    </a:p>
                  </a:txBody>
                  <a:tcPr>
                    <a:solidFill>
                      <a:srgbClr val="F4F7F8"/>
                    </a:solidFill>
                  </a:tcPr>
                </a:tc>
              </a:tr>
              <a:tr h="561702">
                <a:tc>
                  <a:txBody>
                    <a:bodyPr/>
                    <a:lstStyle/>
                    <a:p>
                      <a:pPr algn="l"/>
                      <a:r>
                        <a:rPr sz="1400" b="0" i="0">
                          <a:solidFill>
                            <a:srgbClr val="1C1C1C"/>
                          </a:solidFill>
                          <a:latin typeface="Calibri"/>
                          <a:ea typeface="Calibri"/>
                          <a:cs typeface="Calibri"/>
                        </a:rPr>
                        <a:t>Đông Nam Bộ</a:t>
                      </a:r>
                    </a:p>
                  </a:txBody>
                  <a:tcPr>
                    <a:solidFill>
                      <a:srgbClr val="FFFFFF"/>
                    </a:solidFill>
                  </a:tcPr>
                </a:tc>
                <a:tc>
                  <a:txBody>
                    <a:bodyPr/>
                    <a:lstStyle/>
                    <a:p>
                      <a:pPr algn="ctr"/>
                      <a:r>
                        <a:rPr sz="1400" b="0" i="0">
                          <a:solidFill>
                            <a:srgbClr val="1C1C1C"/>
                          </a:solidFill>
                          <a:latin typeface="Calibri"/>
                          <a:ea typeface="Calibri"/>
                          <a:cs typeface="Calibri"/>
                        </a:rPr>
                        <a:t>Lập trình viên</a:t>
                      </a:r>
                    </a:p>
                  </a:txBody>
                  <a:tcPr>
                    <a:solidFill>
                      <a:srgbClr val="FFFFFF"/>
                    </a:solidFill>
                  </a:tcPr>
                </a:tc>
                <a:tc>
                  <a:txBody>
                    <a:bodyPr/>
                    <a:lstStyle/>
                    <a:p>
                      <a:pPr algn="ctr"/>
                      <a:r>
                        <a:rPr sz="1400" b="0" i="0">
                          <a:solidFill>
                            <a:srgbClr val="1C1C1C"/>
                          </a:solidFill>
                          <a:latin typeface="Calibri"/>
                          <a:ea typeface="Calibri"/>
                          <a:cs typeface="Calibri"/>
                        </a:rPr>
                        <a:t>4.314</a:t>
                      </a:r>
                    </a:p>
                  </a:txBody>
                  <a:tcPr>
                    <a:solidFill>
                      <a:srgbClr val="FFFFFF"/>
                    </a:solidFill>
                  </a:tcPr>
                </a:tc>
              </a:tr>
              <a:tr h="561708">
                <a:tc>
                  <a:txBody>
                    <a:bodyPr/>
                    <a:lstStyle/>
                    <a:p>
                      <a:pPr algn="l"/>
                      <a:r>
                        <a:rPr sz="1400" b="0" i="0">
                          <a:solidFill>
                            <a:srgbClr val="1C1C1C"/>
                          </a:solidFill>
                          <a:latin typeface="Calibri"/>
                          <a:ea typeface="Calibri"/>
                          <a:cs typeface="Calibri"/>
                        </a:rPr>
                        <a:t>Đồng bằng sông Hồng</a:t>
                      </a:r>
                    </a:p>
                  </a:txBody>
                  <a:tcPr>
                    <a:solidFill>
                      <a:srgbClr val="F4F7F8"/>
                    </a:solidFill>
                  </a:tcPr>
                </a:tc>
                <a:tc>
                  <a:txBody>
                    <a:bodyPr/>
                    <a:lstStyle/>
                    <a:p>
                      <a:pPr algn="ctr"/>
                      <a:r>
                        <a:rPr sz="1400" b="0" i="0">
                          <a:solidFill>
                            <a:srgbClr val="1C1C1C"/>
                          </a:solidFill>
                          <a:latin typeface="Calibri"/>
                          <a:ea typeface="Calibri"/>
                          <a:cs typeface="Calibri"/>
                        </a:rPr>
                        <a:t>Lập trình viên</a:t>
                      </a:r>
                    </a:p>
                  </a:txBody>
                  <a:tcPr>
                    <a:solidFill>
                      <a:srgbClr val="F4F7F8"/>
                    </a:solidFill>
                  </a:tcPr>
                </a:tc>
                <a:tc>
                  <a:txBody>
                    <a:bodyPr/>
                    <a:lstStyle/>
                    <a:p>
                      <a:pPr algn="ctr"/>
                      <a:r>
                        <a:rPr sz="1400" b="0" i="0">
                          <a:solidFill>
                            <a:srgbClr val="1C1C1C"/>
                          </a:solidFill>
                          <a:latin typeface="Calibri"/>
                          <a:ea typeface="Calibri"/>
                          <a:cs typeface="Calibri"/>
                        </a:rPr>
                        <a:t>4.461</a:t>
                      </a:r>
                    </a:p>
                  </a:txBody>
                  <a:tcPr>
                    <a:solidFill>
                      <a:srgbClr val="F4F7F8"/>
                    </a:solidFill>
                  </a:tcPr>
                </a:tc>
              </a:tr>
            </a:tbl>
          </a:graphicData>
        </a:graphic>
      </p:graphicFrame>
      <p:sp>
        <p:nvSpPr>
          <p:cNvPr id="8" name="TextBox 7"/>
          <p:cNvSpPr txBox="1"/>
          <p:nvPr/>
        </p:nvSpPr>
        <p:spPr>
          <a:xfrm>
            <a:off x="502920" y="5394960"/>
            <a:ext cx="10972800" cy="457200"/>
          </a:xfrm>
          <a:prstGeom prst="rect">
            <a:avLst/>
          </a:prstGeom>
          <a:noFill/>
        </p:spPr>
        <p:txBody>
          <a:bodyPr wrap="square" lIns="0" rIns="0" tIns="0" bIns="0" anchor="t"/>
          <a:lstStyle/>
          <a:p>
            <a:pPr algn="l"/>
            <a:r>
              <a:rPr sz="1600" b="0" i="0">
                <a:solidFill>
                  <a:srgbClr val="5C6B73"/>
                </a:solidFill>
                <a:latin typeface="Calibri"/>
                <a:ea typeface="Calibri"/>
                <a:cs typeface="Calibri"/>
              </a:rPr>
              <a:t>Nghỉ hưu cộng nghỉ hưu bán thời gian chiếm khoảng 14,2% toàn bộ hồ sơ.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Học vấn theo nhóm tuổi</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11  /  16</a:t>
            </a:r>
          </a:p>
        </p:txBody>
      </p:sp>
      <p:sp>
        <p:nvSpPr>
          <p:cNvPr id="7" name="TextBox 6"/>
          <p:cNvSpPr txBox="1"/>
          <p:nvPr/>
        </p:nvSpPr>
        <p:spPr>
          <a:xfrm>
            <a:off x="411480" y="868680"/>
            <a:ext cx="11338560" cy="320040"/>
          </a:xfrm>
          <a:prstGeom prst="rect">
            <a:avLst/>
          </a:prstGeom>
          <a:noFill/>
        </p:spPr>
        <p:txBody>
          <a:bodyPr wrap="square" lIns="0" rIns="0" tIns="0" bIns="0" anchor="t"/>
          <a:lstStyle/>
          <a:p>
            <a:pPr algn="l"/>
            <a:r>
              <a:rPr sz="1600" b="0" i="0">
                <a:solidFill>
                  <a:srgbClr val="C44900"/>
                </a:solidFill>
                <a:latin typeface="Calibri"/>
                <a:ea typeface="Calibri"/>
                <a:cs typeface="Calibri"/>
              </a:rPr>
              <a:t>18–24: 70,8% trung học phổ thông.   25–34: đại học cao nhất, 27,3%.</a:t>
            </a:r>
          </a:p>
        </p:txBody>
      </p:sp>
      <p:pic>
        <p:nvPicPr>
          <p:cNvPr id="8" name="Picture 7" descr="04_hoc_van.png"/>
          <p:cNvPicPr>
            <a:picLocks noChangeAspect="1"/>
          </p:cNvPicPr>
          <p:nvPr/>
        </p:nvPicPr>
        <p:blipFill>
          <a:blip r:embed="rId2"/>
          <a:stretch>
            <a:fillRect/>
          </a:stretch>
        </p:blipFill>
        <p:spPr>
          <a:xfrm>
            <a:off x="1822786" y="1280160"/>
            <a:ext cx="8546123" cy="49377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Hôn nhân theo tuổi và giới</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12  /  16</a:t>
            </a:r>
          </a:p>
        </p:txBody>
      </p:sp>
      <p:sp>
        <p:nvSpPr>
          <p:cNvPr id="7" name="TextBox 6"/>
          <p:cNvSpPr txBox="1"/>
          <p:nvPr/>
        </p:nvSpPr>
        <p:spPr>
          <a:xfrm>
            <a:off x="411480" y="868680"/>
            <a:ext cx="11338560" cy="320040"/>
          </a:xfrm>
          <a:prstGeom prst="rect">
            <a:avLst/>
          </a:prstGeom>
          <a:noFill/>
        </p:spPr>
        <p:txBody>
          <a:bodyPr wrap="square" lIns="0" rIns="0" tIns="0" bIns="0" anchor="t"/>
          <a:lstStyle/>
          <a:p>
            <a:pPr algn="l"/>
            <a:r>
              <a:rPr sz="1600" b="0" i="0">
                <a:solidFill>
                  <a:srgbClr val="C44900"/>
                </a:solidFill>
                <a:latin typeface="Calibri"/>
                <a:ea typeface="Calibri"/>
                <a:cs typeface="Calibri"/>
              </a:rPr>
              <a:t>18–24 chủ yếu độc thân. Sau 65, nữ góa 48,8%, nam góa 17,2%.</a:t>
            </a:r>
          </a:p>
        </p:txBody>
      </p:sp>
      <p:pic>
        <p:nvPicPr>
          <p:cNvPr id="8" name="Picture 7" descr="05_hon_nhan.png"/>
          <p:cNvPicPr>
            <a:picLocks noChangeAspect="1"/>
          </p:cNvPicPr>
          <p:nvPr/>
        </p:nvPicPr>
        <p:blipFill>
          <a:blip r:embed="rId2"/>
          <a:stretch>
            <a:fillRect/>
          </a:stretch>
        </p:blipFill>
        <p:spPr>
          <a:xfrm>
            <a:off x="518007" y="1280160"/>
            <a:ext cx="11155680" cy="446227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Kỹ năng được ghi nhiều nhất</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13  /  16</a:t>
            </a:r>
          </a:p>
        </p:txBody>
      </p:sp>
      <p:pic>
        <p:nvPicPr>
          <p:cNvPr id="7" name="Picture 6" descr="06_ky_nang.png"/>
          <p:cNvPicPr>
            <a:picLocks noChangeAspect="1"/>
          </p:cNvPicPr>
          <p:nvPr/>
        </p:nvPicPr>
        <p:blipFill>
          <a:blip r:embed="rId2"/>
          <a:stretch>
            <a:fillRect/>
          </a:stretch>
        </p:blipFill>
        <p:spPr>
          <a:xfrm>
            <a:off x="320040" y="1143000"/>
            <a:ext cx="6949440" cy="3822191"/>
          </a:xfrm>
          <a:prstGeom prst="rect">
            <a:avLst/>
          </a:prstGeom>
        </p:spPr>
      </p:pic>
      <p:sp>
        <p:nvSpPr>
          <p:cNvPr id="8" name="TextBox 7"/>
          <p:cNvSpPr txBox="1"/>
          <p:nvPr/>
        </p:nvSpPr>
        <p:spPr>
          <a:xfrm>
            <a:off x="7406640" y="1371600"/>
            <a:ext cx="4389120" cy="4572000"/>
          </a:xfrm>
          <a:prstGeom prst="rect">
            <a:avLst/>
          </a:prstGeom>
          <a:noFill/>
        </p:spPr>
        <p:txBody>
          <a:bodyPr wrap="square">
            <a:spAutoFit/>
          </a:bodyPr>
          <a:lstStyle/>
          <a:p>
            <a:pPr algn="l">
              <a:spcAft>
                <a:spcPts val="1000"/>
              </a:spcAft>
            </a:pPr>
            <a:r>
              <a:rPr sz="1600" b="0" i="0">
                <a:solidFill>
                  <a:srgbClr val="1C1C1C"/>
                </a:solidFill>
                <a:latin typeface="Calibri"/>
                <a:ea typeface="Calibri"/>
                <a:cs typeface="Calibri"/>
              </a:rPr>
              <a:t>Giao tiếp khách hàng: 123.462 lần.</a:t>
            </a:r>
          </a:p>
          <a:p>
            <a:pPr algn="l">
              <a:spcAft>
                <a:spcPts val="1000"/>
              </a:spcAft>
            </a:pPr>
            <a:r>
              <a:rPr sz="1600" b="0" i="0">
                <a:solidFill>
                  <a:srgbClr val="1C1C1C"/>
                </a:solidFill>
                <a:latin typeface="Calibri"/>
                <a:ea typeface="Calibri"/>
                <a:cs typeface="Calibri"/>
              </a:rPr>
              <a:t>Quản lý thời gian: 121.386 lần.</a:t>
            </a:r>
          </a:p>
          <a:p>
            <a:pPr algn="l">
              <a:spcAft>
                <a:spcPts val="1000"/>
              </a:spcAft>
            </a:pPr>
            <a:r>
              <a:rPr sz="1600" b="0" i="0">
                <a:solidFill>
                  <a:srgbClr val="1C1C1C"/>
                </a:solidFill>
                <a:latin typeface="Calibri"/>
                <a:ea typeface="Calibri"/>
                <a:cs typeface="Calibri"/>
              </a:rPr>
              <a:t>Các cụm gần nghĩa đang bị đếm riêng, ví dụ “giao tiếp với khách hàng”.</a:t>
            </a:r>
          </a:p>
          <a:p>
            <a:pPr algn="l">
              <a:spcAft>
                <a:spcPts val="1000"/>
              </a:spcAft>
            </a:pPr>
            <a:r>
              <a:rPr sz="1600" b="0" i="0">
                <a:solidFill>
                  <a:srgbClr val="1C1C1C"/>
                </a:solidFill>
                <a:latin typeface="Calibri"/>
                <a:ea typeface="Calibri"/>
                <a:cs typeface="Calibri"/>
              </a:rPr>
              <a:t>Năm kỹ năng đầu của từng nghề nằm trong file CSV kèm theo.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DuckDB và Pandas</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14  /  16</a:t>
            </a:r>
          </a:p>
        </p:txBody>
      </p:sp>
      <p:sp>
        <p:nvSpPr>
          <p:cNvPr id="7" name="TextBox 6"/>
          <p:cNvSpPr txBox="1"/>
          <p:nvPr/>
        </p:nvSpPr>
        <p:spPr>
          <a:xfrm>
            <a:off x="457200" y="1051560"/>
            <a:ext cx="10972800" cy="365760"/>
          </a:xfrm>
          <a:prstGeom prst="rect">
            <a:avLst/>
          </a:prstGeom>
          <a:noFill/>
        </p:spPr>
        <p:txBody>
          <a:bodyPr wrap="square" lIns="0" rIns="0" tIns="0" bIns="0" anchor="t"/>
          <a:lstStyle/>
          <a:p>
            <a:pPr algn="l"/>
            <a:r>
              <a:rPr sz="1800" b="0" i="0">
                <a:solidFill>
                  <a:srgbClr val="1C1C1C"/>
                </a:solidFill>
                <a:latin typeface="Calibri"/>
                <a:ea typeface="Calibri"/>
                <a:cs typeface="Calibri"/>
              </a:rPr>
              <a:t>Cùng một việc: đọc Parquet và đếm hồ sơ theo vùng × nghề.</a:t>
            </a:r>
          </a:p>
        </p:txBody>
      </p:sp>
      <p:graphicFrame>
        <p:nvGraphicFramePr>
          <p:cNvPr id="8" name="Table 7"/>
          <p:cNvGraphicFramePr>
            <a:graphicFrameLocks noGrp="1"/>
          </p:cNvGraphicFramePr>
          <p:nvPr/>
        </p:nvGraphicFramePr>
        <p:xfrm>
          <a:off x="2194560" y="1737360"/>
          <a:ext cx="7680960" cy="2011680"/>
        </p:xfrm>
        <a:graphic>
          <a:graphicData uri="http://schemas.openxmlformats.org/drawingml/2006/table">
            <a:tbl>
              <a:tblPr firstRow="1" bandRow="1">
                <a:tableStyleId>{5C22544A-7EE6-4342-B048-85BDC9FD1C3A}</a:tableStyleId>
              </a:tblPr>
              <a:tblGrid>
                <a:gridCol w="2560320"/>
                <a:gridCol w="2560320"/>
                <a:gridCol w="2560320"/>
              </a:tblGrid>
              <a:tr h="670560">
                <a:tc>
                  <a:txBody>
                    <a:bodyPr/>
                    <a:lstStyle/>
                    <a:p>
                      <a:pPr algn="ctr"/>
                      <a:r>
                        <a:rPr sz="2000" b="1" i="0">
                          <a:solidFill>
                            <a:srgbClr val="FFFFFF"/>
                          </a:solidFill>
                          <a:latin typeface="Calibri"/>
                          <a:ea typeface="Calibri"/>
                          <a:cs typeface="Calibri"/>
                        </a:rPr>
                        <a:t>Công cụ</a:t>
                      </a:r>
                    </a:p>
                  </a:txBody>
                  <a:tcPr>
                    <a:solidFill>
                      <a:srgbClr val="1F6F8B"/>
                    </a:solidFill>
                  </a:tcPr>
                </a:tc>
                <a:tc>
                  <a:txBody>
                    <a:bodyPr/>
                    <a:lstStyle/>
                    <a:p>
                      <a:pPr algn="ctr"/>
                      <a:r>
                        <a:rPr sz="2000" b="1" i="0">
                          <a:solidFill>
                            <a:srgbClr val="FFFFFF"/>
                          </a:solidFill>
                          <a:latin typeface="Calibri"/>
                          <a:ea typeface="Calibri"/>
                          <a:cs typeface="Calibri"/>
                        </a:rPr>
                        <a:t>Thời gian</a:t>
                      </a:r>
                    </a:p>
                  </a:txBody>
                  <a:tcPr>
                    <a:solidFill>
                      <a:srgbClr val="1F6F8B"/>
                    </a:solidFill>
                  </a:tcPr>
                </a:tc>
                <a:tc>
                  <a:txBody>
                    <a:bodyPr/>
                    <a:lstStyle/>
                    <a:p>
                      <a:pPr algn="ctr"/>
                      <a:r>
                        <a:rPr sz="2000" b="1" i="0">
                          <a:solidFill>
                            <a:srgbClr val="FFFFFF"/>
                          </a:solidFill>
                          <a:latin typeface="Calibri"/>
                          <a:ea typeface="Calibri"/>
                          <a:cs typeface="Calibri"/>
                        </a:rPr>
                        <a:t>Số nhóm</a:t>
                      </a:r>
                    </a:p>
                  </a:txBody>
                  <a:tcPr>
                    <a:solidFill>
                      <a:srgbClr val="1F6F8B"/>
                    </a:solidFill>
                  </a:tcPr>
                </a:tc>
              </a:tr>
              <a:tr h="670560">
                <a:tc>
                  <a:txBody>
                    <a:bodyPr/>
                    <a:lstStyle/>
                    <a:p>
                      <a:pPr algn="ctr"/>
                      <a:r>
                        <a:rPr sz="2000" b="0" i="0">
                          <a:solidFill>
                            <a:srgbClr val="1C1C1C"/>
                          </a:solidFill>
                          <a:latin typeface="Calibri"/>
                          <a:ea typeface="Calibri"/>
                          <a:cs typeface="Calibri"/>
                        </a:rPr>
                        <a:t>DuckDB</a:t>
                      </a:r>
                    </a:p>
                  </a:txBody>
                  <a:tcPr>
                    <a:solidFill>
                      <a:srgbClr val="FFFFFF"/>
                    </a:solidFill>
                  </a:tcPr>
                </a:tc>
                <a:tc>
                  <a:txBody>
                    <a:bodyPr/>
                    <a:lstStyle/>
                    <a:p>
                      <a:pPr algn="ctr"/>
                      <a:r>
                        <a:rPr sz="2000" b="0" i="0">
                          <a:solidFill>
                            <a:srgbClr val="1C1C1C"/>
                          </a:solidFill>
                          <a:latin typeface="Calibri"/>
                          <a:ea typeface="Calibri"/>
                          <a:cs typeface="Calibri"/>
                        </a:rPr>
                        <a:t>0,043 giây</a:t>
                      </a:r>
                    </a:p>
                  </a:txBody>
                  <a:tcPr>
                    <a:solidFill>
                      <a:srgbClr val="FFFFFF"/>
                    </a:solidFill>
                  </a:tcPr>
                </a:tc>
                <a:tc>
                  <a:txBody>
                    <a:bodyPr/>
                    <a:lstStyle/>
                    <a:p>
                      <a:pPr algn="ctr"/>
                      <a:r>
                        <a:rPr sz="2000" b="0" i="0">
                          <a:solidFill>
                            <a:srgbClr val="1C1C1C"/>
                          </a:solidFill>
                          <a:latin typeface="Calibri"/>
                          <a:ea typeface="Calibri"/>
                          <a:cs typeface="Calibri"/>
                        </a:rPr>
                        <a:t>860</a:t>
                      </a:r>
                    </a:p>
                  </a:txBody>
                  <a:tcPr>
                    <a:solidFill>
                      <a:srgbClr val="FFFFFF"/>
                    </a:solidFill>
                  </a:tcPr>
                </a:tc>
              </a:tr>
              <a:tr h="670560">
                <a:tc>
                  <a:txBody>
                    <a:bodyPr/>
                    <a:lstStyle/>
                    <a:p>
                      <a:pPr algn="ctr"/>
                      <a:r>
                        <a:rPr sz="2000" b="0" i="0">
                          <a:solidFill>
                            <a:srgbClr val="1C1C1C"/>
                          </a:solidFill>
                          <a:latin typeface="Calibri"/>
                          <a:ea typeface="Calibri"/>
                          <a:cs typeface="Calibri"/>
                        </a:rPr>
                        <a:t>Pandas</a:t>
                      </a:r>
                    </a:p>
                  </a:txBody>
                  <a:tcPr>
                    <a:solidFill>
                      <a:srgbClr val="FFFFFF"/>
                    </a:solidFill>
                  </a:tcPr>
                </a:tc>
                <a:tc>
                  <a:txBody>
                    <a:bodyPr/>
                    <a:lstStyle/>
                    <a:p>
                      <a:pPr algn="ctr"/>
                      <a:r>
                        <a:rPr sz="2000" b="0" i="0">
                          <a:solidFill>
                            <a:srgbClr val="1C1C1C"/>
                          </a:solidFill>
                          <a:latin typeface="Calibri"/>
                          <a:ea typeface="Calibri"/>
                          <a:cs typeface="Calibri"/>
                        </a:rPr>
                        <a:t>0,249 giây</a:t>
                      </a:r>
                    </a:p>
                  </a:txBody>
                  <a:tcPr>
                    <a:solidFill>
                      <a:srgbClr val="FFFFFF"/>
                    </a:solidFill>
                  </a:tcPr>
                </a:tc>
                <a:tc>
                  <a:txBody>
                    <a:bodyPr/>
                    <a:lstStyle/>
                    <a:p>
                      <a:pPr algn="ctr"/>
                      <a:r>
                        <a:rPr sz="2000" b="0" i="0">
                          <a:solidFill>
                            <a:srgbClr val="1C1C1C"/>
                          </a:solidFill>
                          <a:latin typeface="Calibri"/>
                          <a:ea typeface="Calibri"/>
                          <a:cs typeface="Calibri"/>
                        </a:rPr>
                        <a:t>860</a:t>
                      </a:r>
                    </a:p>
                  </a:txBody>
                  <a:tcPr>
                    <a:solidFill>
                      <a:srgbClr val="FFFFFF"/>
                    </a:solidFill>
                  </a:tcPr>
                </a:tc>
              </a:tr>
            </a:tbl>
          </a:graphicData>
        </a:graphic>
      </p:graphicFrame>
      <p:sp>
        <p:nvSpPr>
          <p:cNvPr id="9" name="TextBox 8"/>
          <p:cNvSpPr txBox="1"/>
          <p:nvPr/>
        </p:nvSpPr>
        <p:spPr>
          <a:xfrm>
            <a:off x="640080" y="4114800"/>
            <a:ext cx="10972800" cy="1371600"/>
          </a:xfrm>
          <a:prstGeom prst="rect">
            <a:avLst/>
          </a:prstGeom>
          <a:noFill/>
        </p:spPr>
        <p:txBody>
          <a:bodyPr wrap="square" lIns="0" rIns="0" tIns="0" bIns="0" anchor="t"/>
          <a:lstStyle/>
          <a:p>
            <a:pPr algn="l"/>
            <a:r>
              <a:rPr sz="2000" b="0" i="0">
                <a:solidFill>
                  <a:srgbClr val="1C1C1C"/>
                </a:solidFill>
                <a:latin typeface="Calibri"/>
                <a:ea typeface="Calibri"/>
                <a:cs typeface="Calibri"/>
              </a:rPr>
              <a:t>DuckDB nhanh hơn khoảng 5,8 lần. Hai bên cùng 860 nhóm, nên kết quả đếm khớp.
Máy chưa có Java, vì vậy bài dùng DuckDB làm công cụ truy vấn trên một laptop.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Điểm cần giữ khi đọc kết quả</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15  /  16</a:t>
            </a:r>
          </a:p>
        </p:txBody>
      </p:sp>
      <p:sp>
        <p:nvSpPr>
          <p:cNvPr id="7" name="TextBox 6"/>
          <p:cNvSpPr txBox="1"/>
          <p:nvPr/>
        </p:nvSpPr>
        <p:spPr>
          <a:xfrm>
            <a:off x="502920" y="1325880"/>
            <a:ext cx="11155680" cy="4572000"/>
          </a:xfrm>
          <a:prstGeom prst="rect">
            <a:avLst/>
          </a:prstGeom>
          <a:noFill/>
        </p:spPr>
        <p:txBody>
          <a:bodyPr wrap="square">
            <a:spAutoFit/>
          </a:bodyPr>
          <a:lstStyle/>
          <a:p>
            <a:pPr algn="l">
              <a:spcAft>
                <a:spcPts val="1000"/>
              </a:spcAft>
            </a:pPr>
            <a:r>
              <a:rPr sz="2200" b="0" i="0">
                <a:solidFill>
                  <a:srgbClr val="1C1C1C"/>
                </a:solidFill>
                <a:latin typeface="Calibri"/>
                <a:ea typeface="Calibri"/>
                <a:cs typeface="Calibri"/>
              </a:rPr>
              <a:t>Tập hồ sơ được sinh ra. Tỷ lệ giới và khu vực được neo theo niên giám, các trường còn lại thì không.</a:t>
            </a:r>
          </a:p>
          <a:p>
            <a:pPr algn="l">
              <a:spcAft>
                <a:spcPts val="1000"/>
              </a:spcAft>
            </a:pPr>
            <a:r>
              <a:rPr sz="2200" b="0" i="0">
                <a:solidFill>
                  <a:srgbClr val="1C1C1C"/>
                </a:solidFill>
                <a:latin typeface="Calibri"/>
                <a:ea typeface="Calibri"/>
                <a:cs typeface="Calibri"/>
              </a:rPr>
              <a:t>“Nghỉ hưu” đứng đầu mọi vùng vì nhãn nghề gồm cả người đã ngừng việc.</a:t>
            </a:r>
          </a:p>
          <a:p>
            <a:pPr algn="l">
              <a:spcAft>
                <a:spcPts val="1000"/>
              </a:spcAft>
            </a:pPr>
            <a:r>
              <a:rPr sz="2200" b="0" i="0">
                <a:solidFill>
                  <a:srgbClr val="1C1C1C"/>
                </a:solidFill>
                <a:latin typeface="Calibri"/>
                <a:ea typeface="Calibri"/>
                <a:cs typeface="Calibri"/>
              </a:rPr>
              <a:t>Kỹ năng đếm theo chuỗi, nên các cách diễn đạt gần nhau bị tách thành nhiều dòng.</a:t>
            </a:r>
          </a:p>
          <a:p>
            <a:pPr algn="l">
              <a:spcAft>
                <a:spcPts val="1000"/>
              </a:spcAft>
            </a:pPr>
            <a:r>
              <a:rPr sz="2200" b="0" i="0">
                <a:solidFill>
                  <a:srgbClr val="1C1C1C"/>
                </a:solidFill>
                <a:latin typeface="Calibri"/>
                <a:ea typeface="Calibri"/>
                <a:cs typeface="Calibri"/>
              </a:rPr>
              <a:t>Hiệu năng mới đo một phép nhóm, trên một máy, mỗi công cụ một lần.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F6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1338560" cy="502920"/>
          </a:xfrm>
          <a:prstGeom prst="rect">
            <a:avLst/>
          </a:prstGeom>
          <a:noFill/>
        </p:spPr>
        <p:txBody>
          <a:bodyPr wrap="square" lIns="0" rIns="0" tIns="0" bIns="0" anchor="t"/>
          <a:lstStyle/>
          <a:p>
            <a:pPr algn="l"/>
            <a:r>
              <a:rPr sz="2800" b="1" i="0">
                <a:solidFill>
                  <a:srgbClr val="1F6F8B"/>
                </a:solidFill>
                <a:latin typeface="Calibri"/>
                <a:ea typeface="Calibri"/>
                <a:cs typeface="Calibri"/>
              </a:rPr>
              <a:t>Kết luận</a:t>
            </a:r>
          </a:p>
        </p:txBody>
      </p:sp>
      <p:sp>
        <p:nvSpPr>
          <p:cNvPr id="5" name="TextBox 4"/>
          <p:cNvSpPr txBox="1"/>
          <p:nvPr/>
        </p:nvSpPr>
        <p:spPr>
          <a:xfrm>
            <a:off x="411480" y="6510528"/>
            <a:ext cx="4114800" cy="256032"/>
          </a:xfrm>
          <a:prstGeom prst="rect">
            <a:avLst/>
          </a:prstGeom>
          <a:noFill/>
        </p:spPr>
        <p:txBody>
          <a:bodyPr wrap="square" lIns="0" rIns="0" tIns="0" bIns="0" anchor="t"/>
          <a:lstStyle/>
          <a:p>
            <a:pPr algn="l"/>
            <a:r>
              <a:rPr sz="1100" b="0" i="0">
                <a:solidFill>
                  <a:srgbClr val="5C6B73"/>
                </a:solidFill>
                <a:latin typeface="Calibri"/>
                <a:ea typeface="Calibri"/>
                <a:cs typeface="Calibri"/>
              </a:rPr>
              <a:t>Dữ liệu lớn</a:t>
            </a:r>
          </a:p>
        </p:txBody>
      </p:sp>
      <p:sp>
        <p:nvSpPr>
          <p:cNvPr id="6" name="TextBox 5"/>
          <p:cNvSpPr txBox="1"/>
          <p:nvPr/>
        </p:nvSpPr>
        <p:spPr>
          <a:xfrm>
            <a:off x="10424160" y="6510528"/>
            <a:ext cx="1371600" cy="256032"/>
          </a:xfrm>
          <a:prstGeom prst="rect">
            <a:avLst/>
          </a:prstGeom>
          <a:noFill/>
        </p:spPr>
        <p:txBody>
          <a:bodyPr wrap="square" lIns="0" rIns="0" tIns="0" bIns="0" anchor="t"/>
          <a:lstStyle/>
          <a:p>
            <a:pPr algn="r"/>
            <a:r>
              <a:rPr sz="1100" b="0" i="0">
                <a:solidFill>
                  <a:srgbClr val="5C6B73"/>
                </a:solidFill>
                <a:latin typeface="Calibri"/>
                <a:ea typeface="Calibri"/>
                <a:cs typeface="Calibri"/>
              </a:rPr>
              <a:t>16  /  16</a:t>
            </a:r>
          </a:p>
        </p:txBody>
      </p:sp>
      <p:sp>
        <p:nvSpPr>
          <p:cNvPr id="7" name="TextBox 6"/>
          <p:cNvSpPr txBox="1"/>
          <p:nvPr/>
        </p:nvSpPr>
        <p:spPr>
          <a:xfrm>
            <a:off x="502920" y="1280160"/>
            <a:ext cx="11155680" cy="4206240"/>
          </a:xfrm>
          <a:prstGeom prst="rect">
            <a:avLst/>
          </a:prstGeom>
          <a:noFill/>
        </p:spPr>
        <p:txBody>
          <a:bodyPr wrap="square">
            <a:spAutoFit/>
          </a:bodyPr>
          <a:lstStyle/>
          <a:p>
            <a:pPr algn="l">
              <a:spcAft>
                <a:spcPts val="1000"/>
              </a:spcAft>
            </a:pPr>
            <a:r>
              <a:rPr sz="2200" b="0" i="0">
                <a:solidFill>
                  <a:srgbClr val="1C1C1C"/>
                </a:solidFill>
                <a:latin typeface="Calibri"/>
                <a:ea typeface="Calibri"/>
                <a:cs typeface="Calibri"/>
              </a:rPr>
              <a:t>Pipeline chạy đủ một triệu dòng, từ 2,1 GB xuống bảng Parquet 39 MB.</a:t>
            </a:r>
          </a:p>
          <a:p>
            <a:pPr algn="l">
              <a:spcAft>
                <a:spcPts val="1000"/>
              </a:spcAft>
            </a:pPr>
            <a:r>
              <a:rPr sz="2200" b="0" i="0">
                <a:solidFill>
                  <a:srgbClr val="1C1C1C"/>
                </a:solidFill>
                <a:latin typeface="Calibri"/>
                <a:ea typeface="Calibri"/>
                <a:cs typeface="Calibri"/>
              </a:rPr>
              <a:t>Nông thôn 61%, Đồng bằng sông Hồng là vùng đông nhất, tuổi tập trung ở 35–44.</a:t>
            </a:r>
          </a:p>
          <a:p>
            <a:pPr algn="l">
              <a:spcAft>
                <a:spcPts val="1000"/>
              </a:spcAft>
            </a:pPr>
            <a:r>
              <a:rPr sz="2200" b="0" i="0">
                <a:solidFill>
                  <a:srgbClr val="1C1C1C"/>
                </a:solidFill>
                <a:latin typeface="Calibri"/>
                <a:ea typeface="Calibri"/>
                <a:cs typeface="Calibri"/>
              </a:rPr>
              <a:t>Nghề chung là nghỉ hưu và tiểu thương; nghề vùng là chè, cà phê, lúa, ngư dân, lập trình.</a:t>
            </a:r>
          </a:p>
          <a:p>
            <a:pPr algn="l">
              <a:spcAft>
                <a:spcPts val="1000"/>
              </a:spcAft>
            </a:pPr>
            <a:r>
              <a:rPr sz="2200" b="0" i="0">
                <a:solidFill>
                  <a:srgbClr val="1C1C1C"/>
                </a:solidFill>
                <a:latin typeface="Calibri"/>
                <a:ea typeface="Calibri"/>
                <a:cs typeface="Calibri"/>
              </a:rPr>
              <a:t>DuckDB và Pandas khớp 860 nhóm. DuckDB hết 0,043 giây, Pandas hết 0,249 giây.</a:t>
            </a:r>
          </a:p>
        </p:txBody>
      </p:sp>
      <p:sp>
        <p:nvSpPr>
          <p:cNvPr id="8" name="TextBox 7"/>
          <p:cNvSpPr txBox="1"/>
          <p:nvPr/>
        </p:nvSpPr>
        <p:spPr>
          <a:xfrm>
            <a:off x="502920" y="5669280"/>
            <a:ext cx="10972800" cy="411480"/>
          </a:xfrm>
          <a:prstGeom prst="rect">
            <a:avLst/>
          </a:prstGeom>
          <a:noFill/>
        </p:spPr>
        <p:txBody>
          <a:bodyPr wrap="square" lIns="0" rIns="0" tIns="0" bIns="0" anchor="t"/>
          <a:lstStyle/>
          <a:p>
            <a:pPr algn="l"/>
            <a:r>
              <a:rPr sz="1800" b="1" i="0">
                <a:solidFill>
                  <a:srgbClr val="1F6F8B"/>
                </a:solidFill>
                <a:latin typeface="Calibri"/>
                <a:ea typeface="Calibri"/>
                <a:cs typeface="Calibri"/>
              </a:rPr>
              <a:t>Chạy lại:  python run.py --skip-extract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phân tích một triệu hồ sơ nhân khẩu Việt Nam</dc:title>
  <dc:subject>Trình bày môn Dữ liệu lớn</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