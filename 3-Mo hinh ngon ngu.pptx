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31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90" r:id="rId32"/>
    <p:sldId id="296" r:id="rId33"/>
    <p:sldId id="297" r:id="rId34"/>
    <p:sldId id="298" r:id="rId35"/>
    <p:sldId id="300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14" r:id="rId44"/>
  </p:sldIdLst>
  <p:sldSz cx="9144000" cy="5143500" type="screen16x9"/>
  <p:notesSz cx="6845300" cy="9396413"/>
  <p:embeddedFontLs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Lucida Sans" panose="020B0602030504020204" pitchFamily="34" charset="0"/>
      <p:regular r:id="rId50"/>
      <p:bold r:id="rId51"/>
      <p:italic r:id="rId52"/>
      <p:boldItalic r:id="rId53"/>
    </p:embeddedFont>
    <p:embeddedFont>
      <p:font typeface="Tahoma" panose="020B0604030504040204" pitchFamily="34" charset="0"/>
      <p:regular r:id="rId54"/>
      <p:bold r:id="rId55"/>
    </p:embeddedFont>
    <p:embeddedFont>
      <p:font typeface="Times" panose="02020603050405020304" pitchFamily="18" charset="0"/>
      <p:regular r:id="rId56"/>
      <p:bold r:id="rId57"/>
      <p:italic r:id="rId58"/>
      <p:boldItalic r:id="rId59"/>
    </p:embeddedFont>
    <p:embeddedFont>
      <p:font typeface="Verdana" panose="020B0604030504040204" pitchFamily="3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1" roundtripDataSignature="AMtx7mic7bqJmXyYN05G2drIjxfpclva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270C627-7776-4321-A1CF-FAA6BDBD6F32}">
  <a:tblStyle styleId="{8270C627-7776-4321-A1CF-FAA6BDBD6F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E6E7"/>
          </a:solidFill>
        </a:fill>
      </a:tcStyle>
    </a:wholeTbl>
    <a:band1H>
      <a:tcTxStyle/>
      <a:tcStyle>
        <a:tcBdr/>
        <a:fill>
          <a:solidFill>
            <a:srgbClr val="E0CA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CA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B2C1C8-698D-49B0-8120-BED21DC291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9771" autoAdjust="0"/>
  </p:normalViewPr>
  <p:slideViewPr>
    <p:cSldViewPr snapToGrid="0">
      <p:cViewPr varScale="1">
        <p:scale>
          <a:sx n="89" d="100"/>
          <a:sy n="89" d="100"/>
        </p:scale>
        <p:origin x="128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63" Type="http://schemas.openxmlformats.org/officeDocument/2006/relationships/font" Target="fonts/font18.fntdata"/><Relationship Id="rId7" Type="http://schemas.openxmlformats.org/officeDocument/2006/relationships/slide" Target="slides/slide6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font" Target="fonts/font16.fntdata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62" Type="http://schemas.openxmlformats.org/officeDocument/2006/relationships/font" Target="fonts/font17.fntdata"/><Relationship Id="rId9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6703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78263" y="0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926513"/>
            <a:ext cx="2967038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vi-VN" b="0" i="0" dirty="0">
              <a:solidFill>
                <a:srgbClr val="27251E"/>
              </a:solidFill>
              <a:effectLst/>
              <a:latin typeface="pplxSerif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5261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Tốt hơn: </a:t>
            </a:r>
            <a:r>
              <a:rPr lang="en-US" sz="2000" b="1">
                <a:solidFill>
                  <a:srgbClr val="CC0033"/>
                </a:solidFill>
                <a:latin typeface="Calibri"/>
                <a:ea typeface="Calibri"/>
                <a:cs typeface="Calibri"/>
                <a:sym typeface="Calibri"/>
              </a:rPr>
              <a:t>ngữ pháp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2" name="Google Shape;172;p10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97" name="Google Shape;19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04" name="Google Shape;20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4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13" name="Google Shape;2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22" name="Google Shape;22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6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29" name="Google Shape;2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7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37" name="Google Shape;2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8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46" name="Google Shape;2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53" name="Google Shape;2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20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60" name="Google Shape;2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1" name="Google Shape;261;p2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68" name="Google Shape;2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9" name="Google Shape;269;p2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75" name="Google Shape;2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6" name="Google Shape;276;p2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84" name="Google Shape;28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5" name="Google Shape;285;p24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98" name="Google Shape;2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6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05" name="Google Shape;3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7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312" name="Google Shape;3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3" name="Google Shape;313;p28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0" name="Google Shape;320;p2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371" name="Google Shape;37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3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1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7" name="Google Shape;417;p4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430" name="Google Shape;43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4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5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471" name="Google Shape;47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2" name="Google Shape;472;p45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7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88" name="Google Shape;488;p47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8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6" name="Google Shape;496;p48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9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5" name="Google Shape;505;p4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0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4" name="Google Shape;514;p50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C(want to) went from 608 to 238,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P(to|want) from .66 to .26!</a:t>
            </a:r>
            <a:endParaRPr/>
          </a:p>
          <a:p>
            <a:pPr marL="0" lvl="0" indent="0" algn="l" rtl="0"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Discount d= c*/c</a:t>
            </a:r>
            <a:endParaRPr/>
          </a:p>
          <a:p>
            <a:pPr marL="45720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 for “chinese food” =.10!!!   A 10x reduction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1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521" name="Google Shape;52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2" name="Google Shape;522;p51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2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528" name="Google Shape;52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p52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3:notes"/>
          <p:cNvSpPr txBox="1">
            <a:spLocks noGrp="1"/>
          </p:cNvSpPr>
          <p:nvPr>
            <p:ph type="sldNum" idx="12"/>
          </p:nvPr>
        </p:nvSpPr>
        <p:spPr>
          <a:xfrm>
            <a:off x="3878263" y="8926513"/>
            <a:ext cx="2967037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36" name="Google Shape;536;p53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9:notes"/>
          <p:cNvSpPr txBox="1">
            <a:spLocks noGrp="1"/>
          </p:cNvSpPr>
          <p:nvPr>
            <p:ph type="body" idx="1"/>
          </p:nvPr>
        </p:nvSpPr>
        <p:spPr>
          <a:xfrm>
            <a:off x="912813" y="4464050"/>
            <a:ext cx="5019675" cy="4227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0513" y="704850"/>
            <a:ext cx="6264275" cy="3524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2"/>
          <p:cNvSpPr txBox="1">
            <a:spLocks noGrp="1"/>
          </p:cNvSpPr>
          <p:nvPr>
            <p:ph type="ctrTitle"/>
          </p:nvPr>
        </p:nvSpPr>
        <p:spPr>
          <a:xfrm>
            <a:off x="2586036" y="510778"/>
            <a:ext cx="3890964" cy="1298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2"/>
          <p:cNvSpPr txBox="1">
            <a:spLocks noGrp="1"/>
          </p:cNvSpPr>
          <p:nvPr>
            <p:ph type="subTitle" idx="1"/>
          </p:nvPr>
        </p:nvSpPr>
        <p:spPr>
          <a:xfrm>
            <a:off x="2586036" y="2876550"/>
            <a:ext cx="38862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SzPts val="2400"/>
              <a:buFont typeface="Time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82"/>
          <p:cNvSpPr txBox="1">
            <a:spLocks noGrp="1"/>
          </p:cNvSpPr>
          <p:nvPr>
            <p:ph type="dt" idx="10"/>
          </p:nvPr>
        </p:nvSpPr>
        <p:spPr>
          <a:xfrm>
            <a:off x="5253036" y="4705350"/>
            <a:ext cx="1219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2"/>
          <p:cNvSpPr txBox="1">
            <a:spLocks noGrp="1"/>
          </p:cNvSpPr>
          <p:nvPr>
            <p:ph type="ftr" idx="11"/>
          </p:nvPr>
        </p:nvSpPr>
        <p:spPr>
          <a:xfrm>
            <a:off x="3348036" y="470535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2"/>
          <p:cNvSpPr txBox="1">
            <a:spLocks noGrp="1"/>
          </p:cNvSpPr>
          <p:nvPr>
            <p:ph type="sldNum" idx="12"/>
          </p:nvPr>
        </p:nvSpPr>
        <p:spPr>
          <a:xfrm>
            <a:off x="2586036" y="4705350"/>
            <a:ext cx="76517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3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3"/>
          <p:cNvSpPr txBox="1">
            <a:spLocks noGrp="1"/>
          </p:cNvSpPr>
          <p:nvPr>
            <p:ph type="dt" idx="10"/>
          </p:nvPr>
        </p:nvSpPr>
        <p:spPr>
          <a:xfrm>
            <a:off x="6858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3"/>
          <p:cNvSpPr txBox="1">
            <a:spLocks noGrp="1"/>
          </p:cNvSpPr>
          <p:nvPr>
            <p:ph type="ftr" idx="11"/>
          </p:nvPr>
        </p:nvSpPr>
        <p:spPr>
          <a:xfrm>
            <a:off x="30480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3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4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4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4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4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5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5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5" name="Google Shape;35;p85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5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5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6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6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3810000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86"/>
          <p:cNvSpPr txBox="1">
            <a:spLocks noGrp="1"/>
          </p:cNvSpPr>
          <p:nvPr>
            <p:ph type="body" idx="2"/>
          </p:nvPr>
        </p:nvSpPr>
        <p:spPr>
          <a:xfrm>
            <a:off x="4267200" y="1314450"/>
            <a:ext cx="3810000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86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6"/>
          <p:cNvSpPr txBox="1">
            <a:spLocks noGrp="1"/>
          </p:cNvSpPr>
          <p:nvPr>
            <p:ph type="ftr" idx="11"/>
          </p:nvPr>
        </p:nvSpPr>
        <p:spPr>
          <a:xfrm>
            <a:off x="26670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6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7"/>
          <p:cNvSpPr txBox="1"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87"/>
          <p:cNvSpPr txBox="1">
            <a:spLocks noGrp="1"/>
          </p:cNvSpPr>
          <p:nvPr>
            <p:ph type="body" idx="2"/>
          </p:nvPr>
        </p:nvSpPr>
        <p:spPr>
          <a:xfrm>
            <a:off x="304800" y="1733550"/>
            <a:ext cx="4040188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87"/>
          <p:cNvSpPr txBox="1">
            <a:spLocks noGrp="1"/>
          </p:cNvSpPr>
          <p:nvPr>
            <p:ph type="body" idx="3"/>
          </p:nvPr>
        </p:nvSpPr>
        <p:spPr>
          <a:xfrm>
            <a:off x="4492626" y="1253728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87"/>
          <p:cNvSpPr txBox="1">
            <a:spLocks noGrp="1"/>
          </p:cNvSpPr>
          <p:nvPr>
            <p:ph type="body" idx="4"/>
          </p:nvPr>
        </p:nvSpPr>
        <p:spPr>
          <a:xfrm>
            <a:off x="4492626" y="1733550"/>
            <a:ext cx="40417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87"/>
          <p:cNvSpPr txBox="1">
            <a:spLocks noGrp="1"/>
          </p:cNvSpPr>
          <p:nvPr>
            <p:ph type="dt" idx="10"/>
          </p:nvPr>
        </p:nvSpPr>
        <p:spPr>
          <a:xfrm>
            <a:off x="62484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7"/>
          <p:cNvSpPr txBox="1">
            <a:spLocks noGrp="1"/>
          </p:cNvSpPr>
          <p:nvPr>
            <p:ph type="ftr" idx="11"/>
          </p:nvPr>
        </p:nvSpPr>
        <p:spPr>
          <a:xfrm>
            <a:off x="28194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7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87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8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8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8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9"/>
          <p:cNvSpPr txBox="1"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89"/>
          <p:cNvSpPr txBox="1">
            <a:spLocks noGrp="1"/>
          </p:cNvSpPr>
          <p:nvPr>
            <p:ph type="body" idx="2"/>
          </p:nvPr>
        </p:nvSpPr>
        <p:spPr>
          <a:xfrm>
            <a:off x="457201" y="2343150"/>
            <a:ext cx="3008313" cy="2251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89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9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9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9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90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0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0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1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1"/>
          <p:cNvSpPr txBox="1">
            <a:spLocks noGrp="1"/>
          </p:cNvSpPr>
          <p:nvPr>
            <p:ph type="body" idx="1"/>
          </p:nvPr>
        </p:nvSpPr>
        <p:spPr>
          <a:xfrm rot="5400000">
            <a:off x="2524125" y="-866775"/>
            <a:ext cx="333375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91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1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1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2"/>
          <p:cNvSpPr txBox="1">
            <a:spLocks noGrp="1"/>
          </p:cNvSpPr>
          <p:nvPr>
            <p:ph type="title"/>
          </p:nvPr>
        </p:nvSpPr>
        <p:spPr>
          <a:xfrm rot="5400000">
            <a:off x="5886450" y="1428750"/>
            <a:ext cx="4400550" cy="21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2"/>
          <p:cNvSpPr txBox="1">
            <a:spLocks noGrp="1"/>
          </p:cNvSpPr>
          <p:nvPr>
            <p:ph type="body" idx="1"/>
          </p:nvPr>
        </p:nvSpPr>
        <p:spPr>
          <a:xfrm rot="5400000">
            <a:off x="1581150" y="-609600"/>
            <a:ext cx="4400550" cy="619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92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2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2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ver Text">
  <p:cSld name="Title and Content over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3"/>
          <p:cNvSpPr txBox="1">
            <a:spLocks noGrp="1"/>
          </p:cNvSpPr>
          <p:nvPr>
            <p:ph type="body" idx="1"/>
          </p:nvPr>
        </p:nvSpPr>
        <p:spPr>
          <a:xfrm>
            <a:off x="304800" y="1314450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93"/>
          <p:cNvSpPr txBox="1">
            <a:spLocks noGrp="1"/>
          </p:cNvSpPr>
          <p:nvPr>
            <p:ph type="body" idx="2"/>
          </p:nvPr>
        </p:nvSpPr>
        <p:spPr>
          <a:xfrm>
            <a:off x="304800" y="3057525"/>
            <a:ext cx="7772400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3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93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3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93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arrow Content">
  <p:cSld name="Title and Narrow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4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94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68580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94"/>
          <p:cNvSpPr txBox="1">
            <a:spLocks noGrp="1"/>
          </p:cNvSpPr>
          <p:nvPr>
            <p:ph type="dt" idx="10"/>
          </p:nvPr>
        </p:nvSpPr>
        <p:spPr>
          <a:xfrm>
            <a:off x="51816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4"/>
          <p:cNvSpPr txBox="1">
            <a:spLocks noGrp="1"/>
          </p:cNvSpPr>
          <p:nvPr>
            <p:ph type="ftr" idx="11"/>
          </p:nvPr>
        </p:nvSpPr>
        <p:spPr>
          <a:xfrm>
            <a:off x="2286000" y="470535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4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letely Blank">
  <p:cSld name="Completely Blank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1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1" name="Google Shape;11;p81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Times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Times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Times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1"/>
          <p:cNvSpPr txBox="1">
            <a:spLocks noGrp="1"/>
          </p:cNvSpPr>
          <p:nvPr>
            <p:ph type="dt" idx="10"/>
          </p:nvPr>
        </p:nvSpPr>
        <p:spPr>
          <a:xfrm>
            <a:off x="60960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3" name="Google Shape;13;p81"/>
          <p:cNvSpPr txBox="1">
            <a:spLocks noGrp="1"/>
          </p:cNvSpPr>
          <p:nvPr>
            <p:ph type="ftr" idx="11"/>
          </p:nvPr>
        </p:nvSpPr>
        <p:spPr>
          <a:xfrm>
            <a:off x="2743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4" name="Google Shape;14;p81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nhquy1208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ech.sri.com/projects/sril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googleresearch.blogspot.com/2006/08/all-our-n-gram-are-belong-to-you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ngrams.googlelabs.com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457200" y="2286000"/>
            <a:ext cx="8153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dirty="0"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SzPts val="3200"/>
              <a:buNone/>
            </a:pPr>
            <a:r>
              <a:rPr lang="en-US" sz="3200" dirty="0" err="1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Giới</a:t>
            </a:r>
            <a:r>
              <a:rPr lang="en-US" sz="3200" dirty="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thiệu</a:t>
            </a:r>
            <a:r>
              <a:rPr lang="en-US" sz="3200" dirty="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về</a:t>
            </a:r>
            <a:r>
              <a:rPr lang="en-US" sz="3200" dirty="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 N-gram</a:t>
            </a: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SzPts val="3200"/>
              <a:buNone/>
            </a:pPr>
            <a:r>
              <a:rPr lang="en-US" sz="3200" dirty="0">
                <a:solidFill>
                  <a:srgbClr val="A50021"/>
                </a:solidFill>
              </a:rPr>
              <a:t>PhD. Hoang Van </a:t>
            </a:r>
            <a:r>
              <a:rPr lang="en-US" sz="3200" dirty="0" err="1">
                <a:solidFill>
                  <a:srgbClr val="A50021"/>
                </a:solidFill>
              </a:rPr>
              <a:t>Quy</a:t>
            </a:r>
            <a:endParaRPr lang="en-US" sz="3200" dirty="0">
              <a:solidFill>
                <a:srgbClr val="A50021"/>
              </a:solidFill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SzPts val="3200"/>
              <a:buNone/>
            </a:pPr>
            <a:r>
              <a:rPr lang="en-US" sz="3200" dirty="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Mail: </a:t>
            </a:r>
            <a:r>
              <a:rPr lang="en-US" sz="3200" dirty="0">
                <a:solidFill>
                  <a:srgbClr val="A50021"/>
                </a:solidFill>
                <a:hlinkClick r:id="rId3"/>
              </a:rPr>
              <a:t>minhquy1208@gmail.com</a:t>
            </a:r>
            <a:r>
              <a:rPr lang="en-US" sz="3200" dirty="0">
                <a:solidFill>
                  <a:srgbClr val="A50021"/>
                </a:solidFill>
              </a:rPr>
              <a:t> 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>
            <a:spLocks noGrp="1"/>
          </p:cNvSpPr>
          <p:nvPr>
            <p:ph type="ctrTitle"/>
          </p:nvPr>
        </p:nvSpPr>
        <p:spPr>
          <a:xfrm>
            <a:off x="762000" y="12001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4400" dirty="0"/>
            </a:br>
            <a:r>
              <a:rPr lang="en-US" sz="4400" dirty="0" err="1"/>
              <a:t>Mô</a:t>
            </a:r>
            <a:r>
              <a:rPr lang="en-US" sz="4400" dirty="0"/>
              <a:t> </a:t>
            </a:r>
            <a:r>
              <a:rPr lang="en-US" sz="4400" dirty="0" err="1"/>
              <a:t>hình</a:t>
            </a:r>
            <a:r>
              <a:rPr lang="en-US" sz="4400" dirty="0"/>
              <a:t> </a:t>
            </a:r>
            <a:r>
              <a:rPr lang="en-US" sz="4400" dirty="0" err="1"/>
              <a:t>hóa</a:t>
            </a:r>
            <a:r>
              <a:rPr lang="en-US" sz="4400" dirty="0"/>
              <a:t> </a:t>
            </a:r>
            <a:r>
              <a:rPr lang="en-US" sz="4400" dirty="0" err="1"/>
              <a:t>ngôn</a:t>
            </a:r>
            <a:r>
              <a:rPr lang="en-US" sz="4400" dirty="0"/>
              <a:t> </a:t>
            </a:r>
            <a:r>
              <a:rPr lang="en-US" sz="4400" dirty="0" err="1"/>
              <a:t>ngữ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endParaRPr dirty="0"/>
          </a:p>
        </p:txBody>
      </p:sp>
      <p:sp>
        <p:nvSpPr>
          <p:cNvPr id="110" name="Google Shape;110;p2"/>
          <p:cNvSpPr txBox="1">
            <a:spLocks noGrp="1"/>
          </p:cNvSpPr>
          <p:nvPr>
            <p:ph type="body" idx="1"/>
          </p:nvPr>
        </p:nvSpPr>
        <p:spPr>
          <a:xfrm>
            <a:off x="611349" y="1352550"/>
            <a:ext cx="8534400" cy="3790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 err="1"/>
              <a:t>Mục</a:t>
            </a:r>
            <a:r>
              <a:rPr lang="en-US" sz="2800" dirty="0"/>
              <a:t> </a:t>
            </a:r>
            <a:r>
              <a:rPr lang="en-US" sz="2800" dirty="0" err="1"/>
              <a:t>tiêu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buổi</a:t>
            </a:r>
            <a:r>
              <a:rPr lang="en-US" sz="2800" dirty="0"/>
              <a:t> </a:t>
            </a:r>
            <a:r>
              <a:rPr lang="en-US" sz="2800" dirty="0" err="1"/>
              <a:t>học</a:t>
            </a:r>
            <a:r>
              <a:rPr lang="en-US" sz="2800" dirty="0"/>
              <a:t>: </a:t>
            </a:r>
            <a:r>
              <a:rPr lang="en-US" sz="2800" dirty="0" err="1"/>
              <a:t>gán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mỗi</a:t>
            </a:r>
            <a:r>
              <a:rPr lang="en-US" sz="2800" dirty="0"/>
              <a:t> </a:t>
            </a:r>
            <a:r>
              <a:rPr lang="en-US" sz="2800" dirty="0" err="1"/>
              <a:t>câu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suất</a:t>
            </a:r>
            <a:endParaRPr sz="2800" dirty="0"/>
          </a:p>
          <a:p>
            <a:pPr marL="1371600" lvl="3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:</a:t>
            </a:r>
            <a:endParaRPr dirty="0"/>
          </a:p>
          <a:p>
            <a:pPr marL="1714500" lvl="4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P(</a:t>
            </a:r>
            <a:r>
              <a:rPr lang="en-US" sz="2000" b="1" dirty="0"/>
              <a:t>high </a:t>
            </a:r>
            <a:r>
              <a:rPr lang="en-US" sz="2000" dirty="0"/>
              <a:t>winds </a:t>
            </a:r>
            <a:r>
              <a:rPr lang="en-US" sz="2000" dirty="0" err="1"/>
              <a:t>tonite</a:t>
            </a:r>
            <a:r>
              <a:rPr lang="en-US" sz="2000" dirty="0"/>
              <a:t>) &gt; P(</a:t>
            </a:r>
            <a:r>
              <a:rPr lang="en-US" sz="2000" b="1" dirty="0"/>
              <a:t>large</a:t>
            </a:r>
            <a:r>
              <a:rPr lang="en-US" sz="2000" dirty="0"/>
              <a:t> winds </a:t>
            </a:r>
            <a:r>
              <a:rPr lang="en-US" sz="2000" dirty="0" err="1"/>
              <a:t>tonite</a:t>
            </a:r>
            <a:r>
              <a:rPr lang="en-US" sz="2000" dirty="0"/>
              <a:t>)</a:t>
            </a:r>
            <a:endParaRPr dirty="0"/>
          </a:p>
          <a:p>
            <a:pPr marL="1371600" lvl="3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/>
              <a:t>Sửa</a:t>
            </a:r>
            <a:r>
              <a:rPr lang="en-US" sz="2400" dirty="0"/>
              <a:t> </a:t>
            </a:r>
            <a:r>
              <a:rPr lang="en-US" sz="2400" dirty="0" err="1"/>
              <a:t>lỗi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:</a:t>
            </a:r>
            <a:endParaRPr dirty="0"/>
          </a:p>
          <a:p>
            <a:pPr marL="1714500" lvl="4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The office is about fifteen </a:t>
            </a:r>
            <a:r>
              <a:rPr lang="en-US" sz="2000" b="1" dirty="0"/>
              <a:t>minuets</a:t>
            </a:r>
            <a:r>
              <a:rPr lang="en-US" sz="2000" dirty="0"/>
              <a:t> from my house</a:t>
            </a:r>
            <a:endParaRPr dirty="0"/>
          </a:p>
          <a:p>
            <a:pPr marL="2171700" lvl="5" indent="-2286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 dirty="0"/>
              <a:t>P(about fifteen </a:t>
            </a:r>
            <a:r>
              <a:rPr lang="en-US" sz="1800" b="1" dirty="0"/>
              <a:t>minutes</a:t>
            </a:r>
            <a:r>
              <a:rPr lang="en-US" sz="1800" dirty="0"/>
              <a:t> from) &gt; P(about fifteen </a:t>
            </a:r>
            <a:r>
              <a:rPr lang="en-US" sz="1800" b="1" dirty="0"/>
              <a:t>minuets</a:t>
            </a:r>
            <a:r>
              <a:rPr lang="en-US" sz="1800" dirty="0"/>
              <a:t> from)</a:t>
            </a:r>
            <a:endParaRPr sz="2000" dirty="0"/>
          </a:p>
          <a:p>
            <a:pPr marL="1371600" lvl="3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tiếng</a:t>
            </a:r>
            <a:r>
              <a:rPr lang="en-US" sz="2400" dirty="0"/>
              <a:t> </a:t>
            </a:r>
            <a:r>
              <a:rPr lang="en-US" sz="2400" dirty="0" err="1"/>
              <a:t>nói</a:t>
            </a:r>
            <a:r>
              <a:rPr lang="en-US" sz="2400" dirty="0"/>
              <a:t>:</a:t>
            </a:r>
            <a:endParaRPr dirty="0"/>
          </a:p>
          <a:p>
            <a:pPr marL="1714500" lvl="4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P(I saw a van) &gt;&gt; P(eyes awe of an)</a:t>
            </a:r>
            <a:endParaRPr dirty="0"/>
          </a:p>
          <a:p>
            <a:pPr marL="1371600" lvl="3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/>
              <a:t>Tóm</a:t>
            </a:r>
            <a:r>
              <a:rPr lang="en-US" sz="2400" dirty="0"/>
              <a:t> </a:t>
            </a:r>
            <a:r>
              <a:rPr lang="en-US" sz="2400" dirty="0" err="1"/>
              <a:t>tắt</a:t>
            </a:r>
            <a:r>
              <a:rPr lang="en-US" sz="2400" dirty="0"/>
              <a:t> </a:t>
            </a:r>
            <a:r>
              <a:rPr lang="en-US" sz="2400" dirty="0" err="1"/>
              <a:t>văn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, </a:t>
            </a:r>
            <a:r>
              <a:rPr lang="en-US" sz="2400" dirty="0" err="1"/>
              <a:t>hỏi</a:t>
            </a:r>
            <a:r>
              <a:rPr lang="en-US" sz="2400" dirty="0"/>
              <a:t> </a:t>
            </a:r>
            <a:r>
              <a:rPr lang="en-US" sz="2400" dirty="0" err="1"/>
              <a:t>đáp</a:t>
            </a:r>
            <a:r>
              <a:rPr lang="en-US" dirty="0"/>
              <a:t>, …!!</a:t>
            </a:r>
            <a:endParaRPr sz="2000" dirty="0"/>
          </a:p>
        </p:txBody>
      </p:sp>
      <p:sp>
        <p:nvSpPr>
          <p:cNvPr id="111" name="Google Shape;111;p2"/>
          <p:cNvSpPr txBox="1"/>
          <p:nvPr/>
        </p:nvSpPr>
        <p:spPr>
          <a:xfrm>
            <a:off x="304800" y="2800350"/>
            <a:ext cx="102168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D63F0-1A69-4875-8EA2-CB0653A72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799200"/>
            <a:ext cx="8752936" cy="3887100"/>
          </a:xfrm>
        </p:spPr>
        <p:txBody>
          <a:bodyPr/>
          <a:lstStyle/>
          <a:p>
            <a:pPr marL="114300" indent="0" algn="l">
              <a:spcBef>
                <a:spcPts val="0"/>
              </a:spcBef>
              <a:buNone/>
            </a:pPr>
            <a:r>
              <a:rPr lang="en-US" b="1" i="0" dirty="0">
                <a:solidFill>
                  <a:srgbClr val="27251E"/>
                </a:solidFill>
                <a:effectLst/>
                <a:latin typeface="pplxSerif"/>
              </a:rPr>
              <a:t>X</a:t>
            </a:r>
            <a:r>
              <a:rPr lang="vi-VN" b="1" i="0" dirty="0">
                <a:solidFill>
                  <a:srgbClr val="27251E"/>
                </a:solidFill>
                <a:effectLst/>
                <a:latin typeface="pplxSerif"/>
              </a:rPr>
              <a:t>ử lý tiếng Việt với mô hình ngôn ngữ</a:t>
            </a:r>
            <a:endParaRPr lang="vi-VN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Sửa lỗi chính tả:</a:t>
            </a:r>
          </a:p>
          <a:p>
            <a:pPr marL="742950" lvl="1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“Hôm nay trời rất </a:t>
            </a:r>
            <a:r>
              <a:rPr lang="vi-VN" b="1" i="0" dirty="0">
                <a:solidFill>
                  <a:srgbClr val="27251E"/>
                </a:solidFill>
                <a:effectLst/>
                <a:latin typeface="pplxSerif"/>
              </a:rPr>
              <a:t>đep</a:t>
            </a: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”</a:t>
            </a:r>
          </a:p>
          <a:p>
            <a:pPr marL="742950" lvl="1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Sosánh: </a:t>
            </a:r>
            <a:r>
              <a:rPr lang="vi-VN" b="0" i="0" dirty="0">
                <a:solidFill>
                  <a:srgbClr val="27251E"/>
                </a:solidFill>
                <a:effectLst/>
                <a:latin typeface="KaTeX_Main"/>
              </a:rPr>
              <a:t>P(trời </a:t>
            </a:r>
            <a:r>
              <a:rPr lang="en-US" b="0" i="0" dirty="0" err="1">
                <a:solidFill>
                  <a:srgbClr val="27251E"/>
                </a:solidFill>
                <a:effectLst/>
                <a:latin typeface="KaTeX_Main"/>
              </a:rPr>
              <a:t>rất</a:t>
            </a:r>
            <a:r>
              <a:rPr lang="vi-VN" b="0" i="0" dirty="0">
                <a:solidFill>
                  <a:srgbClr val="27251E"/>
                </a:solidFill>
                <a:effectLst/>
                <a:latin typeface="KaTeX_Main"/>
              </a:rPr>
              <a:t> đẹp)&gt;P(trời r</a:t>
            </a:r>
            <a:r>
              <a:rPr lang="en-US" b="0" i="0" dirty="0">
                <a:solidFill>
                  <a:srgbClr val="27251E"/>
                </a:solidFill>
                <a:effectLst/>
                <a:latin typeface="KaTeX_Main"/>
              </a:rPr>
              <a:t>ấ</a:t>
            </a:r>
            <a:r>
              <a:rPr lang="vi-VN" b="0" i="0" dirty="0">
                <a:solidFill>
                  <a:srgbClr val="27251E"/>
                </a:solidFill>
                <a:effectLst/>
                <a:latin typeface="KaTeX_Main"/>
              </a:rPr>
              <a:t>t đep)</a:t>
            </a:r>
            <a:endParaRPr lang="vi-VN" b="0" i="0" dirty="0">
              <a:solidFill>
                <a:srgbClr val="27251E"/>
              </a:solidFill>
              <a:effectLst/>
              <a:latin typeface="pplxSerif"/>
            </a:endParaRP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Gõ tiếng Việt / dự đoán từ tiếp theo:</a:t>
            </a:r>
          </a:p>
          <a:p>
            <a:pPr marL="742950" lvl="1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“Tôi đang học xử lý …”</a:t>
            </a:r>
          </a:p>
          <a:p>
            <a:pPr marL="742950" lvl="1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Mô hình ưu tiên: “ngôn ngữ tự nhiên”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Tách từ:</a:t>
            </a:r>
          </a:p>
          <a:p>
            <a:pPr marL="742950" lvl="1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“sinh viên năm nhất”</a:t>
            </a:r>
          </a:p>
          <a:p>
            <a:pPr marL="742950" lvl="1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So sánh cách hiểu: “sinh_viên | năm_nhất” hợp lý hơn các tách ngẫu nhiên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Nhận dạng tiếng nói:</a:t>
            </a:r>
          </a:p>
          <a:p>
            <a:pPr marL="742950" lvl="1" indent="-28575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solidFill>
                  <a:srgbClr val="27251E"/>
                </a:solidFill>
                <a:effectLst/>
                <a:latin typeface="pplxSerif"/>
              </a:rPr>
              <a:t>“em đi học” có xác suất cao hơn chuỗi âm gần giống nhưng vô nghĩa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58524-8594-4DCA-A0BC-EE16D98231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Google Shape;109;p2">
            <a:extLst>
              <a:ext uri="{FF2B5EF4-FFF2-40B4-BE49-F238E27FC236}">
                <a16:creationId xmlns:a16="http://schemas.microsoft.com/office/drawing/2014/main" id="{2FB25F13-6B95-4D2D-8F63-4507AE6159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85725"/>
            <a:ext cx="8534400" cy="5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9645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ngôn ngữ xác suất</a:t>
            </a:r>
            <a:endParaRPr/>
          </a:p>
        </p:txBody>
      </p:sp>
      <p:sp>
        <p:nvSpPr>
          <p:cNvPr id="118" name="Google Shape;118;p3"/>
          <p:cNvSpPr txBox="1">
            <a:spLocks noGrp="1"/>
          </p:cNvSpPr>
          <p:nvPr>
            <p:ph type="body" idx="1"/>
          </p:nvPr>
        </p:nvSpPr>
        <p:spPr>
          <a:xfrm>
            <a:off x="304800" y="12763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Mục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tiêu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tính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xác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suất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của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một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câu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hay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một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chuỗi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các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từ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P(W) = P(w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lang="en-US" sz="1800" dirty="0" err="1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1800" baseline="-25000" dirty="0" err="1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Tác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vụ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có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liên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quan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xác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su</a:t>
            </a:r>
            <a:r>
              <a:rPr lang="en-US" dirty="0" err="1"/>
              <a:t>ấ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của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từ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xuất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hiện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kế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tiếp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     P(w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|w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Mô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hình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tính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một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trong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hai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thứ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trên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:</a:t>
            </a:r>
            <a:endParaRPr dirty="0"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          P(W)     hay     P(w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|w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…w</a:t>
            </a:r>
            <a:r>
              <a:rPr lang="en-US" sz="1800" baseline="-25000" dirty="0"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)         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được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gọi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là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mô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hình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ngôn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ngữ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1" dirty="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language model)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 b="1" dirty="0">
                <a:solidFill>
                  <a:srgbClr val="CC0033"/>
                </a:solidFill>
              </a:rPr>
              <a:t>L</a:t>
            </a:r>
            <a:r>
              <a:rPr lang="en-US" sz="2000" b="1" dirty="0">
                <a:solidFill>
                  <a:srgbClr val="CC0033"/>
                </a:solidFill>
                <a:latin typeface="Calibri"/>
                <a:ea typeface="Calibri"/>
                <a:cs typeface="Calibri"/>
                <a:sym typeface="Calibri"/>
              </a:rPr>
              <a:t>anguage model 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hay </a:t>
            </a:r>
            <a:r>
              <a:rPr lang="en-US" sz="2000" b="1" dirty="0">
                <a:solidFill>
                  <a:srgbClr val="CC0033"/>
                </a:solidFill>
                <a:latin typeface="Calibri"/>
                <a:ea typeface="Calibri"/>
                <a:cs typeface="Calibri"/>
                <a:sym typeface="Calibri"/>
              </a:rPr>
              <a:t>LM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là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từ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latin typeface="Calibri"/>
                <a:ea typeface="Calibri"/>
                <a:cs typeface="Calibri"/>
                <a:sym typeface="Calibri"/>
              </a:rPr>
              <a:t>chuẩn</a:t>
            </a:r>
            <a:endParaRPr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Tính P(W) bằng cách nào?</a:t>
            </a:r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Làm thế nào để tính xác suất kết hợp (joint probability):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P(its, water, is, so, transparent, that)</a:t>
            </a:r>
            <a:endParaRPr/>
          </a:p>
          <a:p>
            <a:pPr marL="685800" lvl="1" indent="-10160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Ý tưởng đầu tiên: hãy sử dụng Luật dây chuyền (Chain Rule) của xác suất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Nhắc lại: Chain Rule</a:t>
            </a:r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Nhắc lại định nghĩa xác suất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Nhiều biến hơn:</a:t>
            </a:r>
            <a:endParaRPr/>
          </a:p>
          <a:p>
            <a:pPr marL="457200" lvl="1" indent="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P(A,B,C,D) = P(A)P(B|A)P(C|A,B)P(D|A,B,C)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Chain Rule trong trường hợp tổng quát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 P(x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,…,x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 = P(x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)P(x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|x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)P(x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|x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)…P(x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|x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,…,x</a:t>
            </a:r>
            <a:r>
              <a:rPr lang="en-US" sz="2800" baseline="-25000"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Ứng dụng Chain Rule để tính xác suất kết hợp của các từ trong câu</a:t>
            </a:r>
            <a:endParaRPr sz="3600"/>
          </a:p>
        </p:txBody>
      </p:sp>
      <p:sp>
        <p:nvSpPr>
          <p:cNvPr id="139" name="Google Shape;139;p6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P(“its water is so transparent”) =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400"/>
              <a:buFont typeface="Times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P(its) × P(water|its) ×  P(is|its water)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Font typeface="Times"/>
              <a:buNone/>
            </a:pPr>
            <a:r>
              <a:rPr lang="en-US" sz="2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       ×  P(so|its water is) ×  P(transparent|its water is so)</a:t>
            </a:r>
            <a:endParaRPr/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1809750"/>
            <a:ext cx="6553200" cy="979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Làm sao để ước lượng những xác suất này?</a:t>
            </a:r>
            <a:endParaRPr/>
          </a:p>
        </p:txBody>
      </p:sp>
      <p:sp>
        <p:nvSpPr>
          <p:cNvPr id="147" name="Google Shape;147;p7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Chúng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ta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có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thể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chỉ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cần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đếm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chia?</a:t>
            </a:r>
            <a:endParaRPr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Không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thể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!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Quá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nhiều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câu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khả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dĩ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!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Chúng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ta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không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bao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giờ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  <a:sym typeface="Calibri"/>
              </a:rPr>
              <a:t>có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đủ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dữ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liệu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để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ước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latin typeface="Calibri"/>
                <a:ea typeface="Calibri"/>
                <a:cs typeface="Calibri"/>
                <a:sym typeface="Calibri"/>
              </a:rPr>
              <a:t>lượng</a:t>
            </a:r>
            <a:r>
              <a:rPr lang="en-US" dirty="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10160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1" y="2209801"/>
            <a:ext cx="6019800" cy="1678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>
            <a:spLocks noGrp="1"/>
          </p:cNvSpPr>
          <p:nvPr>
            <p:ph type="title"/>
          </p:nvPr>
        </p:nvSpPr>
        <p:spPr>
          <a:xfrm>
            <a:off x="304800" y="28575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Giả định Markov</a:t>
            </a:r>
            <a:endParaRPr/>
          </a:p>
        </p:txBody>
      </p:sp>
      <p:sp>
        <p:nvSpPr>
          <p:cNvPr id="155" name="Google Shape;155;p8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Giả định đơn giản hóa:</a:t>
            </a:r>
            <a:endParaRPr/>
          </a:p>
          <a:p>
            <a:pPr marL="457200" lvl="1" indent="0" algn="l" rtl="0">
              <a:spcBef>
                <a:spcPts val="720"/>
              </a:spcBef>
              <a:spcAft>
                <a:spcPts val="0"/>
              </a:spcAft>
              <a:buSzPts val="3600"/>
              <a:buNone/>
            </a:pP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l" rtl="0"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 sz="3200"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SzPts val="3600"/>
              <a:buChar char="•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Hoặc có thể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2471251"/>
            <a:ext cx="7696200" cy="101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4182281"/>
            <a:ext cx="8915400" cy="961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 descr="225px-AAMarkov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6600" y="133350"/>
            <a:ext cx="1475075" cy="19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7169180" y="1928396"/>
            <a:ext cx="14414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Andrei Markov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>
            <a:spLocks noGrp="1"/>
          </p:cNvSpPr>
          <p:nvPr>
            <p:ph type="title"/>
          </p:nvPr>
        </p:nvSpPr>
        <p:spPr>
          <a:xfrm>
            <a:off x="304800" y="28575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Giả định Markov</a:t>
            </a:r>
            <a:endParaRPr/>
          </a:p>
        </p:txBody>
      </p:sp>
      <p:sp>
        <p:nvSpPr>
          <p:cNvPr id="166" name="Google Shape;166;p9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14300" algn="l" rtl="0"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360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 sz="320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Nói cách khác, chúng ta xấp xỉ mỗi thành phần trong tích: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SzPts val="3600"/>
              <a:buNone/>
            </a:pP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0" algn="l" rtl="0">
              <a:spcBef>
                <a:spcPts val="720"/>
              </a:spcBef>
              <a:spcAft>
                <a:spcPts val="0"/>
              </a:spcAft>
              <a:buSzPts val="3600"/>
              <a:buNone/>
            </a:pPr>
            <a:endParaRPr sz="3600"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428750"/>
            <a:ext cx="7104063" cy="1087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750" y="3790950"/>
            <a:ext cx="8604250" cy="63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endParaRPr sz="2400">
              <a:solidFill>
                <a:srgbClr val="5400A8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endParaRPr sz="2400">
              <a:solidFill>
                <a:srgbClr val="5400A8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endParaRPr sz="2400">
              <a:solidFill>
                <a:srgbClr val="5400A8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endParaRPr sz="2400">
              <a:solidFill>
                <a:srgbClr val="5400A8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10"/>
          <p:cNvSpPr txBox="1">
            <a:spLocks noGrp="1"/>
          </p:cNvSpPr>
          <p:nvPr>
            <p:ph type="title"/>
          </p:nvPr>
        </p:nvSpPr>
        <p:spPr>
          <a:xfrm>
            <a:off x="228600" y="133350"/>
            <a:ext cx="8610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Trường hợp đơn giản nhất: Mô hình Unigram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685800" y="2792670"/>
            <a:ext cx="8077200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fifth, an, of, futures, the, an, incorporated, a, a, the, inflation, most, dollars, quarter, in, is, mass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thrift, did, eighty, said, hard, 'm, july, bullish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that, or, limited, the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228600" y="2247840"/>
            <a:ext cx="586160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Một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số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câu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được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tạo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sinh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tự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động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từ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mô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hình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unigram</a:t>
            </a:r>
            <a:endParaRPr dirty="0"/>
          </a:p>
        </p:txBody>
      </p:sp>
      <p:pic>
        <p:nvPicPr>
          <p:cNvPr id="178" name="Google Shape;17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1123950"/>
            <a:ext cx="4648200" cy="104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762000" y="1257300"/>
            <a:ext cx="77724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Điều kiện trên từ đứng trước: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800100" marR="0" lvl="1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rgbClr val="5400A8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endParaRPr sz="2400">
              <a:solidFill>
                <a:srgbClr val="5400A8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endParaRPr sz="2400">
              <a:solidFill>
                <a:srgbClr val="5400A8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" name="Google Shape;185;p11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Bigram</a:t>
            </a:r>
            <a:endParaRPr/>
          </a:p>
        </p:txBody>
      </p:sp>
      <p:sp>
        <p:nvSpPr>
          <p:cNvPr id="186" name="Google Shape;186;p11"/>
          <p:cNvSpPr txBox="1"/>
          <p:nvPr/>
        </p:nvSpPr>
        <p:spPr>
          <a:xfrm>
            <a:off x="228600" y="2778026"/>
            <a:ext cx="8610600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texaco, rose, one, in, this, issue, is, pursuing, growth, in, a, boiler, house, said, mr., gurria, mexico, 's, motion, control, proposal, without, permission, from, five, hundred, fifty, five, yen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outside, new, car, parking, lot, of, the, agreement, reached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this, would, be, a, record, november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187" name="Google Shape;18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885950"/>
            <a:ext cx="6745287" cy="596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Mô hình N-gram khác</a:t>
            </a:r>
            <a:endParaRPr/>
          </a:p>
        </p:txBody>
      </p:sp>
      <p:sp>
        <p:nvSpPr>
          <p:cNvPr id="194" name="Google Shape;194;p12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sang trigrams, 4-grams, 5-grams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endParaRPr dirty="0"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xa</a:t>
            </a:r>
            <a:r>
              <a:rPr lang="en-US" dirty="0"/>
              <a:t> </a:t>
            </a:r>
            <a:r>
              <a:rPr lang="en-US" b="1" dirty="0">
                <a:solidFill>
                  <a:srgbClr val="008000"/>
                </a:solidFill>
              </a:rPr>
              <a:t>long-distance dependencies</a:t>
            </a:r>
            <a:r>
              <a:rPr lang="en-US" dirty="0"/>
              <a:t>:</a:t>
            </a:r>
            <a:endParaRPr dirty="0"/>
          </a:p>
          <a:p>
            <a:pPr marL="457200" lvl="1" indent="0" algn="l" rtl="0">
              <a:spcBef>
                <a:spcPts val="140"/>
              </a:spcBef>
              <a:spcAft>
                <a:spcPts val="0"/>
              </a:spcAft>
              <a:buSzPts val="700"/>
              <a:buNone/>
            </a:pPr>
            <a:endParaRPr sz="700" dirty="0"/>
          </a:p>
          <a:p>
            <a:pPr marL="457200" lvl="1" indent="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“The computer which I had just put into the machine room on the fifth floor crashed.”</a:t>
            </a:r>
            <a:endParaRPr dirty="0"/>
          </a:p>
          <a:p>
            <a:pPr marL="685800" lvl="1" indent="-184150" algn="l" rtl="0">
              <a:spcBef>
                <a:spcPts val="140"/>
              </a:spcBef>
              <a:spcAft>
                <a:spcPts val="0"/>
              </a:spcAft>
              <a:buSzPts val="700"/>
              <a:buNone/>
            </a:pPr>
            <a:endParaRPr sz="7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N-gram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>
            <a:spLocks noGrp="1"/>
          </p:cNvSpPr>
          <p:nvPr>
            <p:ph type="subTitle" idx="1"/>
          </p:nvPr>
        </p:nvSpPr>
        <p:spPr>
          <a:xfrm>
            <a:off x="533400" y="2286000"/>
            <a:ext cx="8077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Ước lượng xác suất N-gram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ctrTitle"/>
          </p:nvPr>
        </p:nvSpPr>
        <p:spPr>
          <a:xfrm>
            <a:off x="762000" y="12001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Mô hình hóa ngôn ngữ</a:t>
            </a:r>
            <a:endParaRPr sz="4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Ước lượng xác suất bigram</a:t>
            </a:r>
            <a:endParaRPr/>
          </a:p>
        </p:txBody>
      </p:sp>
      <p:sp>
        <p:nvSpPr>
          <p:cNvPr id="208" name="Google Shape;208;p14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Ước lượng Maximum Likelihood</a:t>
            </a:r>
            <a:endParaRPr/>
          </a:p>
        </p:txBody>
      </p:sp>
      <p:pic>
        <p:nvPicPr>
          <p:cNvPr id="209" name="Google Shape;20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1986333"/>
            <a:ext cx="5410200" cy="12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9964" y="3815133"/>
            <a:ext cx="4587816" cy="1253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>
            <a:spLocks noGrp="1"/>
          </p:cNvSpPr>
          <p:nvPr>
            <p:ph type="title"/>
          </p:nvPr>
        </p:nvSpPr>
        <p:spPr>
          <a:xfrm>
            <a:off x="381000" y="205978"/>
            <a:ext cx="8382000" cy="689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Ví dụ</a:t>
            </a:r>
            <a:endParaRPr/>
          </a:p>
        </p:txBody>
      </p:sp>
      <p:sp>
        <p:nvSpPr>
          <p:cNvPr id="217" name="Google Shape;217;p15"/>
          <p:cNvSpPr txBox="1">
            <a:spLocks noGrp="1"/>
          </p:cNvSpPr>
          <p:nvPr>
            <p:ph type="body" idx="1"/>
          </p:nvPr>
        </p:nvSpPr>
        <p:spPr>
          <a:xfrm>
            <a:off x="3886200" y="1352550"/>
            <a:ext cx="54102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&lt;s&gt; I am Sam &lt;/s&gt;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&lt;s&gt; Sam I am &lt;/s&gt;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&lt;s&gt; I do not like green eggs and ham &lt;/s&gt;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15" descr="sam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3295782"/>
            <a:ext cx="8763000" cy="952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1553694"/>
            <a:ext cx="3429000" cy="937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>
            <a:spLocks noGrp="1"/>
          </p:cNvSpPr>
          <p:nvPr>
            <p:ph type="title"/>
          </p:nvPr>
        </p:nvSpPr>
        <p:spPr>
          <a:xfrm>
            <a:off x="304800" y="36195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Ví dụ: </a:t>
            </a:r>
            <a:br>
              <a:rPr lang="en-US"/>
            </a:br>
            <a:r>
              <a:rPr lang="en-US"/>
              <a:t>Một số câu trong Dự án Berkeley Restaurant</a:t>
            </a:r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body" idx="1"/>
          </p:nvPr>
        </p:nvSpPr>
        <p:spPr>
          <a:xfrm>
            <a:off x="304800" y="1676400"/>
            <a:ext cx="86868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rgbClr val="330099"/>
                </a:solidFill>
                <a:latin typeface="Calibri"/>
                <a:ea typeface="Calibri"/>
                <a:cs typeface="Calibri"/>
                <a:sym typeface="Calibri"/>
              </a:rPr>
              <a:t>can you tell me about any good cantonese restaurants close by</a:t>
            </a:r>
            <a:endParaRPr/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rgbClr val="330099"/>
                </a:solidFill>
                <a:latin typeface="Calibri"/>
                <a:ea typeface="Calibri"/>
                <a:cs typeface="Calibri"/>
                <a:sym typeface="Calibri"/>
              </a:rPr>
              <a:t>mid priced thai food is what i’m looking for</a:t>
            </a:r>
            <a:endParaRPr/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rgbClr val="330099"/>
                </a:solidFill>
                <a:latin typeface="Calibri"/>
                <a:ea typeface="Calibri"/>
                <a:cs typeface="Calibri"/>
                <a:sym typeface="Calibri"/>
              </a:rPr>
              <a:t>tell me about chez panisse</a:t>
            </a:r>
            <a:endParaRPr sz="2500">
              <a:solidFill>
                <a:srgbClr val="33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rgbClr val="330099"/>
                </a:solidFill>
                <a:latin typeface="Calibri"/>
                <a:ea typeface="Calibri"/>
                <a:cs typeface="Calibri"/>
                <a:sym typeface="Calibri"/>
              </a:rPr>
              <a:t>can you give me a listing of the kinds of food that are available</a:t>
            </a:r>
            <a:endParaRPr/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rgbClr val="330099"/>
                </a:solidFill>
                <a:latin typeface="Calibri"/>
                <a:ea typeface="Calibri"/>
                <a:cs typeface="Calibri"/>
                <a:sym typeface="Calibri"/>
              </a:rPr>
              <a:t>i’m looking for a good place to eat breakfast</a:t>
            </a:r>
            <a:endParaRPr/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SzPts val="2500"/>
              <a:buChar char="•"/>
            </a:pPr>
            <a:r>
              <a:rPr lang="en-US" sz="2500">
                <a:solidFill>
                  <a:srgbClr val="330099"/>
                </a:solidFill>
                <a:latin typeface="Calibri"/>
                <a:ea typeface="Calibri"/>
                <a:cs typeface="Calibri"/>
                <a:sym typeface="Calibri"/>
              </a:rPr>
              <a:t>when is caffe venezia open during the day</a:t>
            </a:r>
            <a:endParaRPr sz="2500">
              <a:solidFill>
                <a:srgbClr val="33009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>
            <a:spLocks noGrp="1"/>
          </p:cNvSpPr>
          <p:nvPr>
            <p:ph type="title"/>
          </p:nvPr>
        </p:nvSpPr>
        <p:spPr>
          <a:xfrm>
            <a:off x="304800" y="2286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Đếm các bigram</a:t>
            </a:r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body" idx="1"/>
          </p:nvPr>
        </p:nvSpPr>
        <p:spPr>
          <a:xfrm>
            <a:off x="304800" y="12763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9222 câu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7" descr="ber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1755775"/>
            <a:ext cx="9067800" cy="32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Đếm các bigram</a:t>
            </a:r>
            <a:endParaRPr/>
          </a:p>
        </p:txBody>
      </p:sp>
      <p:sp>
        <p:nvSpPr>
          <p:cNvPr id="241" name="Google Shape;241;p18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Chuẩn hóa bằng số lượng unigram:</a:t>
            </a:r>
            <a:endParaRPr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18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Kết quả:</a:t>
            </a:r>
            <a:endParaRPr/>
          </a:p>
        </p:txBody>
      </p:sp>
      <p:pic>
        <p:nvPicPr>
          <p:cNvPr id="242" name="Google Shape;242;p18" descr="ber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400" y="2635366"/>
            <a:ext cx="7010400" cy="2484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 descr="ber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00" y="1733550"/>
            <a:ext cx="6718300" cy="617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Ước lượng bigram cho xác suất của câu</a:t>
            </a:r>
            <a:endParaRPr/>
          </a:p>
        </p:txBody>
      </p:sp>
      <p:sp>
        <p:nvSpPr>
          <p:cNvPr id="250" name="Google Shape;250;p19"/>
          <p:cNvSpPr txBox="1">
            <a:spLocks noGrp="1"/>
          </p:cNvSpPr>
          <p:nvPr>
            <p:ph type="body" idx="1"/>
          </p:nvPr>
        </p:nvSpPr>
        <p:spPr>
          <a:xfrm>
            <a:off x="6096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P(&lt;s&gt; I want english food &lt;/s&gt;) =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P(I|&lt;s&gt;)  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	×  P(want|I) 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×  P(english|want)  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×  P(food|english)   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	×  P(&lt;/s&gt;|food)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      =  .000031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Những loại tri thức gì?</a:t>
            </a:r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P(english|want)  = .0011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P(chinese|want) =  .0065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P(to|want) = .66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P(eat | to) = .28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P(food | to) = 0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P(want | spend) = 0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 (i | &lt;s&gt;) = .25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Những vấn đề thực tế</a:t>
            </a:r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Chúng ta làm tất cả trong không gian log</a:t>
            </a:r>
            <a:endParaRPr/>
          </a:p>
          <a:p>
            <a:pPr marL="685800" lvl="1" indent="-228600" algn="l" rtl="0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Tránh tràn số </a:t>
            </a:r>
            <a:r>
              <a:rPr lang="en-US" sz="3200" u="sng"/>
              <a:t>underflow</a:t>
            </a:r>
            <a:endParaRPr u="sng"/>
          </a:p>
          <a:p>
            <a:pPr marL="685800" lvl="1" indent="-228600" algn="l" rtl="0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Phép cộng nhanh hơn phép nhân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1" y="3792217"/>
            <a:ext cx="8610600" cy="567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Bộ công cụ mô hình hóa ngôn ngữ</a:t>
            </a:r>
            <a:endParaRPr/>
          </a:p>
        </p:txBody>
      </p:sp>
      <p:sp>
        <p:nvSpPr>
          <p:cNvPr id="272" name="Google Shape;272;p22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LM Toolkit - SRILM</a:t>
            </a:r>
            <a:endParaRPr/>
          </a:p>
          <a:p>
            <a:pPr marL="685800" lvl="1" indent="-228600" algn="l" rtl="0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http://www.speech.sri.com/projects/srilm/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 N-Gram Release, 8/2006</a:t>
            </a:r>
            <a:endParaRPr/>
          </a:p>
        </p:txBody>
      </p:sp>
      <p:pic>
        <p:nvPicPr>
          <p:cNvPr id="279" name="Google Shape;279;p23" descr="ngram1.tif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52550"/>
            <a:ext cx="9144000" cy="139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ngram2.tif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50430"/>
            <a:ext cx="9144000" cy="826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1047460" y="2984965"/>
            <a:ext cx="49244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 N-Gram Release</a:t>
            </a:r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incoming 92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incubator 99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independent 794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index 223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indication 72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indicator 120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indicators 45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indispensable 111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indispensible 40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rPr>
              <a:t>serve as the individual 234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152400" y="4629150"/>
            <a:ext cx="86642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http://googleresearch.blogspot.com/2006/08/all-our-n-gram-are-belong-to-you.html</a:t>
            </a:r>
            <a:endParaRPr sz="16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Google Book N-grams</a:t>
            </a:r>
            <a:endParaRPr/>
          </a:p>
        </p:txBody>
      </p:sp>
      <p:sp>
        <p:nvSpPr>
          <p:cNvPr id="295" name="Google Shape;295;p25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http://ngrams.googlelabs.com/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>
            <a:spLocks noGrp="1"/>
          </p:cNvSpPr>
          <p:nvPr>
            <p:ph type="subTitle" idx="1"/>
          </p:nvPr>
        </p:nvSpPr>
        <p:spPr>
          <a:xfrm>
            <a:off x="533400" y="2286000"/>
            <a:ext cx="8077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Đánh giá và perplexity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 txBox="1">
            <a:spLocks noGrp="1"/>
          </p:cNvSpPr>
          <p:nvPr>
            <p:ph type="ctrTitle"/>
          </p:nvPr>
        </p:nvSpPr>
        <p:spPr>
          <a:xfrm>
            <a:off x="762000" y="12001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Mô hình hóa ngôn ngữ</a:t>
            </a:r>
            <a:endParaRPr sz="4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7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Đánh giá: Mô hình của chúng ta tốt cỡ nào?</a:t>
            </a:r>
            <a:endParaRPr/>
          </a:p>
        </p:txBody>
      </p:sp>
      <p:sp>
        <p:nvSpPr>
          <p:cNvPr id="309" name="Google Shape;309;p27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Mô hình ngôn ngữ của ta có đánh giá cao câu đúng hơn câu sai?</a:t>
            </a:r>
            <a:endParaRPr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Gắn xác suất cao hơn cho câu “thực” hay “thường thấy” </a:t>
            </a:r>
            <a:endParaRPr/>
          </a:p>
          <a:p>
            <a:pPr marL="1028700" lvl="2" indent="-2286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Hơn câu “không đúng ngữ pháp” hay “ít thấy”?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Chúng ta huấn luyện các tham số của mô hình dựa trên tập dữ liệu huấn luyện (</a:t>
            </a:r>
            <a:r>
              <a:rPr lang="en-US" sz="2000" b="1">
                <a:solidFill>
                  <a:srgbClr val="008000"/>
                </a:solidFill>
              </a:rPr>
              <a:t>training set</a:t>
            </a:r>
            <a:r>
              <a:rPr lang="en-US" sz="2000"/>
              <a:t>).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Chúng ta kiểm thử hoạt động của mô hình trên dữ liệu chưa thấy.</a:t>
            </a:r>
            <a:endParaRPr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Tập kiểm thử (</a:t>
            </a:r>
            <a:r>
              <a:rPr lang="en-US" sz="1800" b="1">
                <a:solidFill>
                  <a:srgbClr val="008000"/>
                </a:solidFill>
              </a:rPr>
              <a:t>test set</a:t>
            </a:r>
            <a:r>
              <a:rPr lang="en-US" sz="1800"/>
              <a:t>)</a:t>
            </a:r>
            <a:r>
              <a:rPr lang="en-US" sz="1800" b="1">
                <a:solidFill>
                  <a:srgbClr val="008000"/>
                </a:solidFill>
              </a:rPr>
              <a:t> </a:t>
            </a:r>
            <a:r>
              <a:rPr lang="en-US" sz="1800"/>
              <a:t>is là một tập dữ liệu chưa thấy, khác với tập huấn luyện, không được sử dụng cho các mục đích khác.</a:t>
            </a:r>
            <a:endParaRPr/>
          </a:p>
          <a:p>
            <a:pPr marL="685800" lvl="1" indent="-2286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Độ đo đánh giá (</a:t>
            </a:r>
            <a:r>
              <a:rPr lang="en-US" sz="1800" b="1">
                <a:solidFill>
                  <a:srgbClr val="008000"/>
                </a:solidFill>
              </a:rPr>
              <a:t>evaluation metric</a:t>
            </a:r>
            <a:r>
              <a:rPr lang="en-US" sz="1800"/>
              <a:t>) cho chúng ta biết mô hình tốt cỡ nào trên tập kiểm thử.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Đánh giá ngoài (Extrinsic evaluation) mô hình N-gram</a:t>
            </a:r>
            <a:endParaRPr/>
          </a:p>
        </p:txBody>
      </p:sp>
      <p:sp>
        <p:nvSpPr>
          <p:cNvPr id="316" name="Google Shape;316;p28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Là cách đánh giá tốt nhất để so sánh 2 mô hình A và B</a:t>
            </a:r>
            <a:endParaRPr/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Đặt mô hình vào trong một tác vụ cụ thể</a:t>
            </a:r>
            <a:endParaRPr sz="2400"/>
          </a:p>
          <a:p>
            <a:pPr marL="1028700" lvl="2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 Sửa lỗi chính tả, nhận dạng tiếng nói, dịch máy</a:t>
            </a:r>
            <a:endParaRPr sz="2400"/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Chạy tác vụ, đo độ chính xác tương ứng với A và B</a:t>
            </a:r>
            <a:endParaRPr/>
          </a:p>
          <a:p>
            <a:pPr marL="1028700" lvl="2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Bao nhiêu từ sai chính tả được sửa lại cho đúng</a:t>
            </a:r>
            <a:endParaRPr sz="2400"/>
          </a:p>
          <a:p>
            <a:pPr marL="1028700" lvl="2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Bao nhiêu từ được dịch đúng</a:t>
            </a:r>
            <a:endParaRPr sz="2400"/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So sánh độ chính xác (accuracy) của A và B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Khó khăn của đánh giá ngoài mô hình N-gram</a:t>
            </a:r>
            <a:endParaRPr/>
          </a:p>
        </p:txBody>
      </p:sp>
      <p:sp>
        <p:nvSpPr>
          <p:cNvPr id="323" name="Google Shape;323;p29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Đánh giá ngoài (extrinsic, in-vivo)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Mất thời gian; có thể mất vài ngày đến vài tuần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Do đó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Thỉnh thoảng sử dụng đánh giá nội tại (</a:t>
            </a:r>
            <a:r>
              <a:rPr lang="en-US" sz="2400" b="1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intrinsic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evaluation):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perplexity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Là một xấp xỉ tồi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0287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Nếu như dữ liệu kiểm thử giống như dữ liệu huấn luyện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028700" lvl="2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Do đó thường hữu ích trong các thử nghiệm</a:t>
            </a:r>
            <a:endParaRPr sz="2400" b="1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Nhưng cũng nên biết vì nó hữu ích.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>
            <a:spLocks noGrp="1"/>
          </p:cNvSpPr>
          <p:nvPr>
            <p:ph type="subTitle" idx="1"/>
          </p:nvPr>
        </p:nvSpPr>
        <p:spPr>
          <a:xfrm>
            <a:off x="609600" y="2286000"/>
            <a:ext cx="80010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dirty="0"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SzPts val="3200"/>
              <a:buNone/>
            </a:pPr>
            <a:r>
              <a:rPr lang="en-US" sz="3200" dirty="0" err="1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Những</a:t>
            </a:r>
            <a:r>
              <a:rPr lang="en-US" sz="3200" dirty="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số</a:t>
            </a:r>
            <a:r>
              <a:rPr lang="en-US" sz="3200" dirty="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không</a:t>
            </a:r>
            <a:endParaRPr sz="32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SzPts val="2400"/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 txBox="1">
            <a:spLocks noGrp="1"/>
          </p:cNvSpPr>
          <p:nvPr>
            <p:ph type="ctrTitle"/>
          </p:nvPr>
        </p:nvSpPr>
        <p:spPr>
          <a:xfrm>
            <a:off x="762000" y="12001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Mô hình hóa ngôn ngữ</a:t>
            </a:r>
            <a:endParaRPr sz="4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 txBox="1">
            <a:spLocks noGrp="1"/>
          </p:cNvSpPr>
          <p:nvPr>
            <p:ph type="title"/>
          </p:nvPr>
        </p:nvSpPr>
        <p:spPr>
          <a:xfrm>
            <a:off x="304800" y="13335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Những số không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1"/>
          <p:cNvSpPr txBox="1">
            <a:spLocks noGrp="1"/>
          </p:cNvSpPr>
          <p:nvPr>
            <p:ph type="body" idx="1"/>
          </p:nvPr>
        </p:nvSpPr>
        <p:spPr>
          <a:xfrm>
            <a:off x="76200" y="1139890"/>
            <a:ext cx="5105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Tập huấn luyện:</a:t>
            </a:r>
            <a:endParaRPr/>
          </a:p>
          <a:p>
            <a:pPr marL="457200" lvl="1" indent="0" algn="l" rtl="0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… denied the allegations</a:t>
            </a:r>
            <a:endParaRPr/>
          </a:p>
          <a:p>
            <a:pPr marL="457200" lvl="1" indent="0" algn="l" rtl="0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… denied the reports</a:t>
            </a:r>
            <a:endParaRPr/>
          </a:p>
          <a:p>
            <a:pPr marL="457200" lvl="1" indent="0" algn="l" rtl="0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… denied the claims</a:t>
            </a:r>
            <a:endParaRPr/>
          </a:p>
          <a:p>
            <a:pPr marL="457200" lvl="1" indent="0" algn="l" rtl="0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… denied the request</a:t>
            </a:r>
            <a:endParaRPr/>
          </a:p>
          <a:p>
            <a:pPr marL="457200" lvl="1" indent="0" algn="l" rtl="0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0" algn="l" rtl="0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P(“offer” | denied the) = 0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3429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Noto Sans Symbols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342900" lvl="0" indent="-25400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7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1"/>
          <p:cNvSpPr txBox="1"/>
          <p:nvPr/>
        </p:nvSpPr>
        <p:spPr>
          <a:xfrm>
            <a:off x="4758267" y="1123950"/>
            <a:ext cx="4419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Tập kiểm thử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denied the offer</a:t>
            </a:r>
            <a:endParaRPr/>
          </a:p>
          <a:p>
            <a:pPr marL="457200" marR="0" lvl="1" indent="0" algn="l" rtl="0">
              <a:lnSpc>
                <a:spcPct val="7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denied the loan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Xác suất bigram bằng không</a:t>
            </a:r>
            <a:endParaRPr/>
          </a:p>
        </p:txBody>
      </p:sp>
      <p:sp>
        <p:nvSpPr>
          <p:cNvPr id="427" name="Google Shape;427;p42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Những bigram có xác suất bằng không</a:t>
            </a:r>
            <a:endParaRPr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Nghĩa là chúng ta gán xác suất 0 cho tập kiểm thử!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Và do đó chúng ta không thể tính perplexity (không thể chia cho 0)!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3"/>
          <p:cNvSpPr txBox="1">
            <a:spLocks noGrp="1"/>
          </p:cNvSpPr>
          <p:nvPr>
            <p:ph type="subTitle" idx="1"/>
          </p:nvPr>
        </p:nvSpPr>
        <p:spPr>
          <a:xfrm>
            <a:off x="533400" y="2286000"/>
            <a:ext cx="80772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Smoothing: Add-one (Laplace) smoothing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3"/>
          <p:cNvSpPr txBox="1">
            <a:spLocks noGrp="1"/>
          </p:cNvSpPr>
          <p:nvPr>
            <p:ph type="ctrTitle"/>
          </p:nvPr>
        </p:nvSpPr>
        <p:spPr>
          <a:xfrm>
            <a:off x="762000" y="12001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Mô hình hóa ngôn ngữ</a:t>
            </a:r>
            <a:endParaRPr sz="4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"/>
          <p:cNvSpPr txBox="1">
            <a:spLocks noGrp="1"/>
          </p:cNvSpPr>
          <p:nvPr>
            <p:ph type="title"/>
          </p:nvPr>
        </p:nvSpPr>
        <p:spPr>
          <a:xfrm>
            <a:off x="304800" y="3110"/>
            <a:ext cx="8686800" cy="96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Ước lượng Thêm 1 (Add-one estimation)</a:t>
            </a:r>
            <a:endParaRPr/>
          </a:p>
        </p:txBody>
      </p:sp>
      <p:sp>
        <p:nvSpPr>
          <p:cNvPr id="475" name="Google Shape;475;p45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Còn gọi là Laplace smoothing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Giả vờ như chúng ta thấy mỗi từ nhiều hơn số thực tế 1 lần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Chỉ cần cộng 1 vào tất cả số lượng đếm được!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Ước lượng MLE: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Ước lượng Add-1: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SzPts val="2800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6" name="Google Shape;47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3176587"/>
            <a:ext cx="3721100" cy="995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1125" y="4090988"/>
            <a:ext cx="4249738" cy="99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Ngữ liệu Berkeley Restaurant: Đếm bigram đã được làm mịn Laplace</a:t>
            </a:r>
            <a:endParaRPr/>
          </a:p>
        </p:txBody>
      </p:sp>
      <p:pic>
        <p:nvPicPr>
          <p:cNvPr id="492" name="Google Shape;492;p47" descr="addone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1150"/>
            <a:ext cx="9245600" cy="328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8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Xác suất bigram đã được làm mịn Laplace</a:t>
            </a:r>
            <a:endParaRPr/>
          </a:p>
        </p:txBody>
      </p:sp>
      <p:sp>
        <p:nvSpPr>
          <p:cNvPr id="499" name="Google Shape;499;p48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48" descr="addone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322510"/>
            <a:ext cx="5486400" cy="1173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8" descr="laplace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647950"/>
            <a:ext cx="8568505" cy="231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 txBox="1">
            <a:spLocks noGrp="1"/>
          </p:cNvSpPr>
          <p:nvPr>
            <p:ph type="title"/>
          </p:nvPr>
        </p:nvSpPr>
        <p:spPr>
          <a:xfrm>
            <a:off x="299185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Đếm bigram được tính lại theo xác suất làm mịn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9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p49" descr="addone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4075" y="1123950"/>
            <a:ext cx="5715848" cy="1022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9" descr="laplace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2326524"/>
            <a:ext cx="8534400" cy="2847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0"/>
          <p:cNvSpPr txBox="1">
            <a:spLocks noGrp="1"/>
          </p:cNvSpPr>
          <p:nvPr>
            <p:ph type="title"/>
          </p:nvPr>
        </p:nvSpPr>
        <p:spPr>
          <a:xfrm>
            <a:off x="304800" y="26263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So sánh với đếm bigram nguyên gốc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7" name="Google Shape;517;p50" descr="ber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9942" y="819150"/>
            <a:ext cx="6157258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0" descr="laplace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00" y="3007678"/>
            <a:ext cx="6400800" cy="2135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1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Ước lượng Thêm 1 (Add-1) là một công cụ thô sơ</a:t>
            </a:r>
            <a:endParaRPr/>
          </a:p>
        </p:txBody>
      </p:sp>
      <p:sp>
        <p:nvSpPr>
          <p:cNvPr id="525" name="Google Shape;525;p51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Do đó add-1 thực tế không được d</a:t>
            </a:r>
            <a:r>
              <a:rPr lang="en-US"/>
              <a:t>ù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ng cho mô hình N-gram: </a:t>
            </a:r>
            <a:endParaRPr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Chúng ta sẽ thấy những phương pháp tốt hơn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Nhưng add-1 được sử dụng để làm mịn những mô hình XLNNTN khác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Cho phân loại văn bản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Trong những lĩnh vực dữ liệu (domains) mà số lượng 0 không quá nhiều.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2"/>
          <p:cNvSpPr txBox="1">
            <a:spLocks noGrp="1"/>
          </p:cNvSpPr>
          <p:nvPr>
            <p:ph type="subTitle" idx="1"/>
          </p:nvPr>
        </p:nvSpPr>
        <p:spPr>
          <a:xfrm>
            <a:off x="457200" y="2286000"/>
            <a:ext cx="8153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Interpolation, Backoff, và Web-Scale LMs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SzPts val="2400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52"/>
          <p:cNvSpPr txBox="1">
            <a:spLocks noGrp="1"/>
          </p:cNvSpPr>
          <p:nvPr>
            <p:ph type="ctrTitle"/>
          </p:nvPr>
        </p:nvSpPr>
        <p:spPr>
          <a:xfrm>
            <a:off x="762000" y="12001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/>
              <a:t>Mô</a:t>
            </a:r>
            <a:r>
              <a:rPr lang="en-US" sz="4400" dirty="0"/>
              <a:t> </a:t>
            </a:r>
            <a:r>
              <a:rPr lang="en-US" sz="4400" dirty="0" err="1"/>
              <a:t>hình</a:t>
            </a:r>
            <a:r>
              <a:rPr lang="en-US" sz="4400" dirty="0"/>
              <a:t> </a:t>
            </a:r>
            <a:r>
              <a:rPr lang="en-US" sz="4400" dirty="0" err="1"/>
              <a:t>hóa</a:t>
            </a:r>
            <a:r>
              <a:rPr lang="en-US" sz="4400" dirty="0"/>
              <a:t> </a:t>
            </a:r>
            <a:r>
              <a:rPr lang="en-US" sz="4400" dirty="0" err="1"/>
              <a:t>ngôn</a:t>
            </a:r>
            <a:r>
              <a:rPr lang="en-US" sz="4400" dirty="0"/>
              <a:t> </a:t>
            </a:r>
            <a:r>
              <a:rPr lang="en-US" sz="4400" dirty="0" err="1"/>
              <a:t>ngữ</a:t>
            </a:r>
            <a:r>
              <a:rPr lang="en-US" sz="4400" dirty="0"/>
              <a:t> </a:t>
            </a:r>
            <a:r>
              <a:rPr lang="en-US" sz="4400" dirty="0" err="1"/>
              <a:t>khác</a:t>
            </a:r>
            <a:endParaRPr sz="4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3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Backoff và Interpolation</a:t>
            </a:r>
            <a:endParaRPr/>
          </a:p>
        </p:txBody>
      </p:sp>
      <p:sp>
        <p:nvSpPr>
          <p:cNvPr id="539" name="Google Shape;539;p53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Đôi khi nên dùng ít ngữ cảnh hơn (</a:t>
            </a:r>
            <a:r>
              <a:rPr lang="en-US" b="1"/>
              <a:t>less</a:t>
            </a:r>
            <a:r>
              <a:rPr lang="en-US"/>
              <a:t> context)</a:t>
            </a:r>
            <a:endParaRPr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Điều kiện trên ít ngữ cảnh hơn cho những ngữ cảnh mà bạn không được học nhiều về chúng</a:t>
            </a:r>
            <a:endParaRPr b="1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b="1"/>
              <a:t>Backoff: </a:t>
            </a:r>
            <a:endParaRPr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Sử dụng trigram nếu có evidence tốt,</a:t>
            </a:r>
            <a:endParaRPr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Nếu không thì dùng bigram, không thì dùng unigram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b="1"/>
              <a:t>Interpolation: </a:t>
            </a:r>
            <a:endParaRPr/>
          </a:p>
          <a:p>
            <a:pPr marL="685800" lvl="1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Trộn lẫn unigram, bigram, trigram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Interpolation cho thấy tốt hơn trong thực tế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9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534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 N-gram Smoothing</a:t>
            </a:r>
            <a:endParaRPr/>
          </a:p>
        </p:txBody>
      </p:sp>
      <p:sp>
        <p:nvSpPr>
          <p:cNvPr id="588" name="Google Shape;588;p59"/>
          <p:cNvSpPr txBox="1">
            <a:spLocks noGrp="1"/>
          </p:cNvSpPr>
          <p:nvPr>
            <p:ph type="body" idx="1"/>
          </p:nvPr>
        </p:nvSpPr>
        <p:spPr>
          <a:xfrm>
            <a:off x="304800" y="1352550"/>
            <a:ext cx="8534400" cy="333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Add-1 smoothing:</a:t>
            </a:r>
            <a:endParaRPr dirty="0"/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 err="1"/>
              <a:t>Dùng</a:t>
            </a:r>
            <a:r>
              <a:rPr lang="en-US" sz="2400" dirty="0"/>
              <a:t> </a:t>
            </a:r>
            <a:r>
              <a:rPr lang="en-US" sz="2400" dirty="0" err="1"/>
              <a:t>ổn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văn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,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tốt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ngôn</a:t>
            </a:r>
            <a:r>
              <a:rPr lang="en-US" sz="2400" dirty="0"/>
              <a:t> </a:t>
            </a:r>
            <a:r>
              <a:rPr lang="en-US" sz="2400" dirty="0" err="1"/>
              <a:t>ngữ</a:t>
            </a:r>
            <a:endParaRPr sz="24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sử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phổ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:</a:t>
            </a:r>
            <a:endParaRPr dirty="0"/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Extended Interpolated </a:t>
            </a:r>
            <a:r>
              <a:rPr lang="en-US" sz="2400" dirty="0" err="1"/>
              <a:t>Kneser</a:t>
            </a:r>
            <a:r>
              <a:rPr lang="en-US" sz="2400" dirty="0"/>
              <a:t>-Ney (</a:t>
            </a:r>
            <a:r>
              <a:rPr lang="en-US" sz="2400" dirty="0" err="1"/>
              <a:t>đọc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)</a:t>
            </a:r>
            <a:endParaRPr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 err="1"/>
              <a:t>Đối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những</a:t>
            </a:r>
            <a:r>
              <a:rPr lang="en-US" sz="2800" dirty="0"/>
              <a:t> </a:t>
            </a:r>
            <a:r>
              <a:rPr lang="en-US" sz="2800" dirty="0" err="1"/>
              <a:t>dữ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N-gram </a:t>
            </a:r>
            <a:r>
              <a:rPr lang="en-US" sz="2800" dirty="0" err="1"/>
              <a:t>lớn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Web:</a:t>
            </a:r>
            <a:endParaRPr dirty="0"/>
          </a:p>
          <a:p>
            <a:pPr marL="685800" lvl="1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Stupid backoff</a:t>
            </a:r>
            <a:endParaRPr sz="24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sp>
        <p:nvSpPr>
          <p:cNvPr id="589" name="Google Shape;589;p59"/>
          <p:cNvSpPr txBox="1">
            <a:spLocks noGrp="1"/>
          </p:cNvSpPr>
          <p:nvPr>
            <p:ph type="sldNum" idx="12"/>
          </p:nvPr>
        </p:nvSpPr>
        <p:spPr>
          <a:xfrm>
            <a:off x="304800" y="4705350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LP-jurafsky">
  <a:themeElements>
    <a:clrScheme name="NLP Class">
      <a:dk1>
        <a:srgbClr val="000000"/>
      </a:dk1>
      <a:lt1>
        <a:srgbClr val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2100</Words>
  <Application>Microsoft Office PowerPoint</Application>
  <PresentationFormat>On-screen Show (16:9)</PresentationFormat>
  <Paragraphs>316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Calibri</vt:lpstr>
      <vt:lpstr>Times</vt:lpstr>
      <vt:lpstr>Noto Sans Symbols</vt:lpstr>
      <vt:lpstr>Lucida Sans</vt:lpstr>
      <vt:lpstr>Courier</vt:lpstr>
      <vt:lpstr>KaTeX_Main</vt:lpstr>
      <vt:lpstr>pplxSerif</vt:lpstr>
      <vt:lpstr>Verdana</vt:lpstr>
      <vt:lpstr>Tahoma</vt:lpstr>
      <vt:lpstr>Arial</vt:lpstr>
      <vt:lpstr>NLP-jurafsky</vt:lpstr>
      <vt:lpstr> Mô hình hóa ngôn ngữ</vt:lpstr>
      <vt:lpstr>Những mô hình ngôn ngữ xác suất</vt:lpstr>
      <vt:lpstr>Những mô hình ngôn ngữ xác suất</vt:lpstr>
      <vt:lpstr>Mô hình ngôn ngữ xác suất</vt:lpstr>
      <vt:lpstr>Tính P(W) bằng cách nào?</vt:lpstr>
      <vt:lpstr>Nhắc lại: Chain Rule</vt:lpstr>
      <vt:lpstr>Ứng dụng Chain Rule để tính xác suất kết hợp của các từ trong câu</vt:lpstr>
      <vt:lpstr>Làm sao để ước lượng những xác suất này?</vt:lpstr>
      <vt:lpstr>Giả định Markov</vt:lpstr>
      <vt:lpstr>Giả định Markov</vt:lpstr>
      <vt:lpstr>Trường hợp đơn giản nhất: Mô hình Unigram</vt:lpstr>
      <vt:lpstr>Mô hình Bigram</vt:lpstr>
      <vt:lpstr>Mô hình N-gram khác</vt:lpstr>
      <vt:lpstr>Mô hình hóa ngôn ngữ</vt:lpstr>
      <vt:lpstr>Ước lượng xác suất bigram</vt:lpstr>
      <vt:lpstr>Ví dụ</vt:lpstr>
      <vt:lpstr>Ví dụ:  Một số câu trong Dự án Berkeley Restaurant</vt:lpstr>
      <vt:lpstr>Đếm các bigram</vt:lpstr>
      <vt:lpstr>Đếm các bigram</vt:lpstr>
      <vt:lpstr>Ước lượng bigram cho xác suất của câu</vt:lpstr>
      <vt:lpstr>Những loại tri thức gì?</vt:lpstr>
      <vt:lpstr>Những vấn đề thực tế</vt:lpstr>
      <vt:lpstr>Bộ công cụ mô hình hóa ngôn ngữ</vt:lpstr>
      <vt:lpstr>Google N-Gram Release, 8/2006</vt:lpstr>
      <vt:lpstr>Google N-Gram Release</vt:lpstr>
      <vt:lpstr>Google Book N-grams</vt:lpstr>
      <vt:lpstr>Mô hình hóa ngôn ngữ</vt:lpstr>
      <vt:lpstr>Đánh giá: Mô hình của chúng ta tốt cỡ nào?</vt:lpstr>
      <vt:lpstr>Đánh giá ngoài (Extrinsic evaluation) mô hình N-gram</vt:lpstr>
      <vt:lpstr>Khó khăn của đánh giá ngoài mô hình N-gram</vt:lpstr>
      <vt:lpstr>Mô hình hóa ngôn ngữ</vt:lpstr>
      <vt:lpstr>Những số không</vt:lpstr>
      <vt:lpstr>Xác suất bigram bằng không</vt:lpstr>
      <vt:lpstr>Mô hình hóa ngôn ngữ</vt:lpstr>
      <vt:lpstr>Ước lượng Thêm 1 (Add-one estimation)</vt:lpstr>
      <vt:lpstr>Ngữ liệu Berkeley Restaurant: Đếm bigram đã được làm mịn Laplace</vt:lpstr>
      <vt:lpstr>Xác suất bigram đã được làm mịn Laplace</vt:lpstr>
      <vt:lpstr>Đếm bigram được tính lại theo xác suất làm mịn</vt:lpstr>
      <vt:lpstr>So sánh với đếm bigram nguyên gốc</vt:lpstr>
      <vt:lpstr>Ước lượng Thêm 1 (Add-1) là một công cụ thô sơ</vt:lpstr>
      <vt:lpstr>Mô hình hóa ngôn ngữ khác</vt:lpstr>
      <vt:lpstr>Backoff và Interpolation</vt:lpstr>
      <vt:lpstr>Tóm tắt N-gram Smoothing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Mô hình hóa ngôn ngữ</dc:title>
  <dc:creator>Christopher Manning</dc:creator>
  <cp:lastModifiedBy>Hoàng Quý</cp:lastModifiedBy>
  <cp:revision>14</cp:revision>
  <dcterms:created xsi:type="dcterms:W3CDTF">2010-04-19T15:31:24Z</dcterms:created>
  <dcterms:modified xsi:type="dcterms:W3CDTF">2026-05-20T03:02:13Z</dcterms:modified>
</cp:coreProperties>
</file>